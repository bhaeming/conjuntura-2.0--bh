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8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4" r:id="rId12"/>
    <p:sldId id="425" r:id="rId13"/>
    <p:sldId id="426" r:id="rId14"/>
    <p:sldId id="389" r:id="rId15"/>
    <p:sldId id="427" r:id="rId16"/>
    <p:sldId id="428" r:id="rId17"/>
    <p:sldId id="429" r:id="rId18"/>
    <p:sldId id="430" r:id="rId19"/>
    <p:sldId id="431" r:id="rId20"/>
    <p:sldId id="432" r:id="rId21"/>
    <p:sldId id="396" r:id="rId22"/>
    <p:sldId id="433" r:id="rId23"/>
    <p:sldId id="434" r:id="rId24"/>
    <p:sldId id="399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16" r:id="rId33"/>
    <p:sldId id="409" r:id="rId34"/>
    <p:sldId id="443" r:id="rId35"/>
    <p:sldId id="412" r:id="rId36"/>
    <p:sldId id="413" r:id="rId37"/>
  </p:sldIdLst>
  <p:sldSz cx="9144000" cy="5143500" type="screen16x9"/>
  <p:notesSz cx="6858000" cy="9144000"/>
  <p:embeddedFontLst>
    <p:embeddedFont>
      <p:font typeface="Montserrat" pitchFamily="2" charset="0"/>
      <p:regular r:id="rId39"/>
      <p:bold r:id="rId40"/>
    </p:embeddedFont>
    <p:embeddedFont>
      <p:font typeface="Montserrat ExtraBold" pitchFamily="2" charset="0"/>
      <p:bold r:id="rId41"/>
    </p:embeddedFont>
    <p:embeddedFont>
      <p:font typeface="Montserrat Medium" pitchFamily="2" charset="0"/>
      <p:regular r:id="rId42"/>
    </p:embeddedFont>
    <p:embeddedFont>
      <p:font typeface="Montserrat SemiBold" pitchFamily="2" charset="0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18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Crescimento do PIB real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22099999999999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Índice (média 1985-2019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por barril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por US$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bilhões FOB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PIB, var. em 4 trimestres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Produção, var. em 12 meses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Atividade (jan/23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força de trabalho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IPCA em 12 meses e Selic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Juro real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Consumo, var. em 4 trimestres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9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renda das famílias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carteira com atraso &gt; 90 dias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Critério de apuração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bilhões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PIB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Dependentes por 100 em idade ativa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Produtividade, % da dos EUA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Investimento (FBCF), % do PIB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2.5887497569748227E-2"/>
          <c:w val="0.82499999999999996"/>
          <c:h val="0.641399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Taxa de juros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valor adicionado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Graduados STEM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(US$ mil de 2015)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Concluintes em engenharia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(R$ mil)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Gasto em P&amp;D, % do PIB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dirty="0">
                <a:solidFill>
                  <a:srgbClr val="0240CA"/>
                </a:solidFill>
                <a:latin typeface="Montserrat"/>
              </a:rPr>
              <a:t>Longo </a:t>
            </a:r>
            <a:r>
              <a:rPr sz="1300" b="1" dirty="0" err="1">
                <a:solidFill>
                  <a:srgbClr val="0240CA"/>
                </a:solidFill>
                <a:latin typeface="Montserrat"/>
              </a:rPr>
              <a:t>prazo</a:t>
            </a:r>
            <a:endParaRPr sz="1300" b="1" dirty="0">
              <a:solidFill>
                <a:srgbClr val="0240CA"/>
              </a:solidFill>
              <a:latin typeface="Montserrat"/>
            </a:endParaRPr>
          </a:p>
          <a:p>
            <a:pPr algn="ctr">
              <a:spcBef>
                <a:spcPts val="300"/>
              </a:spcBef>
            </a:pPr>
            <a:r>
              <a:rPr sz="1000" b="0" dirty="0" err="1">
                <a:solidFill>
                  <a:srgbClr val="1E1E29"/>
                </a:solidFill>
                <a:latin typeface="Montserrat"/>
              </a:rPr>
              <a:t>Demografia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produtividade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investimento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indústria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formação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 e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inovação</a:t>
            </a:r>
            <a:endParaRPr sz="1000" b="0" dirty="0">
              <a:solidFill>
                <a:srgbClr val="1E1E29"/>
              </a:solidFill>
              <a:latin typeface="Montserrat"/>
            </a:endParaRP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Petróleo volta a atingir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os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13330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382"/>
              </p:ext>
            </p:extLst>
          </p:nvPr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1551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noProof="0" dirty="0">
                <a:solidFill>
                  <a:srgbClr val="0240CA"/>
                </a:solidFill>
                <a:latin typeface="Montserrat"/>
              </a:rPr>
              <a:t>Balanço de riscos</a:t>
            </a:r>
            <a:r>
              <a:rPr lang="pt-BR" sz="2000" noProof="0" dirty="0">
                <a:solidFill>
                  <a:srgbClr val="0240CA"/>
                </a:solidFill>
                <a:latin typeface="Montserrat"/>
              </a:rPr>
              <a:t> e 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  <p:sp>
        <p:nvSpPr>
          <p:cNvPr id="341" name="cab_pior"/>
          <p:cNvSpPr txBox="1"/>
          <p:nvPr/>
        </p:nvSpPr>
        <p:spPr>
          <a:xfrm>
            <a:off x="41148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200" b="1" noProof="0" dirty="0">
                <a:solidFill>
                  <a:srgbClr val="1E1E29"/>
                </a:solidFill>
                <a:latin typeface="Montserrat"/>
              </a:rPr>
              <a:t>Cenário adverso</a:t>
            </a:r>
          </a:p>
        </p:txBody>
      </p:sp>
      <p:sp>
        <p:nvSpPr>
          <p:cNvPr id="342" name="cab_tema"/>
          <p:cNvSpPr txBox="1"/>
          <p:nvPr/>
        </p:nvSpPr>
        <p:spPr>
          <a:xfrm>
            <a:off x="3520440" y="12618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0" noProof="0" dirty="0">
                <a:solidFill>
                  <a:srgbClr val="6B7280"/>
                </a:solidFill>
                <a:latin typeface="Montserrat"/>
              </a:rPr>
              <a:t>Tema e indicador</a:t>
            </a:r>
          </a:p>
        </p:txBody>
      </p:sp>
      <p:sp>
        <p:nvSpPr>
          <p:cNvPr id="343" name="cab_melhor"/>
          <p:cNvSpPr txBox="1"/>
          <p:nvPr/>
        </p:nvSpPr>
        <p:spPr>
          <a:xfrm>
            <a:off x="571500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noProof="0" dirty="0">
                <a:solidFill>
                  <a:srgbClr val="0240CA"/>
                </a:solidFill>
                <a:latin typeface="Montserrat"/>
              </a:rPr>
              <a:t>Cenário favorável</a:t>
            </a:r>
          </a:p>
        </p:txBody>
      </p:sp>
      <p:sp>
        <p:nvSpPr>
          <p:cNvPr id="344" name="tema_1"/>
          <p:cNvSpPr/>
          <p:nvPr/>
        </p:nvSpPr>
        <p:spPr>
          <a:xfrm>
            <a:off x="3520440" y="16642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Fiscal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Resultado primário e dívida bruta</a:t>
            </a:r>
          </a:p>
        </p:txBody>
      </p:sp>
      <p:cxnSp>
        <p:nvCxnSpPr>
          <p:cNvPr id="345" name="Connector 344"/>
          <p:cNvCxnSpPr/>
          <p:nvPr/>
        </p:nvCxnSpPr>
        <p:spPr>
          <a:xfrm flipH="1">
            <a:off x="3172968" y="1901952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46" name="Connector 345"/>
          <p:cNvCxnSpPr/>
          <p:nvPr/>
        </p:nvCxnSpPr>
        <p:spPr>
          <a:xfrm>
            <a:off x="5696712" y="1901952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47" name="pior_1"/>
          <p:cNvSpPr txBox="1"/>
          <p:nvPr/>
        </p:nvSpPr>
        <p:spPr>
          <a:xfrm>
            <a:off x="41148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Revisão da meta ou adiamento do ajuste elevam o prêmio de risco</a:t>
            </a:r>
          </a:p>
        </p:txBody>
      </p:sp>
      <p:sp>
        <p:nvSpPr>
          <p:cNvPr id="348" name="melhor_1"/>
          <p:cNvSpPr txBox="1"/>
          <p:nvPr/>
        </p:nvSpPr>
        <p:spPr>
          <a:xfrm>
            <a:off x="608076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Ajuste crível nas despesas obrigatórias acelera a queda da Selic</a:t>
            </a:r>
          </a:p>
        </p:txBody>
      </p:sp>
      <p:sp>
        <p:nvSpPr>
          <p:cNvPr id="349" name="tema_2"/>
          <p:cNvSpPr/>
          <p:nvPr/>
        </p:nvSpPr>
        <p:spPr>
          <a:xfrm>
            <a:off x="3520440" y="224942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Juros e inflação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Focus e comunicação do Copom</a:t>
            </a:r>
          </a:p>
        </p:txBody>
      </p:sp>
      <p:cxnSp>
        <p:nvCxnSpPr>
          <p:cNvPr id="350" name="Connector 349"/>
          <p:cNvCxnSpPr/>
          <p:nvPr/>
        </p:nvCxnSpPr>
        <p:spPr>
          <a:xfrm flipH="1">
            <a:off x="3172968" y="2487168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1" name="Connector 350"/>
          <p:cNvCxnSpPr/>
          <p:nvPr/>
        </p:nvCxnSpPr>
        <p:spPr>
          <a:xfrm>
            <a:off x="5696712" y="2487168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2" name="pior_2"/>
          <p:cNvSpPr txBox="1"/>
          <p:nvPr/>
        </p:nvSpPr>
        <p:spPr>
          <a:xfrm>
            <a:off x="41148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Novas altas do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Fed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e juro de 10 anos dos EUA em 5%</a:t>
            </a:r>
          </a:p>
        </p:txBody>
      </p:sp>
      <p:sp>
        <p:nvSpPr>
          <p:cNvPr id="353" name="melhor_2"/>
          <p:cNvSpPr txBox="1"/>
          <p:nvPr/>
        </p:nvSpPr>
        <p:spPr>
          <a:xfrm>
            <a:off x="608076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Atividade mais fraca alivia os preços de serviços</a:t>
            </a:r>
          </a:p>
        </p:txBody>
      </p:sp>
      <p:sp>
        <p:nvSpPr>
          <p:cNvPr id="354" name="tema_3"/>
          <p:cNvSpPr/>
          <p:nvPr/>
        </p:nvSpPr>
        <p:spPr>
          <a:xfrm>
            <a:off x="3520440" y="283464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Famílias e crédito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Comprometimento de renda</a:t>
            </a:r>
          </a:p>
        </p:txBody>
      </p:sp>
      <p:cxnSp>
        <p:nvCxnSpPr>
          <p:cNvPr id="355" name="Connector 354"/>
          <p:cNvCxnSpPr/>
          <p:nvPr/>
        </p:nvCxnSpPr>
        <p:spPr>
          <a:xfrm flipH="1">
            <a:off x="3172968" y="3072384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6" name="Connector 355"/>
          <p:cNvCxnSpPr/>
          <p:nvPr/>
        </p:nvCxnSpPr>
        <p:spPr>
          <a:xfrm>
            <a:off x="5696712" y="3072384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7" name="pior_3"/>
          <p:cNvSpPr txBox="1"/>
          <p:nvPr/>
        </p:nvSpPr>
        <p:spPr>
          <a:xfrm>
            <a:off x="41148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Inadimplência recorde restringe a oferta de crédito</a:t>
            </a:r>
          </a:p>
        </p:txBody>
      </p:sp>
      <p:sp>
        <p:nvSpPr>
          <p:cNvPr id="358" name="melhor_3"/>
          <p:cNvSpPr txBox="1"/>
          <p:nvPr/>
        </p:nvSpPr>
        <p:spPr>
          <a:xfrm>
            <a:off x="608076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Renegociação de dívidas e fim das apostas liberam renda</a:t>
            </a:r>
          </a:p>
        </p:txBody>
      </p:sp>
      <p:sp>
        <p:nvSpPr>
          <p:cNvPr id="359" name="tema_4"/>
          <p:cNvSpPr/>
          <p:nvPr/>
        </p:nvSpPr>
        <p:spPr>
          <a:xfrm>
            <a:off x="3520440" y="3419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Brent e câmbio</a:t>
            </a:r>
          </a:p>
        </p:txBody>
      </p:sp>
      <p:cxnSp>
        <p:nvCxnSpPr>
          <p:cNvPr id="360" name="Connector 359"/>
          <p:cNvCxnSpPr/>
          <p:nvPr/>
        </p:nvCxnSpPr>
        <p:spPr>
          <a:xfrm flipH="1">
            <a:off x="3172968" y="3657600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1" name="Connector 360"/>
          <p:cNvCxnSpPr/>
          <p:nvPr/>
        </p:nvCxnSpPr>
        <p:spPr>
          <a:xfrm>
            <a:off x="5696712" y="3657600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2" name="pior_4"/>
          <p:cNvSpPr txBox="1"/>
          <p:nvPr/>
        </p:nvSpPr>
        <p:spPr>
          <a:xfrm>
            <a:off x="41148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Petróleo, geopolítica e El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Niño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pressionam preços, fretes e safra</a:t>
            </a:r>
          </a:p>
        </p:txBody>
      </p:sp>
      <p:sp>
        <p:nvSpPr>
          <p:cNvPr id="363" name="melhor_4"/>
          <p:cNvSpPr txBox="1"/>
          <p:nvPr/>
        </p:nvSpPr>
        <p:spPr>
          <a:xfrm>
            <a:off x="608076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 e agro sustentam câmbio e receitas</a:t>
            </a:r>
          </a:p>
        </p:txBody>
      </p:sp>
      <p:sp>
        <p:nvSpPr>
          <p:cNvPr id="364" name="tema_5"/>
          <p:cNvSpPr/>
          <p:nvPr/>
        </p:nvSpPr>
        <p:spPr>
          <a:xfrm>
            <a:off x="3520440" y="40050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Investimento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FBCF e produção industrial</a:t>
            </a:r>
          </a:p>
        </p:txBody>
      </p:sp>
      <p:cxnSp>
        <p:nvCxnSpPr>
          <p:cNvPr id="365" name="Connector 364"/>
          <p:cNvCxnSpPr/>
          <p:nvPr/>
        </p:nvCxnSpPr>
        <p:spPr>
          <a:xfrm flipH="1">
            <a:off x="3172968" y="4242816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6" name="Connector 365"/>
          <p:cNvCxnSpPr/>
          <p:nvPr/>
        </p:nvCxnSpPr>
        <p:spPr>
          <a:xfrm>
            <a:off x="5696712" y="4242816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7" name="pior_5"/>
          <p:cNvSpPr txBox="1"/>
          <p:nvPr/>
        </p:nvSpPr>
        <p:spPr>
          <a:xfrm>
            <a:off x="41148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Crédito caro adia projetos e compra de bens de capital</a:t>
            </a:r>
          </a:p>
        </p:txBody>
      </p:sp>
      <p:sp>
        <p:nvSpPr>
          <p:cNvPr id="368" name="melhor_5"/>
          <p:cNvSpPr txBox="1"/>
          <p:nvPr/>
        </p:nvSpPr>
        <p:spPr>
          <a:xfrm>
            <a:off x="608076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Juros menores destravam FBCF, construção e bens de capital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279400">
            <a:solidFill>
              <a:srgbClr val="B9BEC8"/>
            </a:solidFill>
          </a:ln>
        </p:spPr>
      </p:cxnSp>
      <p:cxnSp>
        <p:nvCxnSpPr>
          <p:cNvPr id="339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</p:cxnSp>
      <p:sp>
        <p:nvSpPr>
          <p:cNvPr id="340" name="mensagem_marco_1"/>
          <p:cNvSpPr/>
          <p:nvPr/>
        </p:nvSpPr>
        <p:spPr>
          <a:xfrm>
            <a:off x="106984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1" name="mensagem_1"/>
          <p:cNvSpPr txBox="1"/>
          <p:nvPr/>
        </p:nvSpPr>
        <p:spPr>
          <a:xfrm>
            <a:off x="274320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Crescimento menor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PIB do Brasil entre 1,3% e 1,7% em 2027, com desemprego mínimo. SC segue acima da média nacional.</a:t>
            </a:r>
          </a:p>
        </p:txBody>
      </p:sp>
      <p:sp>
        <p:nvSpPr>
          <p:cNvPr id="342" name="mensagem_marco_2"/>
          <p:cNvSpPr/>
          <p:nvPr/>
        </p:nvSpPr>
        <p:spPr>
          <a:xfrm>
            <a:off x="323392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43" name="mensagem_2"/>
          <p:cNvSpPr txBox="1"/>
          <p:nvPr/>
        </p:nvSpPr>
        <p:spPr>
          <a:xfrm>
            <a:off x="2438399" y="2651760"/>
            <a:ext cx="21031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Fiscal Impacta juros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inflação acima da meta e dívida em alta, o ajuste é necessário qualquer que seja o resultado eleitoral.</a:t>
            </a:r>
          </a:p>
        </p:txBody>
      </p:sp>
      <p:sp>
        <p:nvSpPr>
          <p:cNvPr id="344" name="mensagem_marco_3"/>
          <p:cNvSpPr/>
          <p:nvPr/>
        </p:nvSpPr>
        <p:spPr>
          <a:xfrm>
            <a:off x="539800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5" name="mensagem_3"/>
          <p:cNvSpPr txBox="1"/>
          <p:nvPr/>
        </p:nvSpPr>
        <p:spPr>
          <a:xfrm>
            <a:off x="4602479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Indústria em transição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A retomada depende dos cortes de juros chegarem ao crédito. CBS e fim do IPI exigem preparo das empresas.</a:t>
            </a:r>
          </a:p>
        </p:txBody>
      </p:sp>
      <p:sp>
        <p:nvSpPr>
          <p:cNvPr id="346" name="mensagem_marco_4"/>
          <p:cNvSpPr/>
          <p:nvPr/>
        </p:nvSpPr>
        <p:spPr>
          <a:xfrm>
            <a:off x="756208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47" name="mensagem_4"/>
          <p:cNvSpPr txBox="1"/>
          <p:nvPr/>
        </p:nvSpPr>
        <p:spPr>
          <a:xfrm>
            <a:off x="6766560" y="2692909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Foco na produtividade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o fim do bônus demográfico, só investimento, inovação e capital humano sustentam o crescimento.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4261</Words>
  <Application>Microsoft Office PowerPoint</Application>
  <PresentationFormat>Apresentação na tela (16:9)</PresentationFormat>
  <Paragraphs>530</Paragraphs>
  <Slides>36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Montserrat</vt:lpstr>
      <vt:lpstr>Arial</vt:lpstr>
      <vt:lpstr>Montserrat ExtraBold</vt:lpstr>
      <vt:lpstr>Montserrat Medium</vt:lpstr>
      <vt:lpstr>Montserrat SemiBold</vt:lpstr>
      <vt:lpstr>Montserrat 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78</cp:revision>
  <dcterms:modified xsi:type="dcterms:W3CDTF">2026-10-27T20:56:40Z</dcterms:modified>
</cp:coreProperties>
</file>