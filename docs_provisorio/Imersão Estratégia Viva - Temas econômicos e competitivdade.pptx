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9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4" r:id="rId31"/>
    <p:sldId id="447" r:id="rId52"/>
    <p:sldId id="446" r:id="rId51"/>
    <p:sldId id="445" r:id="rId50"/>
    <p:sldId id="440" r:id="rId32"/>
    <p:sldId id="441" r:id="rId33"/>
    <p:sldId id="416" r:id="rId34"/>
    <p:sldId id="409" r:id="rId35"/>
    <p:sldId id="443" r:id="rId36"/>
    <p:sldId id="412" r:id="rId37"/>
    <p:sldId id="413" r:id="rId38"/>
  </p:sldIdLst>
  <p:sldSz cx="9144000" cy="5143500" type="screen16x9"/>
  <p:notesSz cx="6858000" cy="9144000"/>
  <p:embeddedFontLst>
    <p:embeddedFont>
      <p:font typeface="Montserrat" pitchFamily="2" charset="0"/>
      <p:regular r:id="rId40"/>
      <p:bold r:id="rId41"/>
    </p:embeddedFont>
    <p:embeddedFont>
      <p:font typeface="Montserrat ExtraBold" pitchFamily="2" charset="0"/>
      <p:bold r:id="rId42"/>
    </p:embeddedFont>
    <p:embeddedFont>
      <p:font typeface="Montserrat Medium" pitchFamily="2" charset="0"/>
      <p:regular r:id="rId43"/>
    </p:embeddedFont>
    <p:embeddedFont>
      <p:font typeface="Montserrat SemiBold" pitchFamily="2" charset="0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1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3.xml"/><Relationship Id="rId51" Type="http://schemas.openxmlformats.org/officeDocument/2006/relationships/slide" Target="slides/slide32.xml"/><Relationship Id="rId52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"/>
          <c:w val="0.68"/>
          <c:h val="1.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per capita</c:v>
                </c:pt>
              </c:strCache>
            </c:strRef>
          </c:tx>
          <c:spPr>
            <a:solidFill>
              <a:srgbClr val="B9BEC8"/>
            </a:solidFill>
          </c:spPr>
          <c:dPt>
            <c:idx val="4"/>
            <c:spPr>
              <a:solidFill>
                <a:srgbClr val="0240CA"/>
              </a:solidFill>
            </c:spPr>
          </c:dPt>
          <c:dPt>
            <c:idx val="9"/>
            <c:spPr>
              <a:solidFill>
                <a:srgbClr val="7F9BE6"/>
              </a:solidFill>
            </c:spPr>
          </c:dPt>
          <c:dLbls>
            <c:dLbl>
              <c:idx val="4"/>
              <c:spPr/>
              <c:txPr>
                <a:bodyPr/>
                <a:lstStyle/>
                <a:p>
                  <a:pPr>
                    <a:defRPr b="1" sz="700">
                      <a:solidFill>
                        <a:srgbClr val="0240CA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E1E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Distrito Federal</c:v>
                </c:pt>
                <c:pt idx="1">
                  <c:v>São Paulo</c:v>
                </c:pt>
                <c:pt idx="2">
                  <c:v>Mato Grosso</c:v>
                </c:pt>
                <c:pt idx="3">
                  <c:v>Rio de Janeiro</c:v>
                </c:pt>
                <c:pt idx="4">
                  <c:v>Santa Catarina</c:v>
                </c:pt>
                <c:pt idx="5">
                  <c:v>Mato Grosso do Sul</c:v>
                </c:pt>
                <c:pt idx="6">
                  <c:v>Rio Grande do Sul</c:v>
                </c:pt>
                <c:pt idx="7">
                  <c:v>Paraná</c:v>
                </c:pt>
                <c:pt idx="8">
                  <c:v>Espírito Santo</c:v>
                </c:pt>
                <c:pt idx="9">
                  <c:v>Brasil</c:v>
                </c:pt>
                <c:pt idx="10">
                  <c:v>Rondônia</c:v>
                </c:pt>
                <c:pt idx="11">
                  <c:v>Goiás</c:v>
                </c:pt>
                <c:pt idx="12">
                  <c:v>Minas Gerais</c:v>
                </c:pt>
                <c:pt idx="13">
                  <c:v>Tocantins</c:v>
                </c:pt>
                <c:pt idx="14">
                  <c:v>Amazonas</c:v>
                </c:pt>
                <c:pt idx="15">
                  <c:v>Roraima</c:v>
                </c:pt>
                <c:pt idx="16">
                  <c:v>Amapá</c:v>
                </c:pt>
                <c:pt idx="17">
                  <c:v>Acre</c:v>
                </c:pt>
                <c:pt idx="18">
                  <c:v>Pará</c:v>
                </c:pt>
                <c:pt idx="19">
                  <c:v>Rio Grande do Norte</c:v>
                </c:pt>
                <c:pt idx="20">
                  <c:v>Bahia</c:v>
                </c:pt>
                <c:pt idx="21">
                  <c:v>Pernambuco</c:v>
                </c:pt>
                <c:pt idx="22">
                  <c:v>Alagoas</c:v>
                </c:pt>
                <c:pt idx="23">
                  <c:v>Sergipe</c:v>
                </c:pt>
                <c:pt idx="24">
                  <c:v>Ceará</c:v>
                </c:pt>
                <c:pt idx="25">
                  <c:v>Piauí</c:v>
                </c:pt>
                <c:pt idx="26">
                  <c:v>Paraíba</c:v>
                </c:pt>
                <c:pt idx="27">
                  <c:v>Maranhão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129.8</c:v>
                </c:pt>
                <c:pt idx="1">
                  <c:v>77.6</c:v>
                </c:pt>
                <c:pt idx="2">
                  <c:v>74.6</c:v>
                </c:pt>
                <c:pt idx="3">
                  <c:v>73.1</c:v>
                </c:pt>
                <c:pt idx="4">
                  <c:v>67.5</c:v>
                </c:pt>
                <c:pt idx="5">
                  <c:v>66.9</c:v>
                </c:pt>
                <c:pt idx="6">
                  <c:v>59.7</c:v>
                </c:pt>
                <c:pt idx="7">
                  <c:v>58.6</c:v>
                </c:pt>
                <c:pt idx="8">
                  <c:v>54.7</c:v>
                </c:pt>
                <c:pt idx="9">
                  <c:v>51.7</c:v>
                </c:pt>
                <c:pt idx="10">
                  <c:v>48.4</c:v>
                </c:pt>
                <c:pt idx="11">
                  <c:v>47.7</c:v>
                </c:pt>
                <c:pt idx="12">
                  <c:v>47.3</c:v>
                </c:pt>
                <c:pt idx="13">
                  <c:v>42.6</c:v>
                </c:pt>
                <c:pt idx="14">
                  <c:v>41.0</c:v>
                </c:pt>
                <c:pt idx="15">
                  <c:v>39.5</c:v>
                </c:pt>
                <c:pt idx="16">
                  <c:v>38.2</c:v>
                </c:pt>
                <c:pt idx="17">
                  <c:v>31.7</c:v>
                </c:pt>
                <c:pt idx="18">
                  <c:v>31.3</c:v>
                </c:pt>
                <c:pt idx="19">
                  <c:v>30.8</c:v>
                </c:pt>
                <c:pt idx="20">
                  <c:v>30.5</c:v>
                </c:pt>
                <c:pt idx="21">
                  <c:v>29.9</c:v>
                </c:pt>
                <c:pt idx="22">
                  <c:v>28.7</c:v>
                </c:pt>
                <c:pt idx="23">
                  <c:v>27.5</c:v>
                </c:pt>
                <c:pt idx="24">
                  <c:v>26.4</c:v>
                </c:pt>
                <c:pt idx="25">
                  <c:v>24.7</c:v>
                </c:pt>
                <c:pt idx="26">
                  <c:v>24.4</c:v>
                </c:pt>
                <c:pt idx="27">
                  <c:v>22.0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CE3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3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0240CA"/>
                </a:solidFill>
                <a:latin typeface="Montserrat"/>
              </a:rPr>
              <a:t>Longo </a:t>
            </a:r>
            <a:r>
              <a:rPr sz="1300" b="1" dirty="0" err="1">
                <a:solidFill>
                  <a:srgbClr val="0240CA"/>
                </a:solidFill>
                <a:latin typeface="Montserrat"/>
              </a:rPr>
              <a:t>prazo</a:t>
            </a:r>
            <a:endParaRPr sz="1300" b="1" dirty="0">
              <a:solidFill>
                <a:srgbClr val="0240CA"/>
              </a:solidFill>
              <a:latin typeface="Montserrat"/>
            </a:endParaRPr>
          </a:p>
          <a:p>
            <a:pPr algn="ctr">
              <a:spcBef>
                <a:spcPts val="300"/>
              </a:spcBef>
            </a:pPr>
            <a:r>
              <a:rPr sz="1000" b="0" dirty="0" err="1">
                <a:solidFill>
                  <a:srgbClr val="1E1E29"/>
                </a:solidFill>
                <a:latin typeface="Montserrat"/>
              </a:rPr>
              <a:t>Demografia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produtividade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investimento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indústria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formação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 e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inovação</a:t>
            </a:r>
            <a:endParaRPr sz="1000" b="0" dirty="0">
              <a:solidFill>
                <a:srgbClr val="1E1E29"/>
              </a:solidFill>
              <a:latin typeface="Montserrat"/>
            </a:endParaRP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Santa Catarina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tem o 5º maior PIB per capita do país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per capita por UF (2023)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mil, valores correntes</a:t>
            </a:r>
          </a:p>
        </p:txBody>
      </p:sp>
      <p:graphicFrame>
        <p:nvGraphicFramePr>
          <p:cNvPr id="339" name="grafico"/>
          <p:cNvGraphicFramePr>
            <a:graphicFrameLocks noGrp="1"/>
          </p:cNvGraphicFramePr>
          <p:nvPr/>
        </p:nvGraphicFramePr>
        <p:xfrm>
          <a:off x="320040" y="1691640"/>
          <a:ext cx="5440680" cy="298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43600" y="420624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2023: último ano disponível das Contas Regionais do IBGE.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Em 2023,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Distrito Federal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tinha o maior PIB per capita do país,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R$ 129,8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seguido por São Paulo (R$ 77,6 mil) e Mato Grosso (R$ 74,6 mil).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ficou em 5º lugar,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R$ 67,5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, o equivalente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1,3 vez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o PIB per capita nacional (R$ 51,7 mil).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No outro extremo, Maranhão (R$ 22,0 mil) e Paraíba (R$ 24,4 mil) têm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da metade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da média nacional.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Estados mais ricos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são os mais competitivos na indústria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Índice de Competitividade Industrial por UF (2024)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Índice; quanto maior, mais competitiva a indústria do estado</a:t>
            </a:r>
          </a:p>
        </p:txBody>
      </p:sp>
      <p:pic>
        <p:nvPicPr>
          <p:cNvPr id="339" name="mapa_ici" descr="Mapa do Brasil com o Índice de Competitividade Industrial por UF em 2024. SC 0,133; SP 0,126; RS 0,118; PR 0,112; AM 0,09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76" y="1691640"/>
            <a:ext cx="3080807" cy="288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Os estados com maior PIB per capita também se destacam como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mais competitivos industrialmente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.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 lidera o índice (0,133)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à frente de São Paulo (0,126), Rio Grande do Sul (0,118) e Paraná (0,112).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Não por acaso,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quatro dos cinco líderes estão no Sul e no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regiões com indústrias mais complexas, integradas e tecnologicamente avançadas.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O padrão revela relação direta entre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estrutura produtiva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, sobretudo a força da indústria, 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nível de desenvolvimento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dos estados.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Polos industriais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se concentram no Sul e no Sudeste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do Brasil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Por nível de inserção: nacional e internacional</a:t>
            </a:r>
          </a:p>
        </p:txBody>
      </p:sp>
      <p:pic>
        <p:nvPicPr>
          <p:cNvPr id="339" name="mapa_polos_br" descr="Mapa do Brasil com a localização dos polos industriais de inserção nacional e internacional, concentrados no Sul e no Sudes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31" y="1691640"/>
            <a:ext cx="3234098" cy="288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No Brasil,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polos industriais de maior relevância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nacional e internacional se concentram 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regiões Sul e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que torna essas regiões estruturalmente mais complexas, produtivas e competitivas.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Essa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concentração industrial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amplia as disparidades regionais e influencia diretamente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desempenho econômico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acesso à inovação, a geração de empregos qualificados e a qualidade de vida.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SC é o 3º estado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número de polos industriais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por nível de inserção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Número de polos; três UFs com mais polos</a:t>
            </a:r>
          </a:p>
        </p:txBody>
      </p:sp>
      <p:graphicFrame>
        <p:nvGraphicFramePr>
          <p:cNvPr id="346" name="tabela_polos"/>
          <p:cNvGraphicFramePr>
            <a:graphicFrameLocks noGrp="1"/>
          </p:cNvGraphicFramePr>
          <p:nvPr/>
        </p:nvGraphicFramePr>
        <p:xfrm>
          <a:off x="411480" y="1691640"/>
          <a:ext cx="5440680" cy="777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Regionais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Estaduais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Internacionais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Total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7" name="mapa_polos_sc" descr="Mapa de Santa Catarina com os polos industriais por arranjo setorial e nível de inserção (regional, estadual, nacional e internacional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000"/>
            <a:ext cx="4090641" cy="202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32588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Santa Catarina tem uma das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estruturas industriais mais distribuídas e complexas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do país. Com apenas 1% do território nacional,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ocupa a 3ª posição em polos industriais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, atrás de São Paulo e Paraná.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Entre os polos de maior inserção internacional, destacam-se: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Madeira e Móveis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Papel e Celulose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Equipamentos Elétricos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Alimentos e Bebidas</a:t>
            </a:r>
          </a:p>
          <a:p>
            <a:pPr algn="l" marL="228600" indent="-228600">
              <a:lnSpc>
                <a:spcPct val="112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Minerais Não Metálicos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Madeira e Móveis está presente em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5 das 6 mesorregiões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do estado, sinal da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capilaridade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da indústria catarinense.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lang="pt-BR" sz="2000" noProof="0" dirty="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200" b="1" noProof="0" dirty="0">
                <a:solidFill>
                  <a:srgbClr val="1E1E29"/>
                </a:solidFill>
                <a:latin typeface="Montserrat"/>
              </a:rPr>
              <a:t>Cenário adverso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0" noProof="0" dirty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noProof="0" dirty="0">
                <a:solidFill>
                  <a:srgbClr val="0240CA"/>
                </a:solidFill>
                <a:latin typeface="Montserrat"/>
              </a:rPr>
              <a:t>Cenário favorável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Novas altas do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Fed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Petróleo, geopolítica e El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Niño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Fiscal Impacta juros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60" y="2692909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4253</Words>
  <Application>Microsoft Office PowerPoint</Application>
  <PresentationFormat>Apresentação na tela (16:9)</PresentationFormat>
  <Paragraphs>519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Montserrat SemiBold</vt:lpstr>
      <vt:lpstr>Montserrat </vt:lpstr>
      <vt:lpstr>Arial</vt:lpstr>
      <vt:lpstr>Montserrat</vt:lpstr>
      <vt:lpstr>Montserrat ExtraBold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79</cp:revision>
  <dcterms:modified xsi:type="dcterms:W3CDTF">2026-10-28T13:02:33Z</dcterms:modified>
</cp:coreProperties>
</file>