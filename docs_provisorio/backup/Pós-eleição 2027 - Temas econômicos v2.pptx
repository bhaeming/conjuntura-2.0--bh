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4051" r:id="rId20"/>
    <p:sldId id="4052" r:id="rId21"/>
    <p:sldId id="4053" r:id="rId22"/>
    <p:sldId id="4040" r:id="rId4"/>
    <p:sldId id="4041" r:id="rId5"/>
    <p:sldId id="4054" r:id="rId23"/>
    <p:sldId id="4044" r:id="rId8"/>
    <p:sldId id="4045" r:id="rId9"/>
    <p:sldId id="4055" r:id="rId24"/>
    <p:sldId id="4056" r:id="rId25"/>
    <p:sldId id="4047" r:id="rId11"/>
    <p:sldId id="4048" r:id="rId12"/>
    <p:sldId id="4046" r:id="rId10"/>
    <p:sldId id="4057" r:id="rId26"/>
    <p:sldId id="4058" r:id="rId27"/>
    <p:sldId id="4059" r:id="rId28"/>
    <p:sldId id="4060" r:id="rId29"/>
    <p:sldId id="4061" r:id="rId30"/>
    <p:sldId id="4062" r:id="rId31"/>
    <p:sldId id="4063" r:id="rId32"/>
    <p:sldId id="4064" r:id="rId33"/>
    <p:sldId id="4065" r:id="rId34"/>
    <p:sldId id="4066" r:id="rId35"/>
    <p:sldId id="4067" r:id="rId36"/>
    <p:sldId id="4068" r:id="rId37"/>
    <p:sldId id="4069" r:id="rId38"/>
    <p:sldId id="4049" r:id="rId13"/>
    <p:sldId id="4070" r:id="rId39"/>
    <p:sldId id="4071" r:id="rId40"/>
    <p:sldId id="4072" r:id="rId41"/>
    <p:sldId id="4073" r:id="rId42"/>
    <p:sldId id="4050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DE2"/>
    <a:srgbClr val="0077FC"/>
    <a:srgbClr val="2D8EFA"/>
    <a:srgbClr val="F6F6F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ago/25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Área do Euro</c:v>
                </c:pt>
                <c:pt idx="2">
                  <c:v>China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1.7</c:v>
                </c:pt>
                <c:pt idx="1">
                  <c:v>1.1</c:v>
                </c:pt>
                <c:pt idx="2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fev/26</c:v>
                </c:pt>
              </c:strCache>
            </c:strRef>
          </c:tx>
          <c:spPr>
            <a:solidFill>
              <a:srgbClr val="8FB8F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Área do Euro</c:v>
                </c:pt>
                <c:pt idx="2">
                  <c:v>China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2.5</c:v>
                </c:pt>
                <c:pt idx="1">
                  <c:v>1.2</c:v>
                </c:pt>
                <c:pt idx="2">
                  <c:v>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ago/26</c:v>
                </c:pt>
              </c:strCache>
            </c:strRef>
          </c:tx>
          <c:spPr>
            <a:solidFill>
              <a:srgbClr val="1A73E8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EUA</c:v>
                </c:pt>
                <c:pt idx="1">
                  <c:v>Área do Euro</c:v>
                </c:pt>
                <c:pt idx="2">
                  <c:v>China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2.1</c:v>
                </c:pt>
                <c:pt idx="1">
                  <c:v>0.8</c:v>
                </c:pt>
                <c:pt idx="2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0D0D0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Lbls>
            <c:dLbl>
              <c:idx val="7"/>
              <c:numFmt formatCode="0.00&quot;%&quot;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numFmt formatCode="0.00&quot;%&quot;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numFmt formatCode="0.00&quot;%&quot;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numFmt formatCode="0.00&quot;%&quot;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5"/>
              <c:numFmt formatCode="0.00&quot;%&quot;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Sheet1!$A$2:$A$33</c:f>
              <c:strCache>
                <c:ptCount val="32"/>
                <c:pt idx="0">
                  <c:v>1T/2020</c:v>
                </c:pt>
                <c:pt idx="1">
                  <c:v>2T/2020</c:v>
                </c:pt>
                <c:pt idx="2">
                  <c:v>3T/2020</c:v>
                </c:pt>
                <c:pt idx="3">
                  <c:v>4T/2020</c:v>
                </c:pt>
                <c:pt idx="4">
                  <c:v>1T/2021</c:v>
                </c:pt>
                <c:pt idx="5">
                  <c:v>2T/2021</c:v>
                </c:pt>
                <c:pt idx="6">
                  <c:v>3T/2021</c:v>
                </c:pt>
                <c:pt idx="7">
                  <c:v>4T/2021</c:v>
                </c:pt>
                <c:pt idx="8">
                  <c:v>1T/2022</c:v>
                </c:pt>
                <c:pt idx="9">
                  <c:v>2T/2022</c:v>
                </c:pt>
                <c:pt idx="10">
                  <c:v>3T/2022</c:v>
                </c:pt>
                <c:pt idx="11">
                  <c:v>4T/2022</c:v>
                </c:pt>
                <c:pt idx="12">
                  <c:v>1T/2023</c:v>
                </c:pt>
                <c:pt idx="13">
                  <c:v>2T/2023</c:v>
                </c:pt>
                <c:pt idx="14">
                  <c:v>3T/2023</c:v>
                </c:pt>
                <c:pt idx="15">
                  <c:v>4T/2023</c:v>
                </c:pt>
                <c:pt idx="16">
                  <c:v>1T/2024</c:v>
                </c:pt>
                <c:pt idx="17">
                  <c:v>2T/2024</c:v>
                </c:pt>
                <c:pt idx="18">
                  <c:v>3T/2024</c:v>
                </c:pt>
                <c:pt idx="19">
                  <c:v>4T/2024</c:v>
                </c:pt>
                <c:pt idx="20">
                  <c:v>1T/2025</c:v>
                </c:pt>
                <c:pt idx="21">
                  <c:v>2T/2025</c:v>
                </c:pt>
                <c:pt idx="22">
                  <c:v>3T/2025</c:v>
                </c:pt>
                <c:pt idx="23">
                  <c:v>4T/2025</c:v>
                </c:pt>
                <c:pt idx="24">
                  <c:v>1T/2026</c:v>
                </c:pt>
                <c:pt idx="25">
                  <c:v>2T/2026</c:v>
                </c:pt>
                <c:pt idx="26">
                  <c:v>3T/2026</c:v>
                </c:pt>
                <c:pt idx="27">
                  <c:v>4T/2026</c:v>
                </c:pt>
                <c:pt idx="28">
                  <c:v>1T/2027</c:v>
                </c:pt>
                <c:pt idx="29">
                  <c:v>2T/2027</c:v>
                </c:pt>
                <c:pt idx="30">
                  <c:v>3T/2027</c:v>
                </c:pt>
                <c:pt idx="31">
                  <c:v>4T/2027</c:v>
                </c:pt>
              </c:strCache>
            </c:strRef>
          </c:cat>
          <c:val>
            <c:numRef>
              <c:f>Sheet1!$B$2:$B$33</c:f>
              <c:numCache>
                <c:formatCode>0.00</c:formatCode>
                <c:ptCount val="32"/>
                <c:pt idx="0">
                  <c:v>1.1</c:v>
                </c:pt>
                <c:pt idx="1">
                  <c:v>-1.73</c:v>
                </c:pt>
                <c:pt idx="2">
                  <c:v>-2.78</c:v>
                </c:pt>
                <c:pt idx="3">
                  <c:v>-3.28</c:v>
                </c:pt>
                <c:pt idx="4">
                  <c:v>-2.94</c:v>
                </c:pt>
                <c:pt idx="5">
                  <c:v>2.4</c:v>
                </c:pt>
                <c:pt idx="6">
                  <c:v>4.29</c:v>
                </c:pt>
                <c:pt idx="7">
                  <c:v>4.76</c:v>
                </c:pt>
                <c:pt idx="8">
                  <c:v>4.68</c:v>
                </c:pt>
                <c:pt idx="9">
                  <c:v>2.67</c:v>
                </c:pt>
                <c:pt idx="10">
                  <c:v>2.71</c:v>
                </c:pt>
                <c:pt idx="11">
                  <c:v>3.02</c:v>
                </c:pt>
                <c:pt idx="12">
                  <c:v>3.75</c:v>
                </c:pt>
                <c:pt idx="13">
                  <c:v>3.83</c:v>
                </c:pt>
                <c:pt idx="14">
                  <c:v>3.32</c:v>
                </c:pt>
                <c:pt idx="15">
                  <c:v>3.24</c:v>
                </c:pt>
                <c:pt idx="16">
                  <c:v>2.75</c:v>
                </c:pt>
                <c:pt idx="17">
                  <c:v>2.67</c:v>
                </c:pt>
                <c:pt idx="18">
                  <c:v>3.12</c:v>
                </c:pt>
                <c:pt idx="19">
                  <c:v>3.42</c:v>
                </c:pt>
                <c:pt idx="20">
                  <c:v>3.59</c:v>
                </c:pt>
                <c:pt idx="21">
                  <c:v>3.3</c:v>
                </c:pt>
                <c:pt idx="22">
                  <c:v>2.71</c:v>
                </c:pt>
                <c:pt idx="23">
                  <c:v>2.29</c:v>
                </c:pt>
                <c:pt idx="24">
                  <c:v>1.97</c:v>
                </c:pt>
                <c:pt idx="25">
                  <c:v>1.87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F28C00"/>
            </a:solidFill>
          </c:spPr>
          <c:invertIfNegative val="0"/>
          <c:dLbls>
            <c:dLbl>
              <c:idx val="31"/>
              <c:numFmt formatCode="0.00&quot;%&quot;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Sheet1!$A$2:$A$33</c:f>
              <c:strCache>
                <c:ptCount val="32"/>
                <c:pt idx="0">
                  <c:v>1T/2020</c:v>
                </c:pt>
                <c:pt idx="1">
                  <c:v>2T/2020</c:v>
                </c:pt>
                <c:pt idx="2">
                  <c:v>3T/2020</c:v>
                </c:pt>
                <c:pt idx="3">
                  <c:v>4T/2020</c:v>
                </c:pt>
                <c:pt idx="4">
                  <c:v>1T/2021</c:v>
                </c:pt>
                <c:pt idx="5">
                  <c:v>2T/2021</c:v>
                </c:pt>
                <c:pt idx="6">
                  <c:v>3T/2021</c:v>
                </c:pt>
                <c:pt idx="7">
                  <c:v>4T/2021</c:v>
                </c:pt>
                <c:pt idx="8">
                  <c:v>1T/2022</c:v>
                </c:pt>
                <c:pt idx="9">
                  <c:v>2T/2022</c:v>
                </c:pt>
                <c:pt idx="10">
                  <c:v>3T/2022</c:v>
                </c:pt>
                <c:pt idx="11">
                  <c:v>4T/2022</c:v>
                </c:pt>
                <c:pt idx="12">
                  <c:v>1T/2023</c:v>
                </c:pt>
                <c:pt idx="13">
                  <c:v>2T/2023</c:v>
                </c:pt>
                <c:pt idx="14">
                  <c:v>3T/2023</c:v>
                </c:pt>
                <c:pt idx="15">
                  <c:v>4T/2023</c:v>
                </c:pt>
                <c:pt idx="16">
                  <c:v>1T/2024</c:v>
                </c:pt>
                <c:pt idx="17">
                  <c:v>2T/2024</c:v>
                </c:pt>
                <c:pt idx="18">
                  <c:v>3T/2024</c:v>
                </c:pt>
                <c:pt idx="19">
                  <c:v>4T/2024</c:v>
                </c:pt>
                <c:pt idx="20">
                  <c:v>1T/2025</c:v>
                </c:pt>
                <c:pt idx="21">
                  <c:v>2T/2025</c:v>
                </c:pt>
                <c:pt idx="22">
                  <c:v>3T/2025</c:v>
                </c:pt>
                <c:pt idx="23">
                  <c:v>4T/2025</c:v>
                </c:pt>
                <c:pt idx="24">
                  <c:v>1T/2026</c:v>
                </c:pt>
                <c:pt idx="25">
                  <c:v>2T/2026</c:v>
                </c:pt>
                <c:pt idx="26">
                  <c:v>3T/2026</c:v>
                </c:pt>
                <c:pt idx="27">
                  <c:v>4T/2026</c:v>
                </c:pt>
                <c:pt idx="28">
                  <c:v>1T/2027</c:v>
                </c:pt>
                <c:pt idx="29">
                  <c:v>2T/2027</c:v>
                </c:pt>
                <c:pt idx="30">
                  <c:v>3T/2027</c:v>
                </c:pt>
                <c:pt idx="31">
                  <c:v>4T/2027</c:v>
                </c:pt>
              </c:strCache>
            </c:strRef>
          </c:cat>
          <c:val>
            <c:numRef>
              <c:f>Sheet1!$C$2:$C$33</c:f>
              <c:numCache>
                <c:formatCode>0.00</c:formatCode>
                <c:ptCount val="32"/>
                <c:pt idx="26">
                  <c:v>1.84</c:v>
                </c:pt>
                <c:pt idx="27">
                  <c:v>1.8</c:v>
                </c:pt>
                <c:pt idx="28">
                  <c:v>1.66</c:v>
                </c:pt>
                <c:pt idx="29">
                  <c:v>1.48</c:v>
                </c:pt>
                <c:pt idx="30">
                  <c:v>1.38</c:v>
                </c:pt>
                <c:pt idx="31">
                  <c:v>1.34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</c:v>
                </c:pt>
              </c:strCache>
            </c:strRef>
          </c:tx>
          <c:spPr>
            <a:ln w="28575" cap="rnd">
              <a:solidFill>
                <a:srgbClr val="0D0D0D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1T/2020</c:v>
                </c:pt>
                <c:pt idx="1">
                  <c:v>2T/2020</c:v>
                </c:pt>
                <c:pt idx="2">
                  <c:v>3T/2020</c:v>
                </c:pt>
                <c:pt idx="3">
                  <c:v>4T/2020</c:v>
                </c:pt>
                <c:pt idx="4">
                  <c:v>1T/2021</c:v>
                </c:pt>
                <c:pt idx="5">
                  <c:v>2T/2021</c:v>
                </c:pt>
                <c:pt idx="6">
                  <c:v>3T/2021</c:v>
                </c:pt>
                <c:pt idx="7">
                  <c:v>4T/2021</c:v>
                </c:pt>
                <c:pt idx="8">
                  <c:v>1T/2022</c:v>
                </c:pt>
                <c:pt idx="9">
                  <c:v>2T/2022</c:v>
                </c:pt>
                <c:pt idx="10">
                  <c:v>3T/2022</c:v>
                </c:pt>
                <c:pt idx="11">
                  <c:v>4T/2022</c:v>
                </c:pt>
                <c:pt idx="12">
                  <c:v>1T/2023</c:v>
                </c:pt>
                <c:pt idx="13">
                  <c:v>2T/2023</c:v>
                </c:pt>
                <c:pt idx="14">
                  <c:v>3T/2023</c:v>
                </c:pt>
                <c:pt idx="15">
                  <c:v>4T/2023</c:v>
                </c:pt>
                <c:pt idx="16">
                  <c:v>1T/2024</c:v>
                </c:pt>
                <c:pt idx="17">
                  <c:v>2T/2024</c:v>
                </c:pt>
                <c:pt idx="18">
                  <c:v>3T/2024</c:v>
                </c:pt>
                <c:pt idx="19">
                  <c:v>4T/2024</c:v>
                </c:pt>
                <c:pt idx="20">
                  <c:v>1T/2025</c:v>
                </c:pt>
                <c:pt idx="21">
                  <c:v>2T/2025</c:v>
                </c:pt>
                <c:pt idx="22">
                  <c:v>3T/2025</c:v>
                </c:pt>
                <c:pt idx="23">
                  <c:v>4T/2025</c:v>
                </c:pt>
                <c:pt idx="24">
                  <c:v>1T/2026</c:v>
                </c:pt>
                <c:pt idx="25">
                  <c:v>2T/2026</c:v>
                </c:pt>
                <c:pt idx="26">
                  <c:v>3T/2026</c:v>
                </c:pt>
                <c:pt idx="27">
                  <c:v>4T/2026</c:v>
                </c:pt>
                <c:pt idx="28">
                  <c:v>1T/2027</c:v>
                </c:pt>
                <c:pt idx="29">
                  <c:v>2T/2027</c:v>
                </c:pt>
                <c:pt idx="30">
                  <c:v>3T/2027</c:v>
                </c:pt>
                <c:pt idx="31">
                  <c:v>4T/2027</c:v>
                </c:pt>
              </c:strCache>
            </c:strRef>
          </c:cat>
          <c:val>
            <c:numRef>
              <c:f>Sheet1!$D$2:$D$33</c:f>
              <c:numCache>
                <c:formatCode>0.00</c:formatCode>
                <c:ptCount val="32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2.0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 rot="-5400000" vert="horz"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-4.0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majorUnit val="1.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 para a inflação</c:v>
                </c:pt>
              </c:strCache>
            </c:strRef>
          </c:tx>
          <c:spPr>
            <a:ln w="25400">
              <a:solidFill>
                <a:srgbClr val="0D0D0D"/>
              </a:solidFill>
            </a:ln>
          </c:spPr>
          <c:marker>
            <c:symbol val="none"/>
          </c:marker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Sheet1!$B$2:$B$155</c:f>
              <c:numCache>
                <c:formatCode>0.0</c:formatCode>
                <c:ptCount val="154"/>
                <c:pt idx="0">
                  <c:v>4.5</c:v>
                </c:pt>
                <c:pt idx="1">
                  <c:v>4.5</c:v>
                </c:pt>
                <c:pt idx="2">
                  <c:v>4.5</c:v>
                </c:pt>
                <c:pt idx="3">
                  <c:v>4.5</c:v>
                </c:pt>
                <c:pt idx="4">
                  <c:v>4.5</c:v>
                </c:pt>
                <c:pt idx="5">
                  <c:v>4.5</c:v>
                </c:pt>
                <c:pt idx="6">
                  <c:v>4.5</c:v>
                </c:pt>
                <c:pt idx="7">
                  <c:v>4.5</c:v>
                </c:pt>
                <c:pt idx="8">
                  <c:v>4.5</c:v>
                </c:pt>
                <c:pt idx="9">
                  <c:v>4.5</c:v>
                </c:pt>
                <c:pt idx="10">
                  <c:v>4.5</c:v>
                </c:pt>
                <c:pt idx="11">
                  <c:v>4.5</c:v>
                </c:pt>
                <c:pt idx="12">
                  <c:v>4.5</c:v>
                </c:pt>
                <c:pt idx="13">
                  <c:v>4.5</c:v>
                </c:pt>
                <c:pt idx="14">
                  <c:v>4.5</c:v>
                </c:pt>
                <c:pt idx="15">
                  <c:v>4.5</c:v>
                </c:pt>
                <c:pt idx="16">
                  <c:v>4.5</c:v>
                </c:pt>
                <c:pt idx="17">
                  <c:v>4.5</c:v>
                </c:pt>
                <c:pt idx="18">
                  <c:v>4.5</c:v>
                </c:pt>
                <c:pt idx="19">
                  <c:v>4.5</c:v>
                </c:pt>
                <c:pt idx="20">
                  <c:v>4.5</c:v>
                </c:pt>
                <c:pt idx="21">
                  <c:v>4.5</c:v>
                </c:pt>
                <c:pt idx="22">
                  <c:v>4.5</c:v>
                </c:pt>
                <c:pt idx="23">
                  <c:v>4.5</c:v>
                </c:pt>
                <c:pt idx="24">
                  <c:v>4.5</c:v>
                </c:pt>
                <c:pt idx="25">
                  <c:v>4.5</c:v>
                </c:pt>
                <c:pt idx="26">
                  <c:v>4.5</c:v>
                </c:pt>
                <c:pt idx="27">
                  <c:v>4.5</c:v>
                </c:pt>
                <c:pt idx="28">
                  <c:v>4.5</c:v>
                </c:pt>
                <c:pt idx="29">
                  <c:v>4.5</c:v>
                </c:pt>
                <c:pt idx="30">
                  <c:v>4.5</c:v>
                </c:pt>
                <c:pt idx="31">
                  <c:v>4.5</c:v>
                </c:pt>
                <c:pt idx="32">
                  <c:v>4.5</c:v>
                </c:pt>
                <c:pt idx="33">
                  <c:v>4.5</c:v>
                </c:pt>
                <c:pt idx="34">
                  <c:v>4.5</c:v>
                </c:pt>
                <c:pt idx="35">
                  <c:v>4.5</c:v>
                </c:pt>
                <c:pt idx="36">
                  <c:v>4.25</c:v>
                </c:pt>
                <c:pt idx="37">
                  <c:v>4.25</c:v>
                </c:pt>
                <c:pt idx="38">
                  <c:v>4.25</c:v>
                </c:pt>
                <c:pt idx="39">
                  <c:v>4.25</c:v>
                </c:pt>
                <c:pt idx="40">
                  <c:v>4.25</c:v>
                </c:pt>
                <c:pt idx="41">
                  <c:v>4.25</c:v>
                </c:pt>
                <c:pt idx="42">
                  <c:v>4.25</c:v>
                </c:pt>
                <c:pt idx="43">
                  <c:v>4.25</c:v>
                </c:pt>
                <c:pt idx="44">
                  <c:v>4.25</c:v>
                </c:pt>
                <c:pt idx="45">
                  <c:v>4.25</c:v>
                </c:pt>
                <c:pt idx="46">
                  <c:v>4.25</c:v>
                </c:pt>
                <c:pt idx="47">
                  <c:v>4.25</c:v>
                </c:pt>
                <c:pt idx="48">
                  <c:v>4.0</c:v>
                </c:pt>
                <c:pt idx="49">
                  <c:v>4.0</c:v>
                </c:pt>
                <c:pt idx="50">
                  <c:v>4.0</c:v>
                </c:pt>
                <c:pt idx="51">
                  <c:v>4.0</c:v>
                </c:pt>
                <c:pt idx="52">
                  <c:v>4.0</c:v>
                </c:pt>
                <c:pt idx="53">
                  <c:v>4.0</c:v>
                </c:pt>
                <c:pt idx="54">
                  <c:v>4.0</c:v>
                </c:pt>
                <c:pt idx="55">
                  <c:v>4.0</c:v>
                </c:pt>
                <c:pt idx="56">
                  <c:v>4.0</c:v>
                </c:pt>
                <c:pt idx="57">
                  <c:v>4.0</c:v>
                </c:pt>
                <c:pt idx="58">
                  <c:v>4.0</c:v>
                </c:pt>
                <c:pt idx="59">
                  <c:v>4.0</c:v>
                </c:pt>
                <c:pt idx="60">
                  <c:v>3.75</c:v>
                </c:pt>
                <c:pt idx="61">
                  <c:v>3.75</c:v>
                </c:pt>
                <c:pt idx="62">
                  <c:v>3.75</c:v>
                </c:pt>
                <c:pt idx="63">
                  <c:v>3.75</c:v>
                </c:pt>
                <c:pt idx="64">
                  <c:v>3.75</c:v>
                </c:pt>
                <c:pt idx="65">
                  <c:v>3.75</c:v>
                </c:pt>
                <c:pt idx="66">
                  <c:v>3.75</c:v>
                </c:pt>
                <c:pt idx="67">
                  <c:v>3.75</c:v>
                </c:pt>
                <c:pt idx="68">
                  <c:v>3.75</c:v>
                </c:pt>
                <c:pt idx="69">
                  <c:v>3.75</c:v>
                </c:pt>
                <c:pt idx="70">
                  <c:v>3.75</c:v>
                </c:pt>
                <c:pt idx="71">
                  <c:v>3.75</c:v>
                </c:pt>
                <c:pt idx="72">
                  <c:v>3.5</c:v>
                </c:pt>
                <c:pt idx="73">
                  <c:v>3.5</c:v>
                </c:pt>
                <c:pt idx="74">
                  <c:v>3.5</c:v>
                </c:pt>
                <c:pt idx="75">
                  <c:v>3.5</c:v>
                </c:pt>
                <c:pt idx="76">
                  <c:v>3.5</c:v>
                </c:pt>
                <c:pt idx="77">
                  <c:v>3.5</c:v>
                </c:pt>
                <c:pt idx="78">
                  <c:v>3.5</c:v>
                </c:pt>
                <c:pt idx="79">
                  <c:v>3.5</c:v>
                </c:pt>
                <c:pt idx="80">
                  <c:v>3.5</c:v>
                </c:pt>
                <c:pt idx="81">
                  <c:v>3.5</c:v>
                </c:pt>
                <c:pt idx="82">
                  <c:v>3.5</c:v>
                </c:pt>
                <c:pt idx="83">
                  <c:v>3.5</c:v>
                </c:pt>
                <c:pt idx="84">
                  <c:v>3.25</c:v>
                </c:pt>
                <c:pt idx="85">
                  <c:v>3.25</c:v>
                </c:pt>
                <c:pt idx="86">
                  <c:v>3.25</c:v>
                </c:pt>
                <c:pt idx="87">
                  <c:v>3.25</c:v>
                </c:pt>
                <c:pt idx="88">
                  <c:v>3.25</c:v>
                </c:pt>
                <c:pt idx="89">
                  <c:v>3.25</c:v>
                </c:pt>
                <c:pt idx="90">
                  <c:v>3.25</c:v>
                </c:pt>
                <c:pt idx="91">
                  <c:v>3.25</c:v>
                </c:pt>
                <c:pt idx="92">
                  <c:v>3.25</c:v>
                </c:pt>
                <c:pt idx="93">
                  <c:v>3.25</c:v>
                </c:pt>
                <c:pt idx="94">
                  <c:v>3.25</c:v>
                </c:pt>
                <c:pt idx="95">
                  <c:v>3.25</c:v>
                </c:pt>
                <c:pt idx="96">
                  <c:v>3.0</c:v>
                </c:pt>
                <c:pt idx="97">
                  <c:v>3.0</c:v>
                </c:pt>
                <c:pt idx="98">
                  <c:v>3.0</c:v>
                </c:pt>
                <c:pt idx="99">
                  <c:v>3.0</c:v>
                </c:pt>
                <c:pt idx="100">
                  <c:v>3.0</c:v>
                </c:pt>
                <c:pt idx="101">
                  <c:v>3.0</c:v>
                </c:pt>
                <c:pt idx="102">
                  <c:v>3.0</c:v>
                </c:pt>
                <c:pt idx="103">
                  <c:v>3.0</c:v>
                </c:pt>
                <c:pt idx="104">
                  <c:v>3.0</c:v>
                </c:pt>
                <c:pt idx="105">
                  <c:v>3.0</c:v>
                </c:pt>
                <c:pt idx="106">
                  <c:v>3.0</c:v>
                </c:pt>
                <c:pt idx="107">
                  <c:v>3.0</c:v>
                </c:pt>
                <c:pt idx="108">
                  <c:v>3.0</c:v>
                </c:pt>
                <c:pt idx="109">
                  <c:v>3.0</c:v>
                </c:pt>
                <c:pt idx="110">
                  <c:v>3.0</c:v>
                </c:pt>
                <c:pt idx="111">
                  <c:v>3.0</c:v>
                </c:pt>
                <c:pt idx="112">
                  <c:v>3.0</c:v>
                </c:pt>
                <c:pt idx="113">
                  <c:v>3.0</c:v>
                </c:pt>
                <c:pt idx="114">
                  <c:v>3.0</c:v>
                </c:pt>
                <c:pt idx="115">
                  <c:v>3.0</c:v>
                </c:pt>
                <c:pt idx="116">
                  <c:v>3.0</c:v>
                </c:pt>
                <c:pt idx="117">
                  <c:v>3.0</c:v>
                </c:pt>
                <c:pt idx="118">
                  <c:v>3.0</c:v>
                </c:pt>
                <c:pt idx="119">
                  <c:v>3.0</c:v>
                </c:pt>
                <c:pt idx="120">
                  <c:v>3.0</c:v>
                </c:pt>
                <c:pt idx="121">
                  <c:v>3.0</c:v>
                </c:pt>
                <c:pt idx="122">
                  <c:v>3.0</c:v>
                </c:pt>
                <c:pt idx="123">
                  <c:v>3.0</c:v>
                </c:pt>
                <c:pt idx="124">
                  <c:v>3.0</c:v>
                </c:pt>
                <c:pt idx="125">
                  <c:v>3.0</c:v>
                </c:pt>
                <c:pt idx="126">
                  <c:v>3.0</c:v>
                </c:pt>
                <c:pt idx="127">
                  <c:v>3.0</c:v>
                </c:pt>
                <c:pt idx="128">
                  <c:v>3.0</c:v>
                </c:pt>
                <c:pt idx="129">
                  <c:v>3.0</c:v>
                </c:pt>
                <c:pt idx="130">
                  <c:v>3.0</c:v>
                </c:pt>
                <c:pt idx="131">
                  <c:v>3.0</c:v>
                </c:pt>
                <c:pt idx="132">
                  <c:v>3.0</c:v>
                </c:pt>
                <c:pt idx="133">
                  <c:v>3.0</c:v>
                </c:pt>
                <c:pt idx="134">
                  <c:v>3.0</c:v>
                </c:pt>
                <c:pt idx="135">
                  <c:v>3.0</c:v>
                </c:pt>
                <c:pt idx="136">
                  <c:v>3.0</c:v>
                </c:pt>
                <c:pt idx="137">
                  <c:v>3.0</c:v>
                </c:pt>
                <c:pt idx="138">
                  <c:v>3.0</c:v>
                </c:pt>
                <c:pt idx="139">
                  <c:v>3.0</c:v>
                </c:pt>
                <c:pt idx="140">
                  <c:v>3.0</c:v>
                </c:pt>
                <c:pt idx="141">
                  <c:v>3.0</c:v>
                </c:pt>
                <c:pt idx="142">
                  <c:v>3.0</c:v>
                </c:pt>
                <c:pt idx="143">
                  <c:v>3.0</c:v>
                </c:pt>
                <c:pt idx="144">
                  <c:v>3.0</c:v>
                </c:pt>
                <c:pt idx="145">
                  <c:v>3.0</c:v>
                </c:pt>
                <c:pt idx="146">
                  <c:v>3.0</c:v>
                </c:pt>
                <c:pt idx="147">
                  <c:v>3.0</c:v>
                </c:pt>
                <c:pt idx="148">
                  <c:v>3.0</c:v>
                </c:pt>
                <c:pt idx="149">
                  <c:v>3.0</c:v>
                </c:pt>
                <c:pt idx="150">
                  <c:v>3.0</c:v>
                </c:pt>
                <c:pt idx="151">
                  <c:v>3.0</c:v>
                </c:pt>
                <c:pt idx="152">
                  <c:v>3.0</c:v>
                </c:pt>
                <c:pt idx="153">
                  <c:v>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IPCA ocorrido</c:v>
                </c:pt>
              </c:strCache>
            </c:strRef>
          </c:tx>
          <c:spPr>
            <a:ln w="28575">
              <a:solidFill>
                <a:srgbClr val="1A73E8"/>
              </a:solidFill>
            </a:ln>
          </c:spPr>
          <c:marker>
            <c:symbol val="none"/>
          </c:marker>
          <c:dLbls>
            <c:dLbl>
              <c:idx val="110"/>
              <c:numFmt formatCode="0.0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8"/>
              <c:numFmt formatCode="0.0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Sheet1!$C$2:$C$155</c:f>
              <c:numCache>
                <c:formatCode>0.0</c:formatCode>
                <c:ptCount val="154"/>
                <c:pt idx="0">
                  <c:v>10.71</c:v>
                </c:pt>
                <c:pt idx="1">
                  <c:v>10.36</c:v>
                </c:pt>
                <c:pt idx="2">
                  <c:v>9.39</c:v>
                </c:pt>
                <c:pt idx="3">
                  <c:v>9.28</c:v>
                </c:pt>
                <c:pt idx="4">
                  <c:v>9.32</c:v>
                </c:pt>
                <c:pt idx="5">
                  <c:v>8.84</c:v>
                </c:pt>
                <c:pt idx="6">
                  <c:v>8.74</c:v>
                </c:pt>
                <c:pt idx="7">
                  <c:v>8.97</c:v>
                </c:pt>
                <c:pt idx="8">
                  <c:v>8.48</c:v>
                </c:pt>
                <c:pt idx="9">
                  <c:v>7.87</c:v>
                </c:pt>
                <c:pt idx="10">
                  <c:v>6.99</c:v>
                </c:pt>
                <c:pt idx="11">
                  <c:v>6.29</c:v>
                </c:pt>
                <c:pt idx="12">
                  <c:v>5.35</c:v>
                </c:pt>
                <c:pt idx="13">
                  <c:v>4.76</c:v>
                </c:pt>
                <c:pt idx="14">
                  <c:v>4.57</c:v>
                </c:pt>
                <c:pt idx="15">
                  <c:v>4.08</c:v>
                </c:pt>
                <c:pt idx="16">
                  <c:v>3.6</c:v>
                </c:pt>
                <c:pt idx="17">
                  <c:v>3.0</c:v>
                </c:pt>
                <c:pt idx="18">
                  <c:v>2.71</c:v>
                </c:pt>
                <c:pt idx="19">
                  <c:v>2.46</c:v>
                </c:pt>
                <c:pt idx="20">
                  <c:v>2.54</c:v>
                </c:pt>
                <c:pt idx="21">
                  <c:v>2.7</c:v>
                </c:pt>
                <c:pt idx="22">
                  <c:v>2.8</c:v>
                </c:pt>
                <c:pt idx="23">
                  <c:v>2.95</c:v>
                </c:pt>
                <c:pt idx="24">
                  <c:v>2.86</c:v>
                </c:pt>
                <c:pt idx="25">
                  <c:v>2.84</c:v>
                </c:pt>
                <c:pt idx="26">
                  <c:v>2.68</c:v>
                </c:pt>
                <c:pt idx="27">
                  <c:v>2.76</c:v>
                </c:pt>
                <c:pt idx="28">
                  <c:v>2.86</c:v>
                </c:pt>
                <c:pt idx="29">
                  <c:v>4.39</c:v>
                </c:pt>
                <c:pt idx="30">
                  <c:v>4.48</c:v>
                </c:pt>
                <c:pt idx="31">
                  <c:v>4.19</c:v>
                </c:pt>
                <c:pt idx="32">
                  <c:v>4.53</c:v>
                </c:pt>
                <c:pt idx="33">
                  <c:v>4.56</c:v>
                </c:pt>
                <c:pt idx="34">
                  <c:v>4.05</c:v>
                </c:pt>
                <c:pt idx="35">
                  <c:v>3.75</c:v>
                </c:pt>
                <c:pt idx="36">
                  <c:v>3.78</c:v>
                </c:pt>
                <c:pt idx="37">
                  <c:v>3.89</c:v>
                </c:pt>
                <c:pt idx="38">
                  <c:v>4.58</c:v>
                </c:pt>
                <c:pt idx="39">
                  <c:v>4.94</c:v>
                </c:pt>
                <c:pt idx="40">
                  <c:v>4.66</c:v>
                </c:pt>
                <c:pt idx="41">
                  <c:v>3.37</c:v>
                </c:pt>
                <c:pt idx="42">
                  <c:v>3.22</c:v>
                </c:pt>
                <c:pt idx="43">
                  <c:v>3.43</c:v>
                </c:pt>
                <c:pt idx="44">
                  <c:v>2.89</c:v>
                </c:pt>
                <c:pt idx="45">
                  <c:v>2.54</c:v>
                </c:pt>
                <c:pt idx="46">
                  <c:v>3.27</c:v>
                </c:pt>
                <c:pt idx="47">
                  <c:v>4.31</c:v>
                </c:pt>
                <c:pt idx="48">
                  <c:v>4.19</c:v>
                </c:pt>
                <c:pt idx="49">
                  <c:v>4.01</c:v>
                </c:pt>
                <c:pt idx="50">
                  <c:v>3.3</c:v>
                </c:pt>
                <c:pt idx="51">
                  <c:v>2.4</c:v>
                </c:pt>
                <c:pt idx="52">
                  <c:v>1.88</c:v>
                </c:pt>
                <c:pt idx="53">
                  <c:v>2.13</c:v>
                </c:pt>
                <c:pt idx="54">
                  <c:v>2.31</c:v>
                </c:pt>
                <c:pt idx="55">
                  <c:v>2.44</c:v>
                </c:pt>
                <c:pt idx="56">
                  <c:v>3.14</c:v>
                </c:pt>
                <c:pt idx="57">
                  <c:v>3.92</c:v>
                </c:pt>
                <c:pt idx="58">
                  <c:v>4.31</c:v>
                </c:pt>
                <c:pt idx="59">
                  <c:v>4.52</c:v>
                </c:pt>
                <c:pt idx="60">
                  <c:v>4.56</c:v>
                </c:pt>
                <c:pt idx="61">
                  <c:v>5.2</c:v>
                </c:pt>
                <c:pt idx="62">
                  <c:v>6.1</c:v>
                </c:pt>
                <c:pt idx="63">
                  <c:v>6.76</c:v>
                </c:pt>
                <c:pt idx="64">
                  <c:v>8.06</c:v>
                </c:pt>
                <c:pt idx="65">
                  <c:v>8.35</c:v>
                </c:pt>
                <c:pt idx="66">
                  <c:v>8.99</c:v>
                </c:pt>
                <c:pt idx="67">
                  <c:v>9.68</c:v>
                </c:pt>
                <c:pt idx="68">
                  <c:v>10.25</c:v>
                </c:pt>
                <c:pt idx="69">
                  <c:v>10.67</c:v>
                </c:pt>
                <c:pt idx="70">
                  <c:v>10.74</c:v>
                </c:pt>
                <c:pt idx="71">
                  <c:v>10.06</c:v>
                </c:pt>
                <c:pt idx="72">
                  <c:v>10.38</c:v>
                </c:pt>
                <c:pt idx="73">
                  <c:v>10.54</c:v>
                </c:pt>
                <c:pt idx="74">
                  <c:v>11.3</c:v>
                </c:pt>
                <c:pt idx="75">
                  <c:v>12.13</c:v>
                </c:pt>
                <c:pt idx="76">
                  <c:v>11.73</c:v>
                </c:pt>
                <c:pt idx="77">
                  <c:v>11.89</c:v>
                </c:pt>
                <c:pt idx="78">
                  <c:v>10.07</c:v>
                </c:pt>
                <c:pt idx="79">
                  <c:v>8.73</c:v>
                </c:pt>
                <c:pt idx="80">
                  <c:v>7.17</c:v>
                </c:pt>
                <c:pt idx="81">
                  <c:v>6.47</c:v>
                </c:pt>
                <c:pt idx="82">
                  <c:v>5.9</c:v>
                </c:pt>
                <c:pt idx="83">
                  <c:v>5.79</c:v>
                </c:pt>
                <c:pt idx="84">
                  <c:v>5.77</c:v>
                </c:pt>
                <c:pt idx="85">
                  <c:v>5.6</c:v>
                </c:pt>
                <c:pt idx="86">
                  <c:v>4.65</c:v>
                </c:pt>
                <c:pt idx="87">
                  <c:v>4.18</c:v>
                </c:pt>
                <c:pt idx="88">
                  <c:v>3.94</c:v>
                </c:pt>
                <c:pt idx="89">
                  <c:v>3.16</c:v>
                </c:pt>
                <c:pt idx="90">
                  <c:v>3.99</c:v>
                </c:pt>
                <c:pt idx="91">
                  <c:v>4.61</c:v>
                </c:pt>
                <c:pt idx="92">
                  <c:v>5.19</c:v>
                </c:pt>
                <c:pt idx="93">
                  <c:v>4.82</c:v>
                </c:pt>
                <c:pt idx="94">
                  <c:v>4.68</c:v>
                </c:pt>
                <c:pt idx="95">
                  <c:v>4.62</c:v>
                </c:pt>
                <c:pt idx="96">
                  <c:v>4.51</c:v>
                </c:pt>
                <c:pt idx="97">
                  <c:v>4.5</c:v>
                </c:pt>
                <c:pt idx="98">
                  <c:v>3.93</c:v>
                </c:pt>
                <c:pt idx="99">
                  <c:v>3.69</c:v>
                </c:pt>
                <c:pt idx="100">
                  <c:v>3.93</c:v>
                </c:pt>
                <c:pt idx="101">
                  <c:v>4.23</c:v>
                </c:pt>
                <c:pt idx="102">
                  <c:v>4.5</c:v>
                </c:pt>
                <c:pt idx="103">
                  <c:v>4.24</c:v>
                </c:pt>
                <c:pt idx="104">
                  <c:v>4.42</c:v>
                </c:pt>
                <c:pt idx="105">
                  <c:v>4.76</c:v>
                </c:pt>
                <c:pt idx="106">
                  <c:v>4.87</c:v>
                </c:pt>
                <c:pt idx="107">
                  <c:v>4.83</c:v>
                </c:pt>
                <c:pt idx="108">
                  <c:v>4.56</c:v>
                </c:pt>
                <c:pt idx="109">
                  <c:v>5.06</c:v>
                </c:pt>
                <c:pt idx="110">
                  <c:v>5.48</c:v>
                </c:pt>
                <c:pt idx="111">
                  <c:v>5.53</c:v>
                </c:pt>
                <c:pt idx="112">
                  <c:v>5.32</c:v>
                </c:pt>
                <c:pt idx="113">
                  <c:v>5.35</c:v>
                </c:pt>
                <c:pt idx="114">
                  <c:v>5.23</c:v>
                </c:pt>
                <c:pt idx="115">
                  <c:v>5.13</c:v>
                </c:pt>
                <c:pt idx="116">
                  <c:v>5.17</c:v>
                </c:pt>
                <c:pt idx="117">
                  <c:v>4.68</c:v>
                </c:pt>
                <c:pt idx="118">
                  <c:v>4.46</c:v>
                </c:pt>
                <c:pt idx="119">
                  <c:v>4.26</c:v>
                </c:pt>
                <c:pt idx="120">
                  <c:v>4.44</c:v>
                </c:pt>
                <c:pt idx="121">
                  <c:v>3.81</c:v>
                </c:pt>
                <c:pt idx="122">
                  <c:v>4.14</c:v>
                </c:pt>
                <c:pt idx="123">
                  <c:v>4.39</c:v>
                </c:pt>
                <c:pt idx="124">
                  <c:v>4.72</c:v>
                </c:pt>
                <c:pt idx="125">
                  <c:v>4.64</c:v>
                </c:pt>
                <c:pt idx="126">
                  <c:v>4.44</c:v>
                </c:pt>
                <c:pt idx="127">
                  <c:v>4.22</c:v>
                </c:pt>
                <c:pt idx="128">
                  <c:v>4.58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Focus mais recente</c:v>
                </c:pt>
              </c:strCache>
            </c:strRef>
          </c:tx>
          <c:spPr>
            <a:ln w="25400">
              <a:solidFill>
                <a:srgbClr val="1A73E8"/>
              </a:solidFill>
              <a:prstDash val="sysDot"/>
            </a:ln>
          </c:spPr>
          <c:marker>
            <c:symbol val="none"/>
          </c:marker>
          <c:dLbls>
            <c:dLbl>
              <c:idx val="153"/>
              <c:numFmt formatCode="0.0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Sheet1!$D$2:$D$155</c:f>
              <c:numCache>
                <c:formatCode>0.0</c:formatCode>
                <c:ptCount val="154"/>
                <c:pt idx="128">
                  <c:v>4.58</c:v>
                </c:pt>
                <c:pt idx="129">
                  <c:v>4.77</c:v>
                </c:pt>
                <c:pt idx="130">
                  <c:v>4.93</c:v>
                </c:pt>
                <c:pt idx="131">
                  <c:v>5.19</c:v>
                </c:pt>
                <c:pt idx="132">
                  <c:v>5.38</c:v>
                </c:pt>
                <c:pt idx="133">
                  <c:v>5.37</c:v>
                </c:pt>
                <c:pt idx="134">
                  <c:v>4.89</c:v>
                </c:pt>
                <c:pt idx="135">
                  <c:v>4.64</c:v>
                </c:pt>
                <c:pt idx="136">
                  <c:v>4.36</c:v>
                </c:pt>
                <c:pt idx="137">
                  <c:v>4.43</c:v>
                </c:pt>
                <c:pt idx="138">
                  <c:v>4.59</c:v>
                </c:pt>
                <c:pt idx="139">
                  <c:v>5.05</c:v>
                </c:pt>
                <c:pt idx="140">
                  <c:v>4.49</c:v>
                </c:pt>
                <c:pt idx="141">
                  <c:v>4.53</c:v>
                </c:pt>
                <c:pt idx="142">
                  <c:v>4.46</c:v>
                </c:pt>
                <c:pt idx="143">
                  <c:v>4.36</c:v>
                </c:pt>
                <c:pt idx="144">
                  <c:v>4.24</c:v>
                </c:pt>
                <c:pt idx="145">
                  <c:v>4.09</c:v>
                </c:pt>
                <c:pt idx="146">
                  <c:v>4.01</c:v>
                </c:pt>
                <c:pt idx="147">
                  <c:v>3.94</c:v>
                </c:pt>
                <c:pt idx="148">
                  <c:v>3.91</c:v>
                </c:pt>
                <c:pt idx="149">
                  <c:v>3.89</c:v>
                </c:pt>
                <c:pt idx="150">
                  <c:v>3.87</c:v>
                </c:pt>
                <c:pt idx="151">
                  <c:v>3.88</c:v>
                </c:pt>
                <c:pt idx="152">
                  <c:v>3.88</c:v>
                </c:pt>
                <c:pt idx="153">
                  <c:v>3.87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limite máximo</c:v>
                </c:pt>
              </c:strCache>
            </c:strRef>
          </c:tx>
          <c:spPr>
            <a:ln w="19050">
              <a:solidFill>
                <a:srgbClr val="0D0D0D"/>
              </a:solidFill>
              <a:prstDash val="sysDot"/>
            </a:ln>
          </c:spPr>
          <c:marker>
            <c:symbol val="none"/>
          </c:marker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Sheet1!$E$2:$E$155</c:f>
              <c:numCache>
                <c:formatCode>0.0</c:formatCode>
                <c:ptCount val="154"/>
                <c:pt idx="0">
                  <c:v>6.5</c:v>
                </c:pt>
                <c:pt idx="1">
                  <c:v>6.5</c:v>
                </c:pt>
                <c:pt idx="2">
                  <c:v>6.5</c:v>
                </c:pt>
                <c:pt idx="3">
                  <c:v>6.5</c:v>
                </c:pt>
                <c:pt idx="4">
                  <c:v>6.5</c:v>
                </c:pt>
                <c:pt idx="5">
                  <c:v>6.5</c:v>
                </c:pt>
                <c:pt idx="6">
                  <c:v>6.5</c:v>
                </c:pt>
                <c:pt idx="7">
                  <c:v>6.5</c:v>
                </c:pt>
                <c:pt idx="8">
                  <c:v>6.5</c:v>
                </c:pt>
                <c:pt idx="9">
                  <c:v>6.5</c:v>
                </c:pt>
                <c:pt idx="10">
                  <c:v>6.5</c:v>
                </c:pt>
                <c:pt idx="11">
                  <c:v>6.5</c:v>
                </c:pt>
                <c:pt idx="12">
                  <c:v>6.0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6.0</c:v>
                </c:pt>
                <c:pt idx="18">
                  <c:v>6.0</c:v>
                </c:pt>
                <c:pt idx="19">
                  <c:v>6.0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6.0</c:v>
                </c:pt>
                <c:pt idx="25">
                  <c:v>6.0</c:v>
                </c:pt>
                <c:pt idx="26">
                  <c:v>6.0</c:v>
                </c:pt>
                <c:pt idx="27">
                  <c:v>6.0</c:v>
                </c:pt>
                <c:pt idx="28">
                  <c:v>6.0</c:v>
                </c:pt>
                <c:pt idx="29">
                  <c:v>6.0</c:v>
                </c:pt>
                <c:pt idx="30">
                  <c:v>6.0</c:v>
                </c:pt>
                <c:pt idx="31">
                  <c:v>6.0</c:v>
                </c:pt>
                <c:pt idx="32">
                  <c:v>6.0</c:v>
                </c:pt>
                <c:pt idx="33">
                  <c:v>6.0</c:v>
                </c:pt>
                <c:pt idx="34">
                  <c:v>6.0</c:v>
                </c:pt>
                <c:pt idx="35">
                  <c:v>6.0</c:v>
                </c:pt>
                <c:pt idx="36">
                  <c:v>5.75</c:v>
                </c:pt>
                <c:pt idx="37">
                  <c:v>5.75</c:v>
                </c:pt>
                <c:pt idx="38">
                  <c:v>5.75</c:v>
                </c:pt>
                <c:pt idx="39">
                  <c:v>5.75</c:v>
                </c:pt>
                <c:pt idx="40">
                  <c:v>5.75</c:v>
                </c:pt>
                <c:pt idx="41">
                  <c:v>5.75</c:v>
                </c:pt>
                <c:pt idx="42">
                  <c:v>5.75</c:v>
                </c:pt>
                <c:pt idx="43">
                  <c:v>5.75</c:v>
                </c:pt>
                <c:pt idx="44">
                  <c:v>5.75</c:v>
                </c:pt>
                <c:pt idx="45">
                  <c:v>5.75</c:v>
                </c:pt>
                <c:pt idx="46">
                  <c:v>5.75</c:v>
                </c:pt>
                <c:pt idx="47">
                  <c:v>5.75</c:v>
                </c:pt>
                <c:pt idx="48">
                  <c:v>5.5</c:v>
                </c:pt>
                <c:pt idx="49">
                  <c:v>5.5</c:v>
                </c:pt>
                <c:pt idx="50">
                  <c:v>5.5</c:v>
                </c:pt>
                <c:pt idx="51">
                  <c:v>5.5</c:v>
                </c:pt>
                <c:pt idx="52">
                  <c:v>5.5</c:v>
                </c:pt>
                <c:pt idx="53">
                  <c:v>5.5</c:v>
                </c:pt>
                <c:pt idx="54">
                  <c:v>5.5</c:v>
                </c:pt>
                <c:pt idx="55">
                  <c:v>5.5</c:v>
                </c:pt>
                <c:pt idx="56">
                  <c:v>5.5</c:v>
                </c:pt>
                <c:pt idx="57">
                  <c:v>5.5</c:v>
                </c:pt>
                <c:pt idx="58">
                  <c:v>5.5</c:v>
                </c:pt>
                <c:pt idx="59">
                  <c:v>5.5</c:v>
                </c:pt>
                <c:pt idx="60">
                  <c:v>5.25</c:v>
                </c:pt>
                <c:pt idx="61">
                  <c:v>5.25</c:v>
                </c:pt>
                <c:pt idx="62">
                  <c:v>5.25</c:v>
                </c:pt>
                <c:pt idx="63">
                  <c:v>5.25</c:v>
                </c:pt>
                <c:pt idx="64">
                  <c:v>5.25</c:v>
                </c:pt>
                <c:pt idx="65">
                  <c:v>5.25</c:v>
                </c:pt>
                <c:pt idx="66">
                  <c:v>5.25</c:v>
                </c:pt>
                <c:pt idx="67">
                  <c:v>5.25</c:v>
                </c:pt>
                <c:pt idx="68">
                  <c:v>5.25</c:v>
                </c:pt>
                <c:pt idx="69">
                  <c:v>5.25</c:v>
                </c:pt>
                <c:pt idx="70">
                  <c:v>5.25</c:v>
                </c:pt>
                <c:pt idx="71">
                  <c:v>5.25</c:v>
                </c:pt>
                <c:pt idx="72">
                  <c:v>5.0</c:v>
                </c:pt>
                <c:pt idx="73">
                  <c:v>5.0</c:v>
                </c:pt>
                <c:pt idx="74">
                  <c:v>5.0</c:v>
                </c:pt>
                <c:pt idx="75">
                  <c:v>5.0</c:v>
                </c:pt>
                <c:pt idx="76">
                  <c:v>5.0</c:v>
                </c:pt>
                <c:pt idx="77">
                  <c:v>5.0</c:v>
                </c:pt>
                <c:pt idx="78">
                  <c:v>5.0</c:v>
                </c:pt>
                <c:pt idx="79">
                  <c:v>5.0</c:v>
                </c:pt>
                <c:pt idx="80">
                  <c:v>5.0</c:v>
                </c:pt>
                <c:pt idx="81">
                  <c:v>5.0</c:v>
                </c:pt>
                <c:pt idx="82">
                  <c:v>5.0</c:v>
                </c:pt>
                <c:pt idx="83">
                  <c:v>5.0</c:v>
                </c:pt>
                <c:pt idx="84">
                  <c:v>4.75</c:v>
                </c:pt>
                <c:pt idx="85">
                  <c:v>4.75</c:v>
                </c:pt>
                <c:pt idx="86">
                  <c:v>4.75</c:v>
                </c:pt>
                <c:pt idx="87">
                  <c:v>4.75</c:v>
                </c:pt>
                <c:pt idx="88">
                  <c:v>4.75</c:v>
                </c:pt>
                <c:pt idx="89">
                  <c:v>4.75</c:v>
                </c:pt>
                <c:pt idx="90">
                  <c:v>4.75</c:v>
                </c:pt>
                <c:pt idx="91">
                  <c:v>4.75</c:v>
                </c:pt>
                <c:pt idx="92">
                  <c:v>4.75</c:v>
                </c:pt>
                <c:pt idx="93">
                  <c:v>4.75</c:v>
                </c:pt>
                <c:pt idx="94">
                  <c:v>4.75</c:v>
                </c:pt>
                <c:pt idx="95">
                  <c:v>4.75</c:v>
                </c:pt>
                <c:pt idx="96">
                  <c:v>4.5</c:v>
                </c:pt>
                <c:pt idx="97">
                  <c:v>4.5</c:v>
                </c:pt>
                <c:pt idx="98">
                  <c:v>4.5</c:v>
                </c:pt>
                <c:pt idx="99">
                  <c:v>4.5</c:v>
                </c:pt>
                <c:pt idx="100">
                  <c:v>4.5</c:v>
                </c:pt>
                <c:pt idx="101">
                  <c:v>4.5</c:v>
                </c:pt>
                <c:pt idx="102">
                  <c:v>4.5</c:v>
                </c:pt>
                <c:pt idx="103">
                  <c:v>4.5</c:v>
                </c:pt>
                <c:pt idx="104">
                  <c:v>4.5</c:v>
                </c:pt>
                <c:pt idx="105">
                  <c:v>4.5</c:v>
                </c:pt>
                <c:pt idx="106">
                  <c:v>4.5</c:v>
                </c:pt>
                <c:pt idx="107">
                  <c:v>4.5</c:v>
                </c:pt>
                <c:pt idx="108">
                  <c:v>4.5</c:v>
                </c:pt>
                <c:pt idx="109">
                  <c:v>4.5</c:v>
                </c:pt>
                <c:pt idx="110">
                  <c:v>4.5</c:v>
                </c:pt>
                <c:pt idx="111">
                  <c:v>4.5</c:v>
                </c:pt>
                <c:pt idx="112">
                  <c:v>4.5</c:v>
                </c:pt>
                <c:pt idx="113">
                  <c:v>4.5</c:v>
                </c:pt>
                <c:pt idx="114">
                  <c:v>4.5</c:v>
                </c:pt>
                <c:pt idx="115">
                  <c:v>4.5</c:v>
                </c:pt>
                <c:pt idx="116">
                  <c:v>4.5</c:v>
                </c:pt>
                <c:pt idx="117">
                  <c:v>4.5</c:v>
                </c:pt>
                <c:pt idx="118">
                  <c:v>4.5</c:v>
                </c:pt>
                <c:pt idx="119">
                  <c:v>4.5</c:v>
                </c:pt>
                <c:pt idx="120">
                  <c:v>4.5</c:v>
                </c:pt>
                <c:pt idx="121">
                  <c:v>4.5</c:v>
                </c:pt>
                <c:pt idx="122">
                  <c:v>4.5</c:v>
                </c:pt>
                <c:pt idx="123">
                  <c:v>4.5</c:v>
                </c:pt>
                <c:pt idx="124">
                  <c:v>4.5</c:v>
                </c:pt>
                <c:pt idx="125">
                  <c:v>4.5</c:v>
                </c:pt>
                <c:pt idx="126">
                  <c:v>4.5</c:v>
                </c:pt>
                <c:pt idx="127">
                  <c:v>4.5</c:v>
                </c:pt>
                <c:pt idx="128">
                  <c:v>4.5</c:v>
                </c:pt>
                <c:pt idx="129">
                  <c:v>4.5</c:v>
                </c:pt>
                <c:pt idx="130">
                  <c:v>4.5</c:v>
                </c:pt>
                <c:pt idx="131">
                  <c:v>4.5</c:v>
                </c:pt>
                <c:pt idx="132">
                  <c:v>4.5</c:v>
                </c:pt>
                <c:pt idx="133">
                  <c:v>4.5</c:v>
                </c:pt>
                <c:pt idx="134">
                  <c:v>4.5</c:v>
                </c:pt>
                <c:pt idx="135">
                  <c:v>4.5</c:v>
                </c:pt>
                <c:pt idx="136">
                  <c:v>4.5</c:v>
                </c:pt>
                <c:pt idx="137">
                  <c:v>4.5</c:v>
                </c:pt>
                <c:pt idx="138">
                  <c:v>4.5</c:v>
                </c:pt>
                <c:pt idx="139">
                  <c:v>4.5</c:v>
                </c:pt>
                <c:pt idx="140">
                  <c:v>4.5</c:v>
                </c:pt>
                <c:pt idx="141">
                  <c:v>4.5</c:v>
                </c:pt>
                <c:pt idx="142">
                  <c:v>4.5</c:v>
                </c:pt>
                <c:pt idx="143">
                  <c:v>4.5</c:v>
                </c:pt>
                <c:pt idx="144">
                  <c:v>4.5</c:v>
                </c:pt>
                <c:pt idx="145">
                  <c:v>4.5</c:v>
                </c:pt>
                <c:pt idx="146">
                  <c:v>4.5</c:v>
                </c:pt>
                <c:pt idx="147">
                  <c:v>4.5</c:v>
                </c:pt>
                <c:pt idx="148">
                  <c:v>4.5</c:v>
                </c:pt>
                <c:pt idx="149">
                  <c:v>4.5</c:v>
                </c:pt>
                <c:pt idx="150">
                  <c:v>4.5</c:v>
                </c:pt>
                <c:pt idx="151">
                  <c:v>4.5</c:v>
                </c:pt>
                <c:pt idx="152">
                  <c:v>4.5</c:v>
                </c:pt>
                <c:pt idx="153">
                  <c:v>4.5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limite mínimo</c:v>
                </c:pt>
              </c:strCache>
            </c:strRef>
          </c:tx>
          <c:spPr>
            <a:ln w="19050">
              <a:solidFill>
                <a:srgbClr val="0D0D0D"/>
              </a:solidFill>
              <a:prstDash val="sysDot"/>
            </a:ln>
          </c:spPr>
          <c:marker>
            <c:symbol val="none"/>
          </c:marker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Sheet1!$F$2:$F$155</c:f>
              <c:numCache>
                <c:formatCode>0.0</c:formatCode>
                <c:ptCount val="154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  <c:pt idx="34">
                  <c:v>3.0</c:v>
                </c:pt>
                <c:pt idx="35">
                  <c:v>3.0</c:v>
                </c:pt>
                <c:pt idx="36">
                  <c:v>2.75</c:v>
                </c:pt>
                <c:pt idx="37">
                  <c:v>2.75</c:v>
                </c:pt>
                <c:pt idx="38">
                  <c:v>2.75</c:v>
                </c:pt>
                <c:pt idx="39">
                  <c:v>2.75</c:v>
                </c:pt>
                <c:pt idx="40">
                  <c:v>2.75</c:v>
                </c:pt>
                <c:pt idx="41">
                  <c:v>2.75</c:v>
                </c:pt>
                <c:pt idx="42">
                  <c:v>2.75</c:v>
                </c:pt>
                <c:pt idx="43">
                  <c:v>2.75</c:v>
                </c:pt>
                <c:pt idx="44">
                  <c:v>2.75</c:v>
                </c:pt>
                <c:pt idx="45">
                  <c:v>2.75</c:v>
                </c:pt>
                <c:pt idx="46">
                  <c:v>2.75</c:v>
                </c:pt>
                <c:pt idx="47">
                  <c:v>2.75</c:v>
                </c:pt>
                <c:pt idx="48">
                  <c:v>2.5</c:v>
                </c:pt>
                <c:pt idx="49">
                  <c:v>2.5</c:v>
                </c:pt>
                <c:pt idx="50">
                  <c:v>2.5</c:v>
                </c:pt>
                <c:pt idx="51">
                  <c:v>2.5</c:v>
                </c:pt>
                <c:pt idx="52">
                  <c:v>2.5</c:v>
                </c:pt>
                <c:pt idx="53">
                  <c:v>2.5</c:v>
                </c:pt>
                <c:pt idx="54">
                  <c:v>2.5</c:v>
                </c:pt>
                <c:pt idx="55">
                  <c:v>2.5</c:v>
                </c:pt>
                <c:pt idx="56">
                  <c:v>2.5</c:v>
                </c:pt>
                <c:pt idx="57">
                  <c:v>2.5</c:v>
                </c:pt>
                <c:pt idx="58">
                  <c:v>2.5</c:v>
                </c:pt>
                <c:pt idx="59">
                  <c:v>2.5</c:v>
                </c:pt>
                <c:pt idx="60">
                  <c:v>2.25</c:v>
                </c:pt>
                <c:pt idx="61">
                  <c:v>2.25</c:v>
                </c:pt>
                <c:pt idx="62">
                  <c:v>2.25</c:v>
                </c:pt>
                <c:pt idx="63">
                  <c:v>2.25</c:v>
                </c:pt>
                <c:pt idx="64">
                  <c:v>2.25</c:v>
                </c:pt>
                <c:pt idx="65">
                  <c:v>2.25</c:v>
                </c:pt>
                <c:pt idx="66">
                  <c:v>2.25</c:v>
                </c:pt>
                <c:pt idx="67">
                  <c:v>2.25</c:v>
                </c:pt>
                <c:pt idx="68">
                  <c:v>2.25</c:v>
                </c:pt>
                <c:pt idx="69">
                  <c:v>2.25</c:v>
                </c:pt>
                <c:pt idx="70">
                  <c:v>2.25</c:v>
                </c:pt>
                <c:pt idx="71">
                  <c:v>2.25</c:v>
                </c:pt>
                <c:pt idx="72">
                  <c:v>2.0</c:v>
                </c:pt>
                <c:pt idx="73">
                  <c:v>2.0</c:v>
                </c:pt>
                <c:pt idx="74">
                  <c:v>2.0</c:v>
                </c:pt>
                <c:pt idx="75">
                  <c:v>2.0</c:v>
                </c:pt>
                <c:pt idx="76">
                  <c:v>2.0</c:v>
                </c:pt>
                <c:pt idx="77">
                  <c:v>2.0</c:v>
                </c:pt>
                <c:pt idx="78">
                  <c:v>2.0</c:v>
                </c:pt>
                <c:pt idx="79">
                  <c:v>2.0</c:v>
                </c:pt>
                <c:pt idx="80">
                  <c:v>2.0</c:v>
                </c:pt>
                <c:pt idx="81">
                  <c:v>2.0</c:v>
                </c:pt>
                <c:pt idx="82">
                  <c:v>2.0</c:v>
                </c:pt>
                <c:pt idx="83">
                  <c:v>2.0</c:v>
                </c:pt>
                <c:pt idx="84">
                  <c:v>1.75</c:v>
                </c:pt>
                <c:pt idx="85">
                  <c:v>1.75</c:v>
                </c:pt>
                <c:pt idx="86">
                  <c:v>1.75</c:v>
                </c:pt>
                <c:pt idx="87">
                  <c:v>1.75</c:v>
                </c:pt>
                <c:pt idx="88">
                  <c:v>1.75</c:v>
                </c:pt>
                <c:pt idx="89">
                  <c:v>1.75</c:v>
                </c:pt>
                <c:pt idx="90">
                  <c:v>1.75</c:v>
                </c:pt>
                <c:pt idx="91">
                  <c:v>1.75</c:v>
                </c:pt>
                <c:pt idx="92">
                  <c:v>1.75</c:v>
                </c:pt>
                <c:pt idx="93">
                  <c:v>1.75</c:v>
                </c:pt>
                <c:pt idx="94">
                  <c:v>1.75</c:v>
                </c:pt>
                <c:pt idx="95">
                  <c:v>1.75</c:v>
                </c:pt>
                <c:pt idx="96">
                  <c:v>1.5</c:v>
                </c:pt>
                <c:pt idx="97">
                  <c:v>1.5</c:v>
                </c:pt>
                <c:pt idx="98">
                  <c:v>1.5</c:v>
                </c:pt>
                <c:pt idx="99">
                  <c:v>1.5</c:v>
                </c:pt>
                <c:pt idx="100">
                  <c:v>1.5</c:v>
                </c:pt>
                <c:pt idx="101">
                  <c:v>1.5</c:v>
                </c:pt>
                <c:pt idx="102">
                  <c:v>1.5</c:v>
                </c:pt>
                <c:pt idx="103">
                  <c:v>1.5</c:v>
                </c:pt>
                <c:pt idx="104">
                  <c:v>1.5</c:v>
                </c:pt>
                <c:pt idx="105">
                  <c:v>1.5</c:v>
                </c:pt>
                <c:pt idx="106">
                  <c:v>1.5</c:v>
                </c:pt>
                <c:pt idx="107">
                  <c:v>1.5</c:v>
                </c:pt>
                <c:pt idx="108">
                  <c:v>1.5</c:v>
                </c:pt>
                <c:pt idx="109">
                  <c:v>1.5</c:v>
                </c:pt>
                <c:pt idx="110">
                  <c:v>1.5</c:v>
                </c:pt>
                <c:pt idx="111">
                  <c:v>1.5</c:v>
                </c:pt>
                <c:pt idx="112">
                  <c:v>1.5</c:v>
                </c:pt>
                <c:pt idx="113">
                  <c:v>1.5</c:v>
                </c:pt>
                <c:pt idx="114">
                  <c:v>1.5</c:v>
                </c:pt>
                <c:pt idx="115">
                  <c:v>1.5</c:v>
                </c:pt>
                <c:pt idx="116">
                  <c:v>1.5</c:v>
                </c:pt>
                <c:pt idx="117">
                  <c:v>1.5</c:v>
                </c:pt>
                <c:pt idx="118">
                  <c:v>1.5</c:v>
                </c:pt>
                <c:pt idx="119">
                  <c:v>1.5</c:v>
                </c:pt>
                <c:pt idx="120">
                  <c:v>1.5</c:v>
                </c:pt>
                <c:pt idx="121">
                  <c:v>1.5</c:v>
                </c:pt>
                <c:pt idx="122">
                  <c:v>1.5</c:v>
                </c:pt>
                <c:pt idx="123">
                  <c:v>1.5</c:v>
                </c:pt>
                <c:pt idx="124">
                  <c:v>1.5</c:v>
                </c:pt>
                <c:pt idx="125">
                  <c:v>1.5</c:v>
                </c:pt>
                <c:pt idx="126">
                  <c:v>1.5</c:v>
                </c:pt>
                <c:pt idx="127">
                  <c:v>1.5</c:v>
                </c:pt>
                <c:pt idx="128">
                  <c:v>1.5</c:v>
                </c:pt>
                <c:pt idx="129">
                  <c:v>1.5</c:v>
                </c:pt>
                <c:pt idx="130">
                  <c:v>1.5</c:v>
                </c:pt>
                <c:pt idx="131">
                  <c:v>1.5</c:v>
                </c:pt>
                <c:pt idx="132">
                  <c:v>1.5</c:v>
                </c:pt>
                <c:pt idx="133">
                  <c:v>1.5</c:v>
                </c:pt>
                <c:pt idx="134">
                  <c:v>1.5</c:v>
                </c:pt>
                <c:pt idx="135">
                  <c:v>1.5</c:v>
                </c:pt>
                <c:pt idx="136">
                  <c:v>1.5</c:v>
                </c:pt>
                <c:pt idx="137">
                  <c:v>1.5</c:v>
                </c:pt>
                <c:pt idx="138">
                  <c:v>1.5</c:v>
                </c:pt>
                <c:pt idx="139">
                  <c:v>1.5</c:v>
                </c:pt>
                <c:pt idx="140">
                  <c:v>1.5</c:v>
                </c:pt>
                <c:pt idx="141">
                  <c:v>1.5</c:v>
                </c:pt>
                <c:pt idx="142">
                  <c:v>1.5</c:v>
                </c:pt>
                <c:pt idx="143">
                  <c:v>1.5</c:v>
                </c:pt>
                <c:pt idx="144">
                  <c:v>1.5</c:v>
                </c:pt>
                <c:pt idx="145">
                  <c:v>1.5</c:v>
                </c:pt>
                <c:pt idx="146">
                  <c:v>1.5</c:v>
                </c:pt>
                <c:pt idx="147">
                  <c:v>1.5</c:v>
                </c:pt>
                <c:pt idx="148">
                  <c:v>1.5</c:v>
                </c:pt>
                <c:pt idx="149">
                  <c:v>1.5</c:v>
                </c:pt>
                <c:pt idx="150">
                  <c:v>1.5</c:v>
                </c:pt>
                <c:pt idx="151">
                  <c:v>1.5</c:v>
                </c:pt>
                <c:pt idx="152">
                  <c:v>1.5</c:v>
                </c:pt>
                <c:pt idx="153">
                  <c:v>1.5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Selic</c:v>
                </c:pt>
              </c:strCache>
            </c:strRef>
          </c:tx>
          <c:spPr>
            <a:ln w="28575">
              <a:solidFill>
                <a:srgbClr val="F28C00"/>
              </a:solidFill>
            </a:ln>
          </c:spPr>
          <c:marker>
            <c:symbol val="none"/>
          </c:marker>
          <c:dLbls>
            <c:dLbl>
              <c:idx val="129"/>
              <c:numFmt formatCode="0.0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Sheet1!$G$2:$G$155</c:f>
              <c:numCache>
                <c:formatCode>0.0</c:formatCode>
                <c:ptCount val="154"/>
                <c:pt idx="0">
                  <c:v>14.25</c:v>
                </c:pt>
                <c:pt idx="1">
                  <c:v>14.25</c:v>
                </c:pt>
                <c:pt idx="2">
                  <c:v>14.25</c:v>
                </c:pt>
                <c:pt idx="3">
                  <c:v>14.25</c:v>
                </c:pt>
                <c:pt idx="4">
                  <c:v>14.25</c:v>
                </c:pt>
                <c:pt idx="5">
                  <c:v>14.25</c:v>
                </c:pt>
                <c:pt idx="6">
                  <c:v>14.25</c:v>
                </c:pt>
                <c:pt idx="7">
                  <c:v>14.25</c:v>
                </c:pt>
                <c:pt idx="8">
                  <c:v>14.25</c:v>
                </c:pt>
                <c:pt idx="9">
                  <c:v>14.0</c:v>
                </c:pt>
                <c:pt idx="10">
                  <c:v>14.0</c:v>
                </c:pt>
                <c:pt idx="11">
                  <c:v>13.75</c:v>
                </c:pt>
                <c:pt idx="12">
                  <c:v>13.0</c:v>
                </c:pt>
                <c:pt idx="13">
                  <c:v>12.25</c:v>
                </c:pt>
                <c:pt idx="14">
                  <c:v>12.25</c:v>
                </c:pt>
                <c:pt idx="15">
                  <c:v>11.25</c:v>
                </c:pt>
                <c:pt idx="16">
                  <c:v>11.25</c:v>
                </c:pt>
                <c:pt idx="17">
                  <c:v>10.25</c:v>
                </c:pt>
                <c:pt idx="18">
                  <c:v>9.25</c:v>
                </c:pt>
                <c:pt idx="19">
                  <c:v>9.25</c:v>
                </c:pt>
                <c:pt idx="20">
                  <c:v>8.25</c:v>
                </c:pt>
                <c:pt idx="21">
                  <c:v>7.5</c:v>
                </c:pt>
                <c:pt idx="22">
                  <c:v>7.5</c:v>
                </c:pt>
                <c:pt idx="23">
                  <c:v>7.0</c:v>
                </c:pt>
                <c:pt idx="24">
                  <c:v>7.0</c:v>
                </c:pt>
                <c:pt idx="25">
                  <c:v>6.75</c:v>
                </c:pt>
                <c:pt idx="26">
                  <c:v>6.5</c:v>
                </c:pt>
                <c:pt idx="27">
                  <c:v>6.5</c:v>
                </c:pt>
                <c:pt idx="28">
                  <c:v>6.5</c:v>
                </c:pt>
                <c:pt idx="29">
                  <c:v>6.5</c:v>
                </c:pt>
                <c:pt idx="30">
                  <c:v>6.5</c:v>
                </c:pt>
                <c:pt idx="31">
                  <c:v>6.5</c:v>
                </c:pt>
                <c:pt idx="32">
                  <c:v>6.5</c:v>
                </c:pt>
                <c:pt idx="33">
                  <c:v>6.5</c:v>
                </c:pt>
                <c:pt idx="34">
                  <c:v>6.5</c:v>
                </c:pt>
                <c:pt idx="35">
                  <c:v>6.5</c:v>
                </c:pt>
                <c:pt idx="36">
                  <c:v>6.5</c:v>
                </c:pt>
                <c:pt idx="37">
                  <c:v>6.5</c:v>
                </c:pt>
                <c:pt idx="38">
                  <c:v>6.5</c:v>
                </c:pt>
                <c:pt idx="39">
                  <c:v>6.5</c:v>
                </c:pt>
                <c:pt idx="40">
                  <c:v>6.5</c:v>
                </c:pt>
                <c:pt idx="41">
                  <c:v>6.5</c:v>
                </c:pt>
                <c:pt idx="42">
                  <c:v>6.5</c:v>
                </c:pt>
                <c:pt idx="43">
                  <c:v>6.0</c:v>
                </c:pt>
                <c:pt idx="44">
                  <c:v>5.5</c:v>
                </c:pt>
                <c:pt idx="45">
                  <c:v>5.0</c:v>
                </c:pt>
                <c:pt idx="46">
                  <c:v>5.0</c:v>
                </c:pt>
                <c:pt idx="47">
                  <c:v>4.5</c:v>
                </c:pt>
                <c:pt idx="48">
                  <c:v>4.5</c:v>
                </c:pt>
                <c:pt idx="49">
                  <c:v>4.25</c:v>
                </c:pt>
                <c:pt idx="50">
                  <c:v>3.75</c:v>
                </c:pt>
                <c:pt idx="51">
                  <c:v>3.75</c:v>
                </c:pt>
                <c:pt idx="52">
                  <c:v>3.0</c:v>
                </c:pt>
                <c:pt idx="53">
                  <c:v>2.25</c:v>
                </c:pt>
                <c:pt idx="54">
                  <c:v>2.25</c:v>
                </c:pt>
                <c:pt idx="55">
                  <c:v>2.0</c:v>
                </c:pt>
                <c:pt idx="56">
                  <c:v>2.0</c:v>
                </c:pt>
                <c:pt idx="57">
                  <c:v>2.0</c:v>
                </c:pt>
                <c:pt idx="58">
                  <c:v>2.0</c:v>
                </c:pt>
                <c:pt idx="59">
                  <c:v>2.0</c:v>
                </c:pt>
                <c:pt idx="60">
                  <c:v>2.0</c:v>
                </c:pt>
                <c:pt idx="61">
                  <c:v>2.0</c:v>
                </c:pt>
                <c:pt idx="62">
                  <c:v>2.75</c:v>
                </c:pt>
                <c:pt idx="63">
                  <c:v>2.75</c:v>
                </c:pt>
                <c:pt idx="64">
                  <c:v>3.5</c:v>
                </c:pt>
                <c:pt idx="65">
                  <c:v>4.25</c:v>
                </c:pt>
                <c:pt idx="66">
                  <c:v>4.25</c:v>
                </c:pt>
                <c:pt idx="67">
                  <c:v>5.25</c:v>
                </c:pt>
                <c:pt idx="68">
                  <c:v>6.25</c:v>
                </c:pt>
                <c:pt idx="69">
                  <c:v>7.75</c:v>
                </c:pt>
                <c:pt idx="70">
                  <c:v>7.75</c:v>
                </c:pt>
                <c:pt idx="71">
                  <c:v>9.25</c:v>
                </c:pt>
                <c:pt idx="72">
                  <c:v>9.25</c:v>
                </c:pt>
                <c:pt idx="73">
                  <c:v>10.75</c:v>
                </c:pt>
                <c:pt idx="74">
                  <c:v>11.75</c:v>
                </c:pt>
                <c:pt idx="75">
                  <c:v>11.75</c:v>
                </c:pt>
                <c:pt idx="76">
                  <c:v>12.75</c:v>
                </c:pt>
                <c:pt idx="77">
                  <c:v>13.25</c:v>
                </c:pt>
                <c:pt idx="78">
                  <c:v>13.25</c:v>
                </c:pt>
                <c:pt idx="79">
                  <c:v>13.75</c:v>
                </c:pt>
                <c:pt idx="80">
                  <c:v>13.75</c:v>
                </c:pt>
                <c:pt idx="81">
                  <c:v>13.75</c:v>
                </c:pt>
                <c:pt idx="82">
                  <c:v>13.75</c:v>
                </c:pt>
                <c:pt idx="83">
                  <c:v>13.75</c:v>
                </c:pt>
                <c:pt idx="84">
                  <c:v>13.75</c:v>
                </c:pt>
                <c:pt idx="85">
                  <c:v>13.75</c:v>
                </c:pt>
                <c:pt idx="86">
                  <c:v>13.75</c:v>
                </c:pt>
                <c:pt idx="87">
                  <c:v>13.75</c:v>
                </c:pt>
                <c:pt idx="88">
                  <c:v>13.75</c:v>
                </c:pt>
                <c:pt idx="89">
                  <c:v>13.75</c:v>
                </c:pt>
                <c:pt idx="90">
                  <c:v>13.75</c:v>
                </c:pt>
                <c:pt idx="91">
                  <c:v>13.25</c:v>
                </c:pt>
                <c:pt idx="92">
                  <c:v>12.75</c:v>
                </c:pt>
                <c:pt idx="93">
                  <c:v>12.75</c:v>
                </c:pt>
                <c:pt idx="94">
                  <c:v>12.25</c:v>
                </c:pt>
                <c:pt idx="95">
                  <c:v>11.75</c:v>
                </c:pt>
                <c:pt idx="96">
                  <c:v>11.75</c:v>
                </c:pt>
                <c:pt idx="97">
                  <c:v>11.25</c:v>
                </c:pt>
                <c:pt idx="98">
                  <c:v>10.75</c:v>
                </c:pt>
                <c:pt idx="99">
                  <c:v>10.75</c:v>
                </c:pt>
                <c:pt idx="100">
                  <c:v>10.5</c:v>
                </c:pt>
                <c:pt idx="101">
                  <c:v>10.5</c:v>
                </c:pt>
                <c:pt idx="102">
                  <c:v>10.5</c:v>
                </c:pt>
                <c:pt idx="103">
                  <c:v>10.5</c:v>
                </c:pt>
                <c:pt idx="104">
                  <c:v>10.75</c:v>
                </c:pt>
                <c:pt idx="105">
                  <c:v>10.75</c:v>
                </c:pt>
                <c:pt idx="106">
                  <c:v>11.25</c:v>
                </c:pt>
                <c:pt idx="107">
                  <c:v>12.25</c:v>
                </c:pt>
                <c:pt idx="108">
                  <c:v>13.25</c:v>
                </c:pt>
                <c:pt idx="109">
                  <c:v>13.25</c:v>
                </c:pt>
                <c:pt idx="110">
                  <c:v>14.25</c:v>
                </c:pt>
                <c:pt idx="111">
                  <c:v>14.25</c:v>
                </c:pt>
                <c:pt idx="112">
                  <c:v>14.75</c:v>
                </c:pt>
                <c:pt idx="113">
                  <c:v>15.0</c:v>
                </c:pt>
                <c:pt idx="114">
                  <c:v>15.0</c:v>
                </c:pt>
                <c:pt idx="115">
                  <c:v>15.0</c:v>
                </c:pt>
                <c:pt idx="116">
                  <c:v>15.0</c:v>
                </c:pt>
                <c:pt idx="117">
                  <c:v>15.0</c:v>
                </c:pt>
                <c:pt idx="118">
                  <c:v>15.0</c:v>
                </c:pt>
                <c:pt idx="119">
                  <c:v>15.0</c:v>
                </c:pt>
                <c:pt idx="120">
                  <c:v>15.0</c:v>
                </c:pt>
                <c:pt idx="121">
                  <c:v>15.0</c:v>
                </c:pt>
                <c:pt idx="122">
                  <c:v>14.75</c:v>
                </c:pt>
                <c:pt idx="123">
                  <c:v>14.5</c:v>
                </c:pt>
                <c:pt idx="124">
                  <c:v>14.5</c:v>
                </c:pt>
                <c:pt idx="125">
                  <c:v>14.25</c:v>
                </c:pt>
                <c:pt idx="126">
                  <c:v>14.25</c:v>
                </c:pt>
                <c:pt idx="127">
                  <c:v>14.0</c:v>
                </c:pt>
                <c:pt idx="128">
                  <c:v>13.75</c:v>
                </c:pt>
                <c:pt idx="129">
                  <c:v>13.75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Selic expectativa</c:v>
                </c:pt>
              </c:strCache>
            </c:strRef>
          </c:tx>
          <c:spPr>
            <a:ln w="25400">
              <a:solidFill>
                <a:srgbClr val="F28C00"/>
              </a:solidFill>
              <a:prstDash val="sysDot"/>
            </a:ln>
          </c:spPr>
          <c:marker>
            <c:symbol val="none"/>
          </c:marker>
          <c:dLbls>
            <c:dLbl>
              <c:idx val="153"/>
              <c:numFmt formatCode="0.0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Sheet1!$A$2:$A$155</c:f>
              <c:strCache>
                <c:ptCount val="154"/>
                <c:pt idx="0">
                  <c:v>jan/16</c:v>
                </c:pt>
                <c:pt idx="1">
                  <c:v>fev/16</c:v>
                </c:pt>
                <c:pt idx="2">
                  <c:v>mar/16</c:v>
                </c:pt>
                <c:pt idx="3">
                  <c:v>abr/16</c:v>
                </c:pt>
                <c:pt idx="4">
                  <c:v>mai/16</c:v>
                </c:pt>
                <c:pt idx="5">
                  <c:v>jun/16</c:v>
                </c:pt>
                <c:pt idx="6">
                  <c:v>jul/16</c:v>
                </c:pt>
                <c:pt idx="7">
                  <c:v>ago/16</c:v>
                </c:pt>
                <c:pt idx="8">
                  <c:v>set/16</c:v>
                </c:pt>
                <c:pt idx="9">
                  <c:v>out/16</c:v>
                </c:pt>
                <c:pt idx="10">
                  <c:v>nov/16</c:v>
                </c:pt>
                <c:pt idx="11">
                  <c:v>dez/16</c:v>
                </c:pt>
                <c:pt idx="12">
                  <c:v>jan/17</c:v>
                </c:pt>
                <c:pt idx="13">
                  <c:v>fev/17</c:v>
                </c:pt>
                <c:pt idx="14">
                  <c:v>mar/17</c:v>
                </c:pt>
                <c:pt idx="15">
                  <c:v>abr/17</c:v>
                </c:pt>
                <c:pt idx="16">
                  <c:v>mai/17</c:v>
                </c:pt>
                <c:pt idx="17">
                  <c:v>jun/17</c:v>
                </c:pt>
                <c:pt idx="18">
                  <c:v>jul/17</c:v>
                </c:pt>
                <c:pt idx="19">
                  <c:v>ago/17</c:v>
                </c:pt>
                <c:pt idx="20">
                  <c:v>set/17</c:v>
                </c:pt>
                <c:pt idx="21">
                  <c:v>out/17</c:v>
                </c:pt>
                <c:pt idx="22">
                  <c:v>nov/17</c:v>
                </c:pt>
                <c:pt idx="23">
                  <c:v>dez/17</c:v>
                </c:pt>
                <c:pt idx="24">
                  <c:v>jan/18</c:v>
                </c:pt>
                <c:pt idx="25">
                  <c:v>fev/18</c:v>
                </c:pt>
                <c:pt idx="26">
                  <c:v>mar/18</c:v>
                </c:pt>
                <c:pt idx="27">
                  <c:v>abr/18</c:v>
                </c:pt>
                <c:pt idx="28">
                  <c:v>mai/18</c:v>
                </c:pt>
                <c:pt idx="29">
                  <c:v>jun/18</c:v>
                </c:pt>
                <c:pt idx="30">
                  <c:v>jul/18</c:v>
                </c:pt>
                <c:pt idx="31">
                  <c:v>ago/18</c:v>
                </c:pt>
                <c:pt idx="32">
                  <c:v>set/18</c:v>
                </c:pt>
                <c:pt idx="33">
                  <c:v>out/18</c:v>
                </c:pt>
                <c:pt idx="34">
                  <c:v>nov/18</c:v>
                </c:pt>
                <c:pt idx="35">
                  <c:v>dez/18</c:v>
                </c:pt>
                <c:pt idx="36">
                  <c:v>jan/19</c:v>
                </c:pt>
                <c:pt idx="37">
                  <c:v>fev/19</c:v>
                </c:pt>
                <c:pt idx="38">
                  <c:v>mar/19</c:v>
                </c:pt>
                <c:pt idx="39">
                  <c:v>abr/19</c:v>
                </c:pt>
                <c:pt idx="40">
                  <c:v>mai/19</c:v>
                </c:pt>
                <c:pt idx="41">
                  <c:v>jun/19</c:v>
                </c:pt>
                <c:pt idx="42">
                  <c:v>jul/19</c:v>
                </c:pt>
                <c:pt idx="43">
                  <c:v>ago/19</c:v>
                </c:pt>
                <c:pt idx="44">
                  <c:v>set/19</c:v>
                </c:pt>
                <c:pt idx="45">
                  <c:v>out/19</c:v>
                </c:pt>
                <c:pt idx="46">
                  <c:v>nov/19</c:v>
                </c:pt>
                <c:pt idx="47">
                  <c:v>dez/19</c:v>
                </c:pt>
                <c:pt idx="48">
                  <c:v>jan/20</c:v>
                </c:pt>
                <c:pt idx="49">
                  <c:v>fev/20</c:v>
                </c:pt>
                <c:pt idx="50">
                  <c:v>mar/20</c:v>
                </c:pt>
                <c:pt idx="51">
                  <c:v>abr/20</c:v>
                </c:pt>
                <c:pt idx="52">
                  <c:v>mai/20</c:v>
                </c:pt>
                <c:pt idx="53">
                  <c:v>jun/20</c:v>
                </c:pt>
                <c:pt idx="54">
                  <c:v>jul/20</c:v>
                </c:pt>
                <c:pt idx="55">
                  <c:v>ago/20</c:v>
                </c:pt>
                <c:pt idx="56">
                  <c:v>set/20</c:v>
                </c:pt>
                <c:pt idx="57">
                  <c:v>out/20</c:v>
                </c:pt>
                <c:pt idx="58">
                  <c:v>nov/20</c:v>
                </c:pt>
                <c:pt idx="59">
                  <c:v>dez/20</c:v>
                </c:pt>
                <c:pt idx="60">
                  <c:v>jan/21</c:v>
                </c:pt>
                <c:pt idx="61">
                  <c:v>fev/21</c:v>
                </c:pt>
                <c:pt idx="62">
                  <c:v>mar/21</c:v>
                </c:pt>
                <c:pt idx="63">
                  <c:v>abr/21</c:v>
                </c:pt>
                <c:pt idx="64">
                  <c:v>mai/21</c:v>
                </c:pt>
                <c:pt idx="65">
                  <c:v>jun/21</c:v>
                </c:pt>
                <c:pt idx="66">
                  <c:v>jul/21</c:v>
                </c:pt>
                <c:pt idx="67">
                  <c:v>ago/21</c:v>
                </c:pt>
                <c:pt idx="68">
                  <c:v>set/21</c:v>
                </c:pt>
                <c:pt idx="69">
                  <c:v>out/21</c:v>
                </c:pt>
                <c:pt idx="70">
                  <c:v>nov/21</c:v>
                </c:pt>
                <c:pt idx="71">
                  <c:v>dez/21</c:v>
                </c:pt>
                <c:pt idx="72">
                  <c:v>jan/22</c:v>
                </c:pt>
                <c:pt idx="73">
                  <c:v>fev/22</c:v>
                </c:pt>
                <c:pt idx="74">
                  <c:v>mar/22</c:v>
                </c:pt>
                <c:pt idx="75">
                  <c:v>abr/22</c:v>
                </c:pt>
                <c:pt idx="76">
                  <c:v>mai/22</c:v>
                </c:pt>
                <c:pt idx="77">
                  <c:v>jun/22</c:v>
                </c:pt>
                <c:pt idx="78">
                  <c:v>jul/22</c:v>
                </c:pt>
                <c:pt idx="79">
                  <c:v>ago/22</c:v>
                </c:pt>
                <c:pt idx="80">
                  <c:v>set/22</c:v>
                </c:pt>
                <c:pt idx="81">
                  <c:v>out/22</c:v>
                </c:pt>
                <c:pt idx="82">
                  <c:v>nov/22</c:v>
                </c:pt>
                <c:pt idx="83">
                  <c:v>dez/22</c:v>
                </c:pt>
                <c:pt idx="84">
                  <c:v>jan/23</c:v>
                </c:pt>
                <c:pt idx="85">
                  <c:v>fev/23</c:v>
                </c:pt>
                <c:pt idx="86">
                  <c:v>mar/23</c:v>
                </c:pt>
                <c:pt idx="87">
                  <c:v>abr/23</c:v>
                </c:pt>
                <c:pt idx="88">
                  <c:v>mai/23</c:v>
                </c:pt>
                <c:pt idx="89">
                  <c:v>jun/23</c:v>
                </c:pt>
                <c:pt idx="90">
                  <c:v>jul/23</c:v>
                </c:pt>
                <c:pt idx="91">
                  <c:v>ago/23</c:v>
                </c:pt>
                <c:pt idx="92">
                  <c:v>set/23</c:v>
                </c:pt>
                <c:pt idx="93">
                  <c:v>out/23</c:v>
                </c:pt>
                <c:pt idx="94">
                  <c:v>nov/23</c:v>
                </c:pt>
                <c:pt idx="95">
                  <c:v>dez/23</c:v>
                </c:pt>
                <c:pt idx="96">
                  <c:v>jan/24</c:v>
                </c:pt>
                <c:pt idx="97">
                  <c:v>fev/24</c:v>
                </c:pt>
                <c:pt idx="98">
                  <c:v>mar/24</c:v>
                </c:pt>
                <c:pt idx="99">
                  <c:v>abr/24</c:v>
                </c:pt>
                <c:pt idx="100">
                  <c:v>mai/24</c:v>
                </c:pt>
                <c:pt idx="101">
                  <c:v>jun/24</c:v>
                </c:pt>
                <c:pt idx="102">
                  <c:v>jul/24</c:v>
                </c:pt>
                <c:pt idx="103">
                  <c:v>ago/24</c:v>
                </c:pt>
                <c:pt idx="104">
                  <c:v>set/24</c:v>
                </c:pt>
                <c:pt idx="105">
                  <c:v>out/24</c:v>
                </c:pt>
                <c:pt idx="106">
                  <c:v>nov/24</c:v>
                </c:pt>
                <c:pt idx="107">
                  <c:v>dez/24</c:v>
                </c:pt>
                <c:pt idx="108">
                  <c:v>jan/25</c:v>
                </c:pt>
                <c:pt idx="109">
                  <c:v>fev/25</c:v>
                </c:pt>
                <c:pt idx="110">
                  <c:v>mar/25</c:v>
                </c:pt>
                <c:pt idx="111">
                  <c:v>abr/25</c:v>
                </c:pt>
                <c:pt idx="112">
                  <c:v>mai/25</c:v>
                </c:pt>
                <c:pt idx="113">
                  <c:v>jun/25</c:v>
                </c:pt>
                <c:pt idx="114">
                  <c:v>jul/25</c:v>
                </c:pt>
                <c:pt idx="115">
                  <c:v>ago/25</c:v>
                </c:pt>
                <c:pt idx="116">
                  <c:v>set/25</c:v>
                </c:pt>
                <c:pt idx="117">
                  <c:v>out/25</c:v>
                </c:pt>
                <c:pt idx="118">
                  <c:v>nov/25</c:v>
                </c:pt>
                <c:pt idx="119">
                  <c:v>dez/25</c:v>
                </c:pt>
                <c:pt idx="120">
                  <c:v>jan/26</c:v>
                </c:pt>
                <c:pt idx="121">
                  <c:v>fev/26</c:v>
                </c:pt>
                <c:pt idx="122">
                  <c:v>mar/26</c:v>
                </c:pt>
                <c:pt idx="123">
                  <c:v>abr/26</c:v>
                </c:pt>
                <c:pt idx="124">
                  <c:v>mai/26</c:v>
                </c:pt>
                <c:pt idx="125">
                  <c:v>jun/26</c:v>
                </c:pt>
                <c:pt idx="126">
                  <c:v>jul/26</c:v>
                </c:pt>
                <c:pt idx="127">
                  <c:v>ago/26</c:v>
                </c:pt>
                <c:pt idx="128">
                  <c:v>set/26</c:v>
                </c:pt>
                <c:pt idx="129">
                  <c:v>out/26</c:v>
                </c:pt>
                <c:pt idx="130">
                  <c:v>nov/26</c:v>
                </c:pt>
                <c:pt idx="131">
                  <c:v>dez/26</c:v>
                </c:pt>
                <c:pt idx="132">
                  <c:v>jan/27</c:v>
                </c:pt>
                <c:pt idx="133">
                  <c:v>fev/27</c:v>
                </c:pt>
                <c:pt idx="134">
                  <c:v>mar/27</c:v>
                </c:pt>
                <c:pt idx="135">
                  <c:v>abr/27</c:v>
                </c:pt>
                <c:pt idx="136">
                  <c:v>mai/27</c:v>
                </c:pt>
                <c:pt idx="137">
                  <c:v>jun/27</c:v>
                </c:pt>
                <c:pt idx="138">
                  <c:v>jul/27</c:v>
                </c:pt>
                <c:pt idx="139">
                  <c:v>ago/27</c:v>
                </c:pt>
                <c:pt idx="140">
                  <c:v>set/27</c:v>
                </c:pt>
                <c:pt idx="141">
                  <c:v>out/27</c:v>
                </c:pt>
                <c:pt idx="142">
                  <c:v>nov/27</c:v>
                </c:pt>
                <c:pt idx="143">
                  <c:v>dez/27</c:v>
                </c:pt>
                <c:pt idx="144">
                  <c:v>jan/28</c:v>
                </c:pt>
                <c:pt idx="145">
                  <c:v>fev/28</c:v>
                </c:pt>
                <c:pt idx="146">
                  <c:v>mar/28</c:v>
                </c:pt>
                <c:pt idx="147">
                  <c:v>abr/28</c:v>
                </c:pt>
                <c:pt idx="148">
                  <c:v>mai/28</c:v>
                </c:pt>
                <c:pt idx="149">
                  <c:v>jun/28</c:v>
                </c:pt>
                <c:pt idx="150">
                  <c:v>jul/28</c:v>
                </c:pt>
                <c:pt idx="151">
                  <c:v>ago/28</c:v>
                </c:pt>
                <c:pt idx="152">
                  <c:v>set/28</c:v>
                </c:pt>
                <c:pt idx="153">
                  <c:v>out/28</c:v>
                </c:pt>
              </c:strCache>
            </c:strRef>
          </c:cat>
          <c:val>
            <c:numRef>
              <c:f>Sheet1!$H$2:$H$155</c:f>
              <c:numCache>
                <c:formatCode>0.0</c:formatCode>
                <c:ptCount val="154"/>
                <c:pt idx="129">
                  <c:v>13.75</c:v>
                </c:pt>
                <c:pt idx="130">
                  <c:v>13.5</c:v>
                </c:pt>
                <c:pt idx="131">
                  <c:v>13.25</c:v>
                </c:pt>
                <c:pt idx="132">
                  <c:v>13.0</c:v>
                </c:pt>
                <c:pt idx="133">
                  <c:v>13.0</c:v>
                </c:pt>
                <c:pt idx="134">
                  <c:v>12.75</c:v>
                </c:pt>
                <c:pt idx="135">
                  <c:v>12.75</c:v>
                </c:pt>
                <c:pt idx="136">
                  <c:v>12.5</c:v>
                </c:pt>
                <c:pt idx="137">
                  <c:v>12.25</c:v>
                </c:pt>
                <c:pt idx="138">
                  <c:v>12.25</c:v>
                </c:pt>
                <c:pt idx="139">
                  <c:v>12.0</c:v>
                </c:pt>
                <c:pt idx="140">
                  <c:v>12.0</c:v>
                </c:pt>
                <c:pt idx="141">
                  <c:v>12.0</c:v>
                </c:pt>
                <c:pt idx="142">
                  <c:v>11.75</c:v>
                </c:pt>
                <c:pt idx="143">
                  <c:v>11.75</c:v>
                </c:pt>
                <c:pt idx="144">
                  <c:v>11.5</c:v>
                </c:pt>
                <c:pt idx="145">
                  <c:v>11.5</c:v>
                </c:pt>
                <c:pt idx="146">
                  <c:v>11.25</c:v>
                </c:pt>
                <c:pt idx="147">
                  <c:v>11.25</c:v>
                </c:pt>
                <c:pt idx="148">
                  <c:v>11.0</c:v>
                </c:pt>
                <c:pt idx="149">
                  <c:v>10.75</c:v>
                </c:pt>
                <c:pt idx="150">
                  <c:v>10.75</c:v>
                </c:pt>
                <c:pt idx="151">
                  <c:v>10.5</c:v>
                </c:pt>
                <c:pt idx="152">
                  <c:v>10.25</c:v>
                </c:pt>
                <c:pt idx="153">
                  <c:v>10.25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16.0"/>
          <c:min val="0.0"/>
        </c:scaling>
        <c:delete val="0"/>
        <c:axPos val="l"/>
        <c:numFmt formatCode="0.0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2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Consumo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Lbls>
            <c:dLbl>
              <c:idx val="23"/>
              <c:numFmt formatCode="0.0" sourceLinked="0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9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1T19</c:v>
                </c:pt>
                <c:pt idx="1">
                  <c:v>2T19</c:v>
                </c:pt>
                <c:pt idx="2">
                  <c:v>3T19</c:v>
                </c:pt>
                <c:pt idx="3">
                  <c:v>4T19</c:v>
                </c:pt>
                <c:pt idx="4">
                  <c:v>1T20</c:v>
                </c:pt>
                <c:pt idx="5">
                  <c:v>2T20</c:v>
                </c:pt>
                <c:pt idx="6">
                  <c:v>3T20</c:v>
                </c:pt>
                <c:pt idx="7">
                  <c:v>4T20</c:v>
                </c:pt>
                <c:pt idx="8">
                  <c:v>1T21</c:v>
                </c:pt>
                <c:pt idx="9">
                  <c:v>2T21</c:v>
                </c:pt>
                <c:pt idx="10">
                  <c:v>3T21</c:v>
                </c:pt>
                <c:pt idx="11">
                  <c:v>4T21</c:v>
                </c:pt>
                <c:pt idx="12">
                  <c:v>1T22</c:v>
                </c:pt>
                <c:pt idx="13">
                  <c:v>2T22</c:v>
                </c:pt>
                <c:pt idx="14">
                  <c:v>3T22</c:v>
                </c:pt>
                <c:pt idx="15">
                  <c:v>4T22</c:v>
                </c:pt>
                <c:pt idx="16">
                  <c:v>1T23</c:v>
                </c:pt>
                <c:pt idx="17">
                  <c:v>2T23</c:v>
                </c:pt>
                <c:pt idx="18">
                  <c:v>3T23</c:v>
                </c:pt>
                <c:pt idx="19">
                  <c:v>4T23</c:v>
                </c:pt>
                <c:pt idx="20">
                  <c:v>1T24</c:v>
                </c:pt>
                <c:pt idx="21">
                  <c:v>2T24</c:v>
                </c:pt>
                <c:pt idx="22">
                  <c:v>3T24</c:v>
                </c:pt>
                <c:pt idx="23">
                  <c:v>4T24</c:v>
                </c:pt>
                <c:pt idx="24">
                  <c:v>1T25</c:v>
                </c:pt>
                <c:pt idx="25">
                  <c:v>2T25</c:v>
                </c:pt>
                <c:pt idx="26">
                  <c:v>3T25</c:v>
                </c:pt>
                <c:pt idx="27">
                  <c:v>4T25</c:v>
                </c:pt>
                <c:pt idx="28">
                  <c:v>1T26</c:v>
                </c:pt>
                <c:pt idx="29">
                  <c:v>2T26</c:v>
                </c:pt>
              </c:strCache>
            </c:strRef>
          </c:cat>
          <c:val>
            <c:numRef>
              <c:f>Sheet1!$B$2:$B$31</c:f>
              <c:numCache>
                <c:formatCode>0.0</c:formatCode>
                <c:ptCount val="30"/>
                <c:pt idx="0">
                  <c:v>2.0</c:v>
                </c:pt>
                <c:pt idx="1">
                  <c:v>2.1</c:v>
                </c:pt>
                <c:pt idx="2">
                  <c:v>2.3</c:v>
                </c:pt>
                <c:pt idx="3">
                  <c:v>2.6</c:v>
                </c:pt>
                <c:pt idx="4">
                  <c:v>2.1</c:v>
                </c:pt>
                <c:pt idx="5">
                  <c:v>-1.2</c:v>
                </c:pt>
                <c:pt idx="6">
                  <c:v>-3.2</c:v>
                </c:pt>
                <c:pt idx="7">
                  <c:v>-4.6</c:v>
                </c:pt>
                <c:pt idx="8">
                  <c:v>-5.0</c:v>
                </c:pt>
                <c:pt idx="9">
                  <c:v>-0.2</c:v>
                </c:pt>
                <c:pt idx="10">
                  <c:v>2.1</c:v>
                </c:pt>
                <c:pt idx="11">
                  <c:v>3.0</c:v>
                </c:pt>
                <c:pt idx="12">
                  <c:v>3.8</c:v>
                </c:pt>
                <c:pt idx="13">
                  <c:v>2.9</c:v>
                </c:pt>
                <c:pt idx="14">
                  <c:v>3.1</c:v>
                </c:pt>
                <c:pt idx="15">
                  <c:v>4.1</c:v>
                </c:pt>
                <c:pt idx="16">
                  <c:v>4.7</c:v>
                </c:pt>
                <c:pt idx="17">
                  <c:v>4.1</c:v>
                </c:pt>
                <c:pt idx="18">
                  <c:v>3.7</c:v>
                </c:pt>
                <c:pt idx="19">
                  <c:v>3.2</c:v>
                </c:pt>
                <c:pt idx="20">
                  <c:v>3.5</c:v>
                </c:pt>
                <c:pt idx="21">
                  <c:v>4.1</c:v>
                </c:pt>
                <c:pt idx="22">
                  <c:v>4.8</c:v>
                </c:pt>
                <c:pt idx="23">
                  <c:v>5.1</c:v>
                </c:pt>
                <c:pt idx="24">
                  <c:v>4.4</c:v>
                </c:pt>
                <c:pt idx="25">
                  <c:v>3.5</c:v>
                </c:pt>
                <c:pt idx="26">
                  <c:v>2.1</c:v>
                </c:pt>
                <c:pt idx="27">
                  <c:v>1.3</c:v>
                </c:pt>
                <c:pt idx="28">
                  <c:v>1.2</c:v>
                </c:pt>
                <c:pt idx="29">
                  <c:v>0.9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txPr>
          <a:bodyPr rot="-5400000" vert="horz"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-6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 da renda</c:v>
                </c:pt>
              </c:strCache>
            </c:strRef>
          </c:tx>
          <c:spPr>
            <a:ln w="28575">
              <a:solidFill>
                <a:srgbClr val="1A73E8"/>
              </a:solidFill>
            </a:ln>
          </c:spPr>
          <c:marker>
            <c:symbol val="none"/>
          </c:marker>
          <c:dLbls>
            <c:dLbl>
              <c:idx val="256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16.61</c:v>
                </c:pt>
                <c:pt idx="1">
                  <c:v>16.85</c:v>
                </c:pt>
                <c:pt idx="2">
                  <c:v>17.09</c:v>
                </c:pt>
                <c:pt idx="3">
                  <c:v>17.21</c:v>
                </c:pt>
                <c:pt idx="4">
                  <c:v>17.33</c:v>
                </c:pt>
                <c:pt idx="5">
                  <c:v>17.54</c:v>
                </c:pt>
                <c:pt idx="6">
                  <c:v>18.01</c:v>
                </c:pt>
                <c:pt idx="7">
                  <c:v>18.2</c:v>
                </c:pt>
                <c:pt idx="8">
                  <c:v>18.29</c:v>
                </c:pt>
                <c:pt idx="9">
                  <c:v>18.31</c:v>
                </c:pt>
                <c:pt idx="10">
                  <c:v>18.36</c:v>
                </c:pt>
                <c:pt idx="11">
                  <c:v>18.53</c:v>
                </c:pt>
                <c:pt idx="12">
                  <c:v>18.87</c:v>
                </c:pt>
                <c:pt idx="13">
                  <c:v>19.16</c:v>
                </c:pt>
                <c:pt idx="14">
                  <c:v>19.19</c:v>
                </c:pt>
                <c:pt idx="15">
                  <c:v>19.16</c:v>
                </c:pt>
                <c:pt idx="16">
                  <c:v>19.1</c:v>
                </c:pt>
                <c:pt idx="17">
                  <c:v>19.22</c:v>
                </c:pt>
                <c:pt idx="18">
                  <c:v>19.14</c:v>
                </c:pt>
                <c:pt idx="19">
                  <c:v>19.06</c:v>
                </c:pt>
                <c:pt idx="20">
                  <c:v>18.9</c:v>
                </c:pt>
                <c:pt idx="21">
                  <c:v>19.08</c:v>
                </c:pt>
                <c:pt idx="22">
                  <c:v>18.98</c:v>
                </c:pt>
                <c:pt idx="23">
                  <c:v>18.83</c:v>
                </c:pt>
                <c:pt idx="24">
                  <c:v>18.52</c:v>
                </c:pt>
                <c:pt idx="25">
                  <c:v>18.36</c:v>
                </c:pt>
                <c:pt idx="26">
                  <c:v>18.17</c:v>
                </c:pt>
                <c:pt idx="27">
                  <c:v>18.47</c:v>
                </c:pt>
                <c:pt idx="28">
                  <c:v>18.83</c:v>
                </c:pt>
                <c:pt idx="29">
                  <c:v>18.97</c:v>
                </c:pt>
                <c:pt idx="30">
                  <c:v>18.93</c:v>
                </c:pt>
                <c:pt idx="31">
                  <c:v>18.9</c:v>
                </c:pt>
                <c:pt idx="32">
                  <c:v>19.04</c:v>
                </c:pt>
                <c:pt idx="33">
                  <c:v>18.95</c:v>
                </c:pt>
                <c:pt idx="34">
                  <c:v>19.19</c:v>
                </c:pt>
                <c:pt idx="35">
                  <c:v>19.47</c:v>
                </c:pt>
                <c:pt idx="36">
                  <c:v>19.8</c:v>
                </c:pt>
                <c:pt idx="37">
                  <c:v>19.97</c:v>
                </c:pt>
                <c:pt idx="38">
                  <c:v>20.01</c:v>
                </c:pt>
                <c:pt idx="39">
                  <c:v>20.0</c:v>
                </c:pt>
                <c:pt idx="40">
                  <c:v>20.03</c:v>
                </c:pt>
                <c:pt idx="41">
                  <c:v>20.12</c:v>
                </c:pt>
                <c:pt idx="42">
                  <c:v>20.22</c:v>
                </c:pt>
                <c:pt idx="43">
                  <c:v>20.31</c:v>
                </c:pt>
                <c:pt idx="44">
                  <c:v>20.32</c:v>
                </c:pt>
                <c:pt idx="45">
                  <c:v>20.36</c:v>
                </c:pt>
                <c:pt idx="46">
                  <c:v>20.38</c:v>
                </c:pt>
                <c:pt idx="47">
                  <c:v>20.47</c:v>
                </c:pt>
                <c:pt idx="48">
                  <c:v>20.56</c:v>
                </c:pt>
                <c:pt idx="49">
                  <c:v>20.64</c:v>
                </c:pt>
                <c:pt idx="50">
                  <c:v>20.86</c:v>
                </c:pt>
                <c:pt idx="51">
                  <c:v>21.18</c:v>
                </c:pt>
                <c:pt idx="52">
                  <c:v>21.29</c:v>
                </c:pt>
                <c:pt idx="53">
                  <c:v>21.35</c:v>
                </c:pt>
                <c:pt idx="54">
                  <c:v>21.44</c:v>
                </c:pt>
                <c:pt idx="55">
                  <c:v>21.62</c:v>
                </c:pt>
                <c:pt idx="56">
                  <c:v>21.67</c:v>
                </c:pt>
                <c:pt idx="57">
                  <c:v>21.59</c:v>
                </c:pt>
                <c:pt idx="58">
                  <c:v>21.67</c:v>
                </c:pt>
                <c:pt idx="59">
                  <c:v>21.61</c:v>
                </c:pt>
                <c:pt idx="60">
                  <c:v>21.69</c:v>
                </c:pt>
                <c:pt idx="61">
                  <c:v>21.91</c:v>
                </c:pt>
                <c:pt idx="62">
                  <c:v>22.11</c:v>
                </c:pt>
                <c:pt idx="63">
                  <c:v>22.39</c:v>
                </c:pt>
                <c:pt idx="64">
                  <c:v>22.47</c:v>
                </c:pt>
                <c:pt idx="65">
                  <c:v>22.43</c:v>
                </c:pt>
                <c:pt idx="66">
                  <c:v>22.54</c:v>
                </c:pt>
                <c:pt idx="67">
                  <c:v>22.49</c:v>
                </c:pt>
                <c:pt idx="68">
                  <c:v>22.82</c:v>
                </c:pt>
                <c:pt idx="69">
                  <c:v>23.17</c:v>
                </c:pt>
                <c:pt idx="70">
                  <c:v>23.4</c:v>
                </c:pt>
                <c:pt idx="71">
                  <c:v>23.16</c:v>
                </c:pt>
                <c:pt idx="72">
                  <c:v>23.03</c:v>
                </c:pt>
                <c:pt idx="73">
                  <c:v>22.82</c:v>
                </c:pt>
                <c:pt idx="74">
                  <c:v>22.68</c:v>
                </c:pt>
                <c:pt idx="75">
                  <c:v>22.45</c:v>
                </c:pt>
                <c:pt idx="76">
                  <c:v>22.38</c:v>
                </c:pt>
                <c:pt idx="77">
                  <c:v>22.46</c:v>
                </c:pt>
                <c:pt idx="78">
                  <c:v>22.99</c:v>
                </c:pt>
                <c:pt idx="79">
                  <c:v>23.44</c:v>
                </c:pt>
                <c:pt idx="80">
                  <c:v>23.35</c:v>
                </c:pt>
                <c:pt idx="81">
                  <c:v>23.27</c:v>
                </c:pt>
                <c:pt idx="82">
                  <c:v>23.2</c:v>
                </c:pt>
                <c:pt idx="83">
                  <c:v>23.15</c:v>
                </c:pt>
                <c:pt idx="84">
                  <c:v>23.22</c:v>
                </c:pt>
                <c:pt idx="85">
                  <c:v>23.12</c:v>
                </c:pt>
                <c:pt idx="86">
                  <c:v>23.19</c:v>
                </c:pt>
                <c:pt idx="87">
                  <c:v>23.05</c:v>
                </c:pt>
                <c:pt idx="88">
                  <c:v>22.78</c:v>
                </c:pt>
                <c:pt idx="89">
                  <c:v>22.36</c:v>
                </c:pt>
                <c:pt idx="90">
                  <c:v>22.22</c:v>
                </c:pt>
                <c:pt idx="91">
                  <c:v>22.07</c:v>
                </c:pt>
                <c:pt idx="92">
                  <c:v>22.04</c:v>
                </c:pt>
                <c:pt idx="93">
                  <c:v>22.02</c:v>
                </c:pt>
                <c:pt idx="94">
                  <c:v>21.73</c:v>
                </c:pt>
                <c:pt idx="95">
                  <c:v>21.61</c:v>
                </c:pt>
                <c:pt idx="96">
                  <c:v>21.4</c:v>
                </c:pt>
                <c:pt idx="97">
                  <c:v>21.26</c:v>
                </c:pt>
                <c:pt idx="98">
                  <c:v>20.9</c:v>
                </c:pt>
                <c:pt idx="99">
                  <c:v>20.76</c:v>
                </c:pt>
                <c:pt idx="100">
                  <c:v>20.72</c:v>
                </c:pt>
                <c:pt idx="101">
                  <c:v>20.76</c:v>
                </c:pt>
                <c:pt idx="102">
                  <c:v>20.8</c:v>
                </c:pt>
                <c:pt idx="103">
                  <c:v>20.76</c:v>
                </c:pt>
                <c:pt idx="104">
                  <c:v>20.87</c:v>
                </c:pt>
                <c:pt idx="105">
                  <c:v>21.05</c:v>
                </c:pt>
                <c:pt idx="106">
                  <c:v>20.97</c:v>
                </c:pt>
                <c:pt idx="107">
                  <c:v>20.92</c:v>
                </c:pt>
                <c:pt idx="108">
                  <c:v>20.85</c:v>
                </c:pt>
                <c:pt idx="109">
                  <c:v>20.94</c:v>
                </c:pt>
                <c:pt idx="110">
                  <c:v>21.03</c:v>
                </c:pt>
                <c:pt idx="111">
                  <c:v>21.08</c:v>
                </c:pt>
                <c:pt idx="112">
                  <c:v>21.11</c:v>
                </c:pt>
                <c:pt idx="113">
                  <c:v>20.95</c:v>
                </c:pt>
                <c:pt idx="114">
                  <c:v>20.92</c:v>
                </c:pt>
                <c:pt idx="115">
                  <c:v>20.93</c:v>
                </c:pt>
                <c:pt idx="116">
                  <c:v>21.27</c:v>
                </c:pt>
                <c:pt idx="117">
                  <c:v>21.57</c:v>
                </c:pt>
                <c:pt idx="118">
                  <c:v>21.96</c:v>
                </c:pt>
                <c:pt idx="119">
                  <c:v>22.07</c:v>
                </c:pt>
                <c:pt idx="120">
                  <c:v>22.02</c:v>
                </c:pt>
                <c:pt idx="121">
                  <c:v>22.15</c:v>
                </c:pt>
                <c:pt idx="122">
                  <c:v>22.14</c:v>
                </c:pt>
                <c:pt idx="123">
                  <c:v>22.24</c:v>
                </c:pt>
                <c:pt idx="124">
                  <c:v>22.27</c:v>
                </c:pt>
                <c:pt idx="125">
                  <c:v>22.33</c:v>
                </c:pt>
                <c:pt idx="126">
                  <c:v>22.49</c:v>
                </c:pt>
                <c:pt idx="127">
                  <c:v>22.12</c:v>
                </c:pt>
                <c:pt idx="128">
                  <c:v>21.68</c:v>
                </c:pt>
                <c:pt idx="129">
                  <c:v>20.98</c:v>
                </c:pt>
                <c:pt idx="130">
                  <c:v>21.24</c:v>
                </c:pt>
                <c:pt idx="131">
                  <c:v>21.35</c:v>
                </c:pt>
                <c:pt idx="132">
                  <c:v>21.56</c:v>
                </c:pt>
                <c:pt idx="133">
                  <c:v>21.58</c:v>
                </c:pt>
                <c:pt idx="134">
                  <c:v>21.86</c:v>
                </c:pt>
                <c:pt idx="135">
                  <c:v>21.9</c:v>
                </c:pt>
                <c:pt idx="136">
                  <c:v>21.8</c:v>
                </c:pt>
                <c:pt idx="137">
                  <c:v>21.75</c:v>
                </c:pt>
                <c:pt idx="138">
                  <c:v>21.66</c:v>
                </c:pt>
                <c:pt idx="139">
                  <c:v>21.62</c:v>
                </c:pt>
                <c:pt idx="140">
                  <c:v>21.46</c:v>
                </c:pt>
                <c:pt idx="141">
                  <c:v>21.13</c:v>
                </c:pt>
                <c:pt idx="142">
                  <c:v>21.06</c:v>
                </c:pt>
                <c:pt idx="143">
                  <c:v>20.83</c:v>
                </c:pt>
                <c:pt idx="144">
                  <c:v>20.81</c:v>
                </c:pt>
                <c:pt idx="145">
                  <c:v>20.46</c:v>
                </c:pt>
                <c:pt idx="146">
                  <c:v>20.13</c:v>
                </c:pt>
                <c:pt idx="147">
                  <c:v>20.08</c:v>
                </c:pt>
                <c:pt idx="148">
                  <c:v>20.41</c:v>
                </c:pt>
                <c:pt idx="149">
                  <c:v>20.69</c:v>
                </c:pt>
                <c:pt idx="150">
                  <c:v>20.59</c:v>
                </c:pt>
                <c:pt idx="151">
                  <c:v>20.42</c:v>
                </c:pt>
                <c:pt idx="152">
                  <c:v>20.23</c:v>
                </c:pt>
                <c:pt idx="153">
                  <c:v>19.99</c:v>
                </c:pt>
                <c:pt idx="154">
                  <c:v>19.86</c:v>
                </c:pt>
                <c:pt idx="155">
                  <c:v>19.77</c:v>
                </c:pt>
                <c:pt idx="156">
                  <c:v>19.87</c:v>
                </c:pt>
                <c:pt idx="157">
                  <c:v>20.11</c:v>
                </c:pt>
                <c:pt idx="158">
                  <c:v>20.37</c:v>
                </c:pt>
                <c:pt idx="159">
                  <c:v>20.71</c:v>
                </c:pt>
                <c:pt idx="160">
                  <c:v>20.5</c:v>
                </c:pt>
                <c:pt idx="161">
                  <c:v>20.21</c:v>
                </c:pt>
                <c:pt idx="162">
                  <c:v>20.03</c:v>
                </c:pt>
                <c:pt idx="163">
                  <c:v>20.05</c:v>
                </c:pt>
                <c:pt idx="164">
                  <c:v>20.21</c:v>
                </c:pt>
                <c:pt idx="165">
                  <c:v>20.52</c:v>
                </c:pt>
                <c:pt idx="166">
                  <c:v>20.67</c:v>
                </c:pt>
                <c:pt idx="167">
                  <c:v>20.85</c:v>
                </c:pt>
                <c:pt idx="168">
                  <c:v>20.89</c:v>
                </c:pt>
                <c:pt idx="169">
                  <c:v>21.34</c:v>
                </c:pt>
                <c:pt idx="170">
                  <c:v>21.74</c:v>
                </c:pt>
                <c:pt idx="171">
                  <c:v>22.97</c:v>
                </c:pt>
                <c:pt idx="172">
                  <c:v>22.78</c:v>
                </c:pt>
                <c:pt idx="173">
                  <c:v>22.8</c:v>
                </c:pt>
                <c:pt idx="174">
                  <c:v>21.79</c:v>
                </c:pt>
                <c:pt idx="175">
                  <c:v>21.46</c:v>
                </c:pt>
                <c:pt idx="176">
                  <c:v>20.99</c:v>
                </c:pt>
                <c:pt idx="177">
                  <c:v>20.74</c:v>
                </c:pt>
                <c:pt idx="178">
                  <c:v>20.63</c:v>
                </c:pt>
                <c:pt idx="179">
                  <c:v>20.76</c:v>
                </c:pt>
                <c:pt idx="180">
                  <c:v>21.72</c:v>
                </c:pt>
                <c:pt idx="181">
                  <c:v>21.17</c:v>
                </c:pt>
                <c:pt idx="182">
                  <c:v>19.91</c:v>
                </c:pt>
                <c:pt idx="183">
                  <c:v>18.74</c:v>
                </c:pt>
                <c:pt idx="184">
                  <c:v>18.22</c:v>
                </c:pt>
                <c:pt idx="185">
                  <c:v>18.09</c:v>
                </c:pt>
                <c:pt idx="186">
                  <c:v>18.11</c:v>
                </c:pt>
                <c:pt idx="187">
                  <c:v>18.48</c:v>
                </c:pt>
                <c:pt idx="188">
                  <c:v>19.25</c:v>
                </c:pt>
                <c:pt idx="189">
                  <c:v>19.91</c:v>
                </c:pt>
                <c:pt idx="190">
                  <c:v>20.12</c:v>
                </c:pt>
                <c:pt idx="191">
                  <c:v>19.97</c:v>
                </c:pt>
                <c:pt idx="192">
                  <c:v>20.29</c:v>
                </c:pt>
                <c:pt idx="193">
                  <c:v>20.26</c:v>
                </c:pt>
                <c:pt idx="194">
                  <c:v>20.74</c:v>
                </c:pt>
                <c:pt idx="195">
                  <c:v>20.98</c:v>
                </c:pt>
                <c:pt idx="196">
                  <c:v>21.34</c:v>
                </c:pt>
                <c:pt idx="197">
                  <c:v>21.73</c:v>
                </c:pt>
                <c:pt idx="198">
                  <c:v>22.39</c:v>
                </c:pt>
                <c:pt idx="199">
                  <c:v>22.98</c:v>
                </c:pt>
                <c:pt idx="200">
                  <c:v>23.32</c:v>
                </c:pt>
                <c:pt idx="201">
                  <c:v>23.53</c:v>
                </c:pt>
                <c:pt idx="202">
                  <c:v>23.87</c:v>
                </c:pt>
                <c:pt idx="203">
                  <c:v>23.61</c:v>
                </c:pt>
                <c:pt idx="204">
                  <c:v>23.4</c:v>
                </c:pt>
                <c:pt idx="205">
                  <c:v>23.54</c:v>
                </c:pt>
                <c:pt idx="206">
                  <c:v>23.49</c:v>
                </c:pt>
                <c:pt idx="207">
                  <c:v>24.05</c:v>
                </c:pt>
                <c:pt idx="208">
                  <c:v>24.55</c:v>
                </c:pt>
                <c:pt idx="209">
                  <c:v>24.98</c:v>
                </c:pt>
                <c:pt idx="210">
                  <c:v>25.15</c:v>
                </c:pt>
                <c:pt idx="211">
                  <c:v>25.18</c:v>
                </c:pt>
                <c:pt idx="212">
                  <c:v>25.31</c:v>
                </c:pt>
                <c:pt idx="213">
                  <c:v>25.48</c:v>
                </c:pt>
                <c:pt idx="214">
                  <c:v>25.56</c:v>
                </c:pt>
                <c:pt idx="215">
                  <c:v>25.63</c:v>
                </c:pt>
                <c:pt idx="216">
                  <c:v>25.64</c:v>
                </c:pt>
                <c:pt idx="217">
                  <c:v>25.71</c:v>
                </c:pt>
                <c:pt idx="218">
                  <c:v>25.85</c:v>
                </c:pt>
                <c:pt idx="219">
                  <c:v>25.73</c:v>
                </c:pt>
                <c:pt idx="220">
                  <c:v>25.3</c:v>
                </c:pt>
                <c:pt idx="221">
                  <c:v>24.89</c:v>
                </c:pt>
                <c:pt idx="222">
                  <c:v>24.72</c:v>
                </c:pt>
                <c:pt idx="223">
                  <c:v>24.7</c:v>
                </c:pt>
                <c:pt idx="224">
                  <c:v>24.42</c:v>
                </c:pt>
                <c:pt idx="225">
                  <c:v>23.66</c:v>
                </c:pt>
                <c:pt idx="226">
                  <c:v>23.6</c:v>
                </c:pt>
                <c:pt idx="227">
                  <c:v>23.78</c:v>
                </c:pt>
                <c:pt idx="228">
                  <c:v>24.01</c:v>
                </c:pt>
                <c:pt idx="229">
                  <c:v>24.01</c:v>
                </c:pt>
                <c:pt idx="230">
                  <c:v>23.91</c:v>
                </c:pt>
                <c:pt idx="231">
                  <c:v>24.34</c:v>
                </c:pt>
                <c:pt idx="232">
                  <c:v>24.47</c:v>
                </c:pt>
                <c:pt idx="233">
                  <c:v>24.64</c:v>
                </c:pt>
                <c:pt idx="234">
                  <c:v>24.39</c:v>
                </c:pt>
                <c:pt idx="235">
                  <c:v>24.28</c:v>
                </c:pt>
                <c:pt idx="236">
                  <c:v>24.28</c:v>
                </c:pt>
                <c:pt idx="237">
                  <c:v>24.49</c:v>
                </c:pt>
                <c:pt idx="238">
                  <c:v>24.49</c:v>
                </c:pt>
                <c:pt idx="239">
                  <c:v>24.62</c:v>
                </c:pt>
                <c:pt idx="240">
                  <c:v>24.76</c:v>
                </c:pt>
                <c:pt idx="241">
                  <c:v>24.91</c:v>
                </c:pt>
                <c:pt idx="242">
                  <c:v>24.99</c:v>
                </c:pt>
                <c:pt idx="243">
                  <c:v>25.09</c:v>
                </c:pt>
                <c:pt idx="244">
                  <c:v>25.19</c:v>
                </c:pt>
                <c:pt idx="245">
                  <c:v>25.41</c:v>
                </c:pt>
                <c:pt idx="246">
                  <c:v>25.55</c:v>
                </c:pt>
                <c:pt idx="247">
                  <c:v>25.68</c:v>
                </c:pt>
                <c:pt idx="248">
                  <c:v>25.66</c:v>
                </c:pt>
                <c:pt idx="249">
                  <c:v>25.73</c:v>
                </c:pt>
                <c:pt idx="250">
                  <c:v>25.9</c:v>
                </c:pt>
                <c:pt idx="251">
                  <c:v>25.97</c:v>
                </c:pt>
                <c:pt idx="252">
                  <c:v>25.95</c:v>
                </c:pt>
                <c:pt idx="253">
                  <c:v>26.09</c:v>
                </c:pt>
                <c:pt idx="254">
                  <c:v>26.16</c:v>
                </c:pt>
                <c:pt idx="255">
                  <c:v>26.43</c:v>
                </c:pt>
                <c:pt idx="256">
                  <c:v>26.43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28575">
              <a:solidFill>
                <a:srgbClr val="F28C00"/>
              </a:solidFill>
            </a:ln>
          </c:spPr>
          <c:marker>
            <c:symbol val="none"/>
          </c:marker>
          <c:dLbls>
            <c:dLbl>
              <c:idx val="256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14.56</c:v>
                </c:pt>
                <c:pt idx="1">
                  <c:v>14.96</c:v>
                </c:pt>
                <c:pt idx="2">
                  <c:v>15.32</c:v>
                </c:pt>
                <c:pt idx="3">
                  <c:v>15.48</c:v>
                </c:pt>
                <c:pt idx="4">
                  <c:v>15.74</c:v>
                </c:pt>
                <c:pt idx="5">
                  <c:v>16.19</c:v>
                </c:pt>
                <c:pt idx="6">
                  <c:v>16.43</c:v>
                </c:pt>
                <c:pt idx="7">
                  <c:v>16.68</c:v>
                </c:pt>
                <c:pt idx="8">
                  <c:v>16.92</c:v>
                </c:pt>
                <c:pt idx="9">
                  <c:v>16.84</c:v>
                </c:pt>
                <c:pt idx="10">
                  <c:v>17.14</c:v>
                </c:pt>
                <c:pt idx="11">
                  <c:v>17.36</c:v>
                </c:pt>
                <c:pt idx="12">
                  <c:v>17.66</c:v>
                </c:pt>
                <c:pt idx="13">
                  <c:v>17.96</c:v>
                </c:pt>
                <c:pt idx="14">
                  <c:v>18.23</c:v>
                </c:pt>
                <c:pt idx="15">
                  <c:v>18.28</c:v>
                </c:pt>
                <c:pt idx="16">
                  <c:v>18.47</c:v>
                </c:pt>
                <c:pt idx="17">
                  <c:v>18.71</c:v>
                </c:pt>
                <c:pt idx="18">
                  <c:v>18.81</c:v>
                </c:pt>
                <c:pt idx="19">
                  <c:v>18.89</c:v>
                </c:pt>
                <c:pt idx="20">
                  <c:v>19.08</c:v>
                </c:pt>
                <c:pt idx="21">
                  <c:v>18.99</c:v>
                </c:pt>
                <c:pt idx="22">
                  <c:v>19.24</c:v>
                </c:pt>
                <c:pt idx="23">
                  <c:v>19.43</c:v>
                </c:pt>
                <c:pt idx="24">
                  <c:v>19.07</c:v>
                </c:pt>
                <c:pt idx="25">
                  <c:v>19.38</c:v>
                </c:pt>
                <c:pt idx="26">
                  <c:v>19.87</c:v>
                </c:pt>
                <c:pt idx="27">
                  <c:v>20.05</c:v>
                </c:pt>
                <c:pt idx="28">
                  <c:v>20.52</c:v>
                </c:pt>
                <c:pt idx="29">
                  <c:v>20.68</c:v>
                </c:pt>
                <c:pt idx="30">
                  <c:v>20.85</c:v>
                </c:pt>
                <c:pt idx="31">
                  <c:v>21.41</c:v>
                </c:pt>
                <c:pt idx="32">
                  <c:v>21.7</c:v>
                </c:pt>
                <c:pt idx="33">
                  <c:v>21.74</c:v>
                </c:pt>
                <c:pt idx="34">
                  <c:v>22.05</c:v>
                </c:pt>
                <c:pt idx="35">
                  <c:v>22.24</c:v>
                </c:pt>
                <c:pt idx="36">
                  <c:v>22.68</c:v>
                </c:pt>
                <c:pt idx="37">
                  <c:v>23.09</c:v>
                </c:pt>
                <c:pt idx="38">
                  <c:v>23.39</c:v>
                </c:pt>
                <c:pt idx="39">
                  <c:v>23.44</c:v>
                </c:pt>
                <c:pt idx="40">
                  <c:v>23.6</c:v>
                </c:pt>
                <c:pt idx="41">
                  <c:v>23.63</c:v>
                </c:pt>
                <c:pt idx="42">
                  <c:v>23.7</c:v>
                </c:pt>
                <c:pt idx="43">
                  <c:v>24.01</c:v>
                </c:pt>
                <c:pt idx="44">
                  <c:v>23.62</c:v>
                </c:pt>
                <c:pt idx="45">
                  <c:v>23.53</c:v>
                </c:pt>
                <c:pt idx="46">
                  <c:v>23.32</c:v>
                </c:pt>
                <c:pt idx="47">
                  <c:v>23.28</c:v>
                </c:pt>
                <c:pt idx="48">
                  <c:v>23.27</c:v>
                </c:pt>
                <c:pt idx="49">
                  <c:v>23.38</c:v>
                </c:pt>
                <c:pt idx="50">
                  <c:v>23.65</c:v>
                </c:pt>
                <c:pt idx="51">
                  <c:v>23.71</c:v>
                </c:pt>
                <c:pt idx="52">
                  <c:v>23.72</c:v>
                </c:pt>
                <c:pt idx="53">
                  <c:v>23.87</c:v>
                </c:pt>
                <c:pt idx="54">
                  <c:v>24.07</c:v>
                </c:pt>
                <c:pt idx="55">
                  <c:v>24.16</c:v>
                </c:pt>
                <c:pt idx="56">
                  <c:v>24.31</c:v>
                </c:pt>
                <c:pt idx="57">
                  <c:v>24.53</c:v>
                </c:pt>
                <c:pt idx="58">
                  <c:v>24.65</c:v>
                </c:pt>
                <c:pt idx="59">
                  <c:v>24.67</c:v>
                </c:pt>
                <c:pt idx="60">
                  <c:v>24.92</c:v>
                </c:pt>
                <c:pt idx="61">
                  <c:v>25.11</c:v>
                </c:pt>
                <c:pt idx="62">
                  <c:v>25.45</c:v>
                </c:pt>
                <c:pt idx="63">
                  <c:v>25.51</c:v>
                </c:pt>
                <c:pt idx="64">
                  <c:v>25.94</c:v>
                </c:pt>
                <c:pt idx="65">
                  <c:v>26.09</c:v>
                </c:pt>
                <c:pt idx="66">
                  <c:v>26.22</c:v>
                </c:pt>
                <c:pt idx="67">
                  <c:v>26.39</c:v>
                </c:pt>
                <c:pt idx="68">
                  <c:v>26.74</c:v>
                </c:pt>
                <c:pt idx="69">
                  <c:v>27.04</c:v>
                </c:pt>
                <c:pt idx="70">
                  <c:v>27.06</c:v>
                </c:pt>
                <c:pt idx="71">
                  <c:v>27.07</c:v>
                </c:pt>
                <c:pt idx="72">
                  <c:v>27.56</c:v>
                </c:pt>
                <c:pt idx="73">
                  <c:v>27.53</c:v>
                </c:pt>
                <c:pt idx="74">
                  <c:v>27.56</c:v>
                </c:pt>
                <c:pt idx="75">
                  <c:v>27.55</c:v>
                </c:pt>
                <c:pt idx="76">
                  <c:v>27.45</c:v>
                </c:pt>
                <c:pt idx="77">
                  <c:v>27.68</c:v>
                </c:pt>
                <c:pt idx="78">
                  <c:v>27.86</c:v>
                </c:pt>
                <c:pt idx="79">
                  <c:v>27.89</c:v>
                </c:pt>
                <c:pt idx="80">
                  <c:v>27.81</c:v>
                </c:pt>
                <c:pt idx="81">
                  <c:v>27.73</c:v>
                </c:pt>
                <c:pt idx="82">
                  <c:v>27.81</c:v>
                </c:pt>
                <c:pt idx="83">
                  <c:v>27.7</c:v>
                </c:pt>
                <c:pt idx="84">
                  <c:v>27.6</c:v>
                </c:pt>
                <c:pt idx="85">
                  <c:v>27.58</c:v>
                </c:pt>
                <c:pt idx="86">
                  <c:v>27.65</c:v>
                </c:pt>
                <c:pt idx="87">
                  <c:v>27.65</c:v>
                </c:pt>
                <c:pt idx="88">
                  <c:v>27.59</c:v>
                </c:pt>
                <c:pt idx="89">
                  <c:v>27.55</c:v>
                </c:pt>
                <c:pt idx="90">
                  <c:v>27.29</c:v>
                </c:pt>
                <c:pt idx="91">
                  <c:v>27.33</c:v>
                </c:pt>
                <c:pt idx="92">
                  <c:v>27.35</c:v>
                </c:pt>
                <c:pt idx="93">
                  <c:v>27.33</c:v>
                </c:pt>
                <c:pt idx="94">
                  <c:v>27.37</c:v>
                </c:pt>
                <c:pt idx="95">
                  <c:v>27.28</c:v>
                </c:pt>
                <c:pt idx="96">
                  <c:v>26.98</c:v>
                </c:pt>
                <c:pt idx="97">
                  <c:v>26.92</c:v>
                </c:pt>
                <c:pt idx="98">
                  <c:v>26.83</c:v>
                </c:pt>
                <c:pt idx="99">
                  <c:v>26.62</c:v>
                </c:pt>
                <c:pt idx="100">
                  <c:v>26.58</c:v>
                </c:pt>
                <c:pt idx="101">
                  <c:v>26.49</c:v>
                </c:pt>
                <c:pt idx="102">
                  <c:v>26.27</c:v>
                </c:pt>
                <c:pt idx="103">
                  <c:v>26.15</c:v>
                </c:pt>
                <c:pt idx="104">
                  <c:v>26.0</c:v>
                </c:pt>
                <c:pt idx="105">
                  <c:v>25.71</c:v>
                </c:pt>
                <c:pt idx="106">
                  <c:v>25.69</c:v>
                </c:pt>
                <c:pt idx="107">
                  <c:v>25.51</c:v>
                </c:pt>
                <c:pt idx="108">
                  <c:v>25.27</c:v>
                </c:pt>
                <c:pt idx="109">
                  <c:v>25.12</c:v>
                </c:pt>
                <c:pt idx="110">
                  <c:v>25.04</c:v>
                </c:pt>
                <c:pt idx="111">
                  <c:v>25.0</c:v>
                </c:pt>
                <c:pt idx="112">
                  <c:v>24.88</c:v>
                </c:pt>
                <c:pt idx="113">
                  <c:v>24.78</c:v>
                </c:pt>
                <c:pt idx="114">
                  <c:v>24.75</c:v>
                </c:pt>
                <c:pt idx="115">
                  <c:v>24.78</c:v>
                </c:pt>
                <c:pt idx="116">
                  <c:v>24.61</c:v>
                </c:pt>
                <c:pt idx="117">
                  <c:v>24.68</c:v>
                </c:pt>
                <c:pt idx="118">
                  <c:v>24.82</c:v>
                </c:pt>
                <c:pt idx="119">
                  <c:v>24.7</c:v>
                </c:pt>
                <c:pt idx="120">
                  <c:v>24.62</c:v>
                </c:pt>
                <c:pt idx="121">
                  <c:v>24.62</c:v>
                </c:pt>
                <c:pt idx="122">
                  <c:v>24.53</c:v>
                </c:pt>
                <c:pt idx="123">
                  <c:v>24.48</c:v>
                </c:pt>
                <c:pt idx="124">
                  <c:v>24.56</c:v>
                </c:pt>
                <c:pt idx="125">
                  <c:v>24.58</c:v>
                </c:pt>
                <c:pt idx="126">
                  <c:v>24.65</c:v>
                </c:pt>
                <c:pt idx="127">
                  <c:v>24.57</c:v>
                </c:pt>
                <c:pt idx="128">
                  <c:v>24.36</c:v>
                </c:pt>
                <c:pt idx="129">
                  <c:v>23.96</c:v>
                </c:pt>
                <c:pt idx="130">
                  <c:v>23.92</c:v>
                </c:pt>
                <c:pt idx="131">
                  <c:v>23.66</c:v>
                </c:pt>
                <c:pt idx="132">
                  <c:v>23.46</c:v>
                </c:pt>
                <c:pt idx="133">
                  <c:v>23.24</c:v>
                </c:pt>
                <c:pt idx="134">
                  <c:v>23.14</c:v>
                </c:pt>
                <c:pt idx="135">
                  <c:v>23.0</c:v>
                </c:pt>
                <c:pt idx="136">
                  <c:v>22.8</c:v>
                </c:pt>
                <c:pt idx="137">
                  <c:v>22.7</c:v>
                </c:pt>
                <c:pt idx="138">
                  <c:v>22.5</c:v>
                </c:pt>
                <c:pt idx="139">
                  <c:v>22.4</c:v>
                </c:pt>
                <c:pt idx="140">
                  <c:v>22.4</c:v>
                </c:pt>
                <c:pt idx="141">
                  <c:v>22.22</c:v>
                </c:pt>
                <c:pt idx="142">
                  <c:v>22.15</c:v>
                </c:pt>
                <c:pt idx="143">
                  <c:v>22.0</c:v>
                </c:pt>
                <c:pt idx="144">
                  <c:v>21.95</c:v>
                </c:pt>
                <c:pt idx="145">
                  <c:v>21.67</c:v>
                </c:pt>
                <c:pt idx="146">
                  <c:v>21.65</c:v>
                </c:pt>
                <c:pt idx="147">
                  <c:v>21.61</c:v>
                </c:pt>
                <c:pt idx="148">
                  <c:v>21.59</c:v>
                </c:pt>
                <c:pt idx="149">
                  <c:v>21.62</c:v>
                </c:pt>
                <c:pt idx="150">
                  <c:v>21.52</c:v>
                </c:pt>
                <c:pt idx="151">
                  <c:v>21.62</c:v>
                </c:pt>
                <c:pt idx="152">
                  <c:v>21.72</c:v>
                </c:pt>
                <c:pt idx="153">
                  <c:v>21.63</c:v>
                </c:pt>
                <c:pt idx="154">
                  <c:v>21.73</c:v>
                </c:pt>
                <c:pt idx="155">
                  <c:v>21.7</c:v>
                </c:pt>
                <c:pt idx="156">
                  <c:v>21.71</c:v>
                </c:pt>
                <c:pt idx="157">
                  <c:v>21.86</c:v>
                </c:pt>
                <c:pt idx="158">
                  <c:v>22.05</c:v>
                </c:pt>
                <c:pt idx="159">
                  <c:v>22.12</c:v>
                </c:pt>
                <c:pt idx="160">
                  <c:v>22.13</c:v>
                </c:pt>
                <c:pt idx="161">
                  <c:v>22.36</c:v>
                </c:pt>
                <c:pt idx="162">
                  <c:v>22.33</c:v>
                </c:pt>
                <c:pt idx="163">
                  <c:v>22.57</c:v>
                </c:pt>
                <c:pt idx="164">
                  <c:v>23.03</c:v>
                </c:pt>
                <c:pt idx="165">
                  <c:v>23.21</c:v>
                </c:pt>
                <c:pt idx="166">
                  <c:v>23.5</c:v>
                </c:pt>
                <c:pt idx="167">
                  <c:v>23.69</c:v>
                </c:pt>
                <c:pt idx="168">
                  <c:v>23.72</c:v>
                </c:pt>
                <c:pt idx="169">
                  <c:v>23.94</c:v>
                </c:pt>
                <c:pt idx="170">
                  <c:v>24.2</c:v>
                </c:pt>
                <c:pt idx="171">
                  <c:v>24.48</c:v>
                </c:pt>
                <c:pt idx="172">
                  <c:v>24.67</c:v>
                </c:pt>
                <c:pt idx="173">
                  <c:v>25.03</c:v>
                </c:pt>
                <c:pt idx="174">
                  <c:v>25.14</c:v>
                </c:pt>
                <c:pt idx="175">
                  <c:v>25.29</c:v>
                </c:pt>
                <c:pt idx="176">
                  <c:v>25.49</c:v>
                </c:pt>
                <c:pt idx="177">
                  <c:v>25.51</c:v>
                </c:pt>
                <c:pt idx="178">
                  <c:v>25.69</c:v>
                </c:pt>
                <c:pt idx="179">
                  <c:v>25.69</c:v>
                </c:pt>
                <c:pt idx="180">
                  <c:v>25.7</c:v>
                </c:pt>
                <c:pt idx="181">
                  <c:v>25.05</c:v>
                </c:pt>
                <c:pt idx="182">
                  <c:v>24.31</c:v>
                </c:pt>
                <c:pt idx="183">
                  <c:v>23.81</c:v>
                </c:pt>
                <c:pt idx="184">
                  <c:v>23.69</c:v>
                </c:pt>
                <c:pt idx="185">
                  <c:v>23.69</c:v>
                </c:pt>
                <c:pt idx="186">
                  <c:v>23.98</c:v>
                </c:pt>
                <c:pt idx="187">
                  <c:v>24.48</c:v>
                </c:pt>
                <c:pt idx="188">
                  <c:v>25.13</c:v>
                </c:pt>
                <c:pt idx="189">
                  <c:v>25.62</c:v>
                </c:pt>
                <c:pt idx="190">
                  <c:v>25.84</c:v>
                </c:pt>
                <c:pt idx="191">
                  <c:v>25.94</c:v>
                </c:pt>
                <c:pt idx="192">
                  <c:v>26.0</c:v>
                </c:pt>
                <c:pt idx="193">
                  <c:v>26.27</c:v>
                </c:pt>
                <c:pt idx="194">
                  <c:v>26.91</c:v>
                </c:pt>
                <c:pt idx="195">
                  <c:v>27.39</c:v>
                </c:pt>
                <c:pt idx="196">
                  <c:v>27.84</c:v>
                </c:pt>
                <c:pt idx="197">
                  <c:v>28.73</c:v>
                </c:pt>
                <c:pt idx="198">
                  <c:v>29.47</c:v>
                </c:pt>
                <c:pt idx="199">
                  <c:v>30.0</c:v>
                </c:pt>
                <c:pt idx="200">
                  <c:v>30.6</c:v>
                </c:pt>
                <c:pt idx="201">
                  <c:v>31.03</c:v>
                </c:pt>
                <c:pt idx="202">
                  <c:v>31.21</c:v>
                </c:pt>
                <c:pt idx="203">
                  <c:v>31.1</c:v>
                </c:pt>
                <c:pt idx="204">
                  <c:v>31.14</c:v>
                </c:pt>
                <c:pt idx="205">
                  <c:v>31.34</c:v>
                </c:pt>
                <c:pt idx="206">
                  <c:v>31.29</c:v>
                </c:pt>
                <c:pt idx="207">
                  <c:v>31.36</c:v>
                </c:pt>
                <c:pt idx="208">
                  <c:v>31.5</c:v>
                </c:pt>
                <c:pt idx="209">
                  <c:v>31.42</c:v>
                </c:pt>
                <c:pt idx="210">
                  <c:v>31.39</c:v>
                </c:pt>
                <c:pt idx="211">
                  <c:v>31.59</c:v>
                </c:pt>
                <c:pt idx="212">
                  <c:v>31.44</c:v>
                </c:pt>
                <c:pt idx="213">
                  <c:v>31.16</c:v>
                </c:pt>
                <c:pt idx="214">
                  <c:v>31.2</c:v>
                </c:pt>
                <c:pt idx="215">
                  <c:v>30.94</c:v>
                </c:pt>
                <c:pt idx="216">
                  <c:v>30.81</c:v>
                </c:pt>
                <c:pt idx="217">
                  <c:v>30.7</c:v>
                </c:pt>
                <c:pt idx="218">
                  <c:v>30.9</c:v>
                </c:pt>
                <c:pt idx="219">
                  <c:v>30.49</c:v>
                </c:pt>
                <c:pt idx="220">
                  <c:v>30.16</c:v>
                </c:pt>
                <c:pt idx="221">
                  <c:v>30.31</c:v>
                </c:pt>
                <c:pt idx="222">
                  <c:v>30.14</c:v>
                </c:pt>
                <c:pt idx="223">
                  <c:v>30.18</c:v>
                </c:pt>
                <c:pt idx="224">
                  <c:v>30.19</c:v>
                </c:pt>
                <c:pt idx="225">
                  <c:v>29.86</c:v>
                </c:pt>
                <c:pt idx="226">
                  <c:v>30.13</c:v>
                </c:pt>
                <c:pt idx="227">
                  <c:v>30.11</c:v>
                </c:pt>
                <c:pt idx="228">
                  <c:v>29.99</c:v>
                </c:pt>
                <c:pt idx="229">
                  <c:v>29.9</c:v>
                </c:pt>
                <c:pt idx="230">
                  <c:v>29.84</c:v>
                </c:pt>
                <c:pt idx="231">
                  <c:v>29.85</c:v>
                </c:pt>
                <c:pt idx="232">
                  <c:v>30.03</c:v>
                </c:pt>
                <c:pt idx="233">
                  <c:v>30.15</c:v>
                </c:pt>
                <c:pt idx="234">
                  <c:v>30.12</c:v>
                </c:pt>
                <c:pt idx="235">
                  <c:v>30.17</c:v>
                </c:pt>
                <c:pt idx="236">
                  <c:v>30.28</c:v>
                </c:pt>
                <c:pt idx="237">
                  <c:v>30.3</c:v>
                </c:pt>
                <c:pt idx="238">
                  <c:v>30.52</c:v>
                </c:pt>
                <c:pt idx="239">
                  <c:v>30.45</c:v>
                </c:pt>
                <c:pt idx="240">
                  <c:v>30.62</c:v>
                </c:pt>
                <c:pt idx="241">
                  <c:v>30.68</c:v>
                </c:pt>
                <c:pt idx="242">
                  <c:v>30.58</c:v>
                </c:pt>
                <c:pt idx="243">
                  <c:v>30.53</c:v>
                </c:pt>
                <c:pt idx="244">
                  <c:v>30.52</c:v>
                </c:pt>
                <c:pt idx="245">
                  <c:v>30.61</c:v>
                </c:pt>
                <c:pt idx="246">
                  <c:v>30.69</c:v>
                </c:pt>
                <c:pt idx="247">
                  <c:v>30.99</c:v>
                </c:pt>
                <c:pt idx="248">
                  <c:v>31.13</c:v>
                </c:pt>
                <c:pt idx="249">
                  <c:v>31.16</c:v>
                </c:pt>
                <c:pt idx="250">
                  <c:v>31.35</c:v>
                </c:pt>
                <c:pt idx="251">
                  <c:v>31.24</c:v>
                </c:pt>
                <c:pt idx="252">
                  <c:v>31.24</c:v>
                </c:pt>
                <c:pt idx="253">
                  <c:v>31.19</c:v>
                </c:pt>
                <c:pt idx="254">
                  <c:v>31.05</c:v>
                </c:pt>
                <c:pt idx="255">
                  <c:v>30.77</c:v>
                </c:pt>
                <c:pt idx="256">
                  <c:v>30.81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35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Juros PF</c:v>
                </c:pt>
              </c:strCache>
            </c:strRef>
          </c:tx>
          <c:spPr>
            <a:ln w="28575">
              <a:solidFill>
                <a:srgbClr val="1A73E8"/>
              </a:solidFill>
            </a:ln>
          </c:spPr>
          <c:marker>
            <c:symbol val="none"/>
          </c:marker>
          <c:dLbls>
            <c:dLbl>
              <c:idx val="149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Sheet1!$A$2:$A$151</c:f>
              <c:strCache>
                <c:ptCount val="150"/>
                <c:pt idx="0">
                  <c:v>mar/14</c:v>
                </c:pt>
                <c:pt idx="1">
                  <c:v>abr/14</c:v>
                </c:pt>
                <c:pt idx="2">
                  <c:v>mai/14</c:v>
                </c:pt>
                <c:pt idx="3">
                  <c:v>jun/14</c:v>
                </c:pt>
                <c:pt idx="4">
                  <c:v>jul/14</c:v>
                </c:pt>
                <c:pt idx="5">
                  <c:v>ago/14</c:v>
                </c:pt>
                <c:pt idx="6">
                  <c:v>set/14</c:v>
                </c:pt>
                <c:pt idx="7">
                  <c:v>out/14</c:v>
                </c:pt>
                <c:pt idx="8">
                  <c:v>nov/14</c:v>
                </c:pt>
                <c:pt idx="9">
                  <c:v>dez/14</c:v>
                </c:pt>
                <c:pt idx="10">
                  <c:v>jan/15</c:v>
                </c:pt>
                <c:pt idx="11">
                  <c:v>fev/15</c:v>
                </c:pt>
                <c:pt idx="12">
                  <c:v>mar/15</c:v>
                </c:pt>
                <c:pt idx="13">
                  <c:v>abr/15</c:v>
                </c:pt>
                <c:pt idx="14">
                  <c:v>mai/15</c:v>
                </c:pt>
                <c:pt idx="15">
                  <c:v>jun/15</c:v>
                </c:pt>
                <c:pt idx="16">
                  <c:v>jul/15</c:v>
                </c:pt>
                <c:pt idx="17">
                  <c:v>ago/15</c:v>
                </c:pt>
                <c:pt idx="18">
                  <c:v>set/15</c:v>
                </c:pt>
                <c:pt idx="19">
                  <c:v>out/15</c:v>
                </c:pt>
                <c:pt idx="20">
                  <c:v>nov/15</c:v>
                </c:pt>
                <c:pt idx="21">
                  <c:v>dez/15</c:v>
                </c:pt>
                <c:pt idx="22">
                  <c:v>jan/16</c:v>
                </c:pt>
                <c:pt idx="23">
                  <c:v>fev/16</c:v>
                </c:pt>
                <c:pt idx="24">
                  <c:v>mar/16</c:v>
                </c:pt>
                <c:pt idx="25">
                  <c:v>abr/16</c:v>
                </c:pt>
                <c:pt idx="26">
                  <c:v>mai/16</c:v>
                </c:pt>
                <c:pt idx="27">
                  <c:v>jun/16</c:v>
                </c:pt>
                <c:pt idx="28">
                  <c:v>jul/16</c:v>
                </c:pt>
                <c:pt idx="29">
                  <c:v>ago/16</c:v>
                </c:pt>
                <c:pt idx="30">
                  <c:v>set/16</c:v>
                </c:pt>
                <c:pt idx="31">
                  <c:v>out/16</c:v>
                </c:pt>
                <c:pt idx="32">
                  <c:v>nov/16</c:v>
                </c:pt>
                <c:pt idx="33">
                  <c:v>dez/16</c:v>
                </c:pt>
                <c:pt idx="34">
                  <c:v>jan/17</c:v>
                </c:pt>
                <c:pt idx="35">
                  <c:v>fev/17</c:v>
                </c:pt>
                <c:pt idx="36">
                  <c:v>mar/17</c:v>
                </c:pt>
                <c:pt idx="37">
                  <c:v>abr/17</c:v>
                </c:pt>
                <c:pt idx="38">
                  <c:v>mai/17</c:v>
                </c:pt>
                <c:pt idx="39">
                  <c:v>jun/17</c:v>
                </c:pt>
                <c:pt idx="40">
                  <c:v>jul/17</c:v>
                </c:pt>
                <c:pt idx="41">
                  <c:v>ago/17</c:v>
                </c:pt>
                <c:pt idx="42">
                  <c:v>set/17</c:v>
                </c:pt>
                <c:pt idx="43">
                  <c:v>out/17</c:v>
                </c:pt>
                <c:pt idx="44">
                  <c:v>nov/17</c:v>
                </c:pt>
                <c:pt idx="45">
                  <c:v>dez/17</c:v>
                </c:pt>
                <c:pt idx="46">
                  <c:v>jan/18</c:v>
                </c:pt>
                <c:pt idx="47">
                  <c:v>fev/18</c:v>
                </c:pt>
                <c:pt idx="48">
                  <c:v>mar/18</c:v>
                </c:pt>
                <c:pt idx="49">
                  <c:v>abr/18</c:v>
                </c:pt>
                <c:pt idx="50">
                  <c:v>mai/18</c:v>
                </c:pt>
                <c:pt idx="51">
                  <c:v>jun/18</c:v>
                </c:pt>
                <c:pt idx="52">
                  <c:v>jul/18</c:v>
                </c:pt>
                <c:pt idx="53">
                  <c:v>ago/18</c:v>
                </c:pt>
                <c:pt idx="54">
                  <c:v>set/18</c:v>
                </c:pt>
                <c:pt idx="55">
                  <c:v>out/18</c:v>
                </c:pt>
                <c:pt idx="56">
                  <c:v>nov/18</c:v>
                </c:pt>
                <c:pt idx="57">
                  <c:v>dez/18</c:v>
                </c:pt>
                <c:pt idx="58">
                  <c:v>jan/19</c:v>
                </c:pt>
                <c:pt idx="59">
                  <c:v>fev/19</c:v>
                </c:pt>
                <c:pt idx="60">
                  <c:v>mar/19</c:v>
                </c:pt>
                <c:pt idx="61">
                  <c:v>abr/19</c:v>
                </c:pt>
                <c:pt idx="62">
                  <c:v>mai/19</c:v>
                </c:pt>
                <c:pt idx="63">
                  <c:v>jun/19</c:v>
                </c:pt>
                <c:pt idx="64">
                  <c:v>jul/19</c:v>
                </c:pt>
                <c:pt idx="65">
                  <c:v>ago/19</c:v>
                </c:pt>
                <c:pt idx="66">
                  <c:v>set/19</c:v>
                </c:pt>
                <c:pt idx="67">
                  <c:v>out/19</c:v>
                </c:pt>
                <c:pt idx="68">
                  <c:v>nov/19</c:v>
                </c:pt>
                <c:pt idx="69">
                  <c:v>dez/19</c:v>
                </c:pt>
                <c:pt idx="70">
                  <c:v>jan/20</c:v>
                </c:pt>
                <c:pt idx="71">
                  <c:v>fev/20</c:v>
                </c:pt>
                <c:pt idx="72">
                  <c:v>mar/20</c:v>
                </c:pt>
                <c:pt idx="73">
                  <c:v>abr/20</c:v>
                </c:pt>
                <c:pt idx="74">
                  <c:v>mai/20</c:v>
                </c:pt>
                <c:pt idx="75">
                  <c:v>jun/20</c:v>
                </c:pt>
                <c:pt idx="76">
                  <c:v>jul/20</c:v>
                </c:pt>
                <c:pt idx="77">
                  <c:v>ago/20</c:v>
                </c:pt>
                <c:pt idx="78">
                  <c:v>set/20</c:v>
                </c:pt>
                <c:pt idx="79">
                  <c:v>out/20</c:v>
                </c:pt>
                <c:pt idx="80">
                  <c:v>nov/20</c:v>
                </c:pt>
                <c:pt idx="81">
                  <c:v>dez/20</c:v>
                </c:pt>
                <c:pt idx="82">
                  <c:v>jan/21</c:v>
                </c:pt>
                <c:pt idx="83">
                  <c:v>fev/21</c:v>
                </c:pt>
                <c:pt idx="84">
                  <c:v>mar/21</c:v>
                </c:pt>
                <c:pt idx="85">
                  <c:v>abr/21</c:v>
                </c:pt>
                <c:pt idx="86">
                  <c:v>mai/21</c:v>
                </c:pt>
                <c:pt idx="87">
                  <c:v>jun/21</c:v>
                </c:pt>
                <c:pt idx="88">
                  <c:v>jul/21</c:v>
                </c:pt>
                <c:pt idx="89">
                  <c:v>ago/21</c:v>
                </c:pt>
                <c:pt idx="90">
                  <c:v>set/21</c:v>
                </c:pt>
                <c:pt idx="91">
                  <c:v>out/21</c:v>
                </c:pt>
                <c:pt idx="92">
                  <c:v>nov/21</c:v>
                </c:pt>
                <c:pt idx="93">
                  <c:v>dez/21</c:v>
                </c:pt>
                <c:pt idx="94">
                  <c:v>jan/22</c:v>
                </c:pt>
                <c:pt idx="95">
                  <c:v>fev/22</c:v>
                </c:pt>
                <c:pt idx="96">
                  <c:v>mar/22</c:v>
                </c:pt>
                <c:pt idx="97">
                  <c:v>abr/22</c:v>
                </c:pt>
                <c:pt idx="98">
                  <c:v>mai/22</c:v>
                </c:pt>
                <c:pt idx="99">
                  <c:v>jun/22</c:v>
                </c:pt>
                <c:pt idx="100">
                  <c:v>jul/22</c:v>
                </c:pt>
                <c:pt idx="101">
                  <c:v>ago/22</c:v>
                </c:pt>
                <c:pt idx="102">
                  <c:v>set/22</c:v>
                </c:pt>
                <c:pt idx="103">
                  <c:v>out/22</c:v>
                </c:pt>
                <c:pt idx="104">
                  <c:v>nov/22</c:v>
                </c:pt>
                <c:pt idx="105">
                  <c:v>dez/22</c:v>
                </c:pt>
                <c:pt idx="106">
                  <c:v>jan/23</c:v>
                </c:pt>
                <c:pt idx="107">
                  <c:v>fev/23</c:v>
                </c:pt>
                <c:pt idx="108">
                  <c:v>mar/23</c:v>
                </c:pt>
                <c:pt idx="109">
                  <c:v>abr/23</c:v>
                </c:pt>
                <c:pt idx="110">
                  <c:v>mai/23</c:v>
                </c:pt>
                <c:pt idx="111">
                  <c:v>jun/23</c:v>
                </c:pt>
                <c:pt idx="112">
                  <c:v>jul/23</c:v>
                </c:pt>
                <c:pt idx="113">
                  <c:v>ago/23</c:v>
                </c:pt>
                <c:pt idx="114">
                  <c:v>set/23</c:v>
                </c:pt>
                <c:pt idx="115">
                  <c:v>out/23</c:v>
                </c:pt>
                <c:pt idx="116">
                  <c:v>nov/23</c:v>
                </c:pt>
                <c:pt idx="117">
                  <c:v>dez/23</c:v>
                </c:pt>
                <c:pt idx="118">
                  <c:v>jan/24</c:v>
                </c:pt>
                <c:pt idx="119">
                  <c:v>fev/24</c:v>
                </c:pt>
                <c:pt idx="120">
                  <c:v>mar/24</c:v>
                </c:pt>
                <c:pt idx="121">
                  <c:v>abr/24</c:v>
                </c:pt>
                <c:pt idx="122">
                  <c:v>mai/24</c:v>
                </c:pt>
                <c:pt idx="123">
                  <c:v>jun/24</c:v>
                </c:pt>
                <c:pt idx="124">
                  <c:v>jul/24</c:v>
                </c:pt>
                <c:pt idx="125">
                  <c:v>ago/24</c:v>
                </c:pt>
                <c:pt idx="126">
                  <c:v>set/24</c:v>
                </c:pt>
                <c:pt idx="127">
                  <c:v>out/24</c:v>
                </c:pt>
                <c:pt idx="128">
                  <c:v>nov/24</c:v>
                </c:pt>
                <c:pt idx="129">
                  <c:v>dez/24</c:v>
                </c:pt>
                <c:pt idx="130">
                  <c:v>jan/25</c:v>
                </c:pt>
                <c:pt idx="131">
                  <c:v>fev/25</c:v>
                </c:pt>
                <c:pt idx="132">
                  <c:v>mar/25</c:v>
                </c:pt>
                <c:pt idx="133">
                  <c:v>abr/25</c:v>
                </c:pt>
                <c:pt idx="134">
                  <c:v>mai/25</c:v>
                </c:pt>
                <c:pt idx="135">
                  <c:v>jun/25</c:v>
                </c:pt>
                <c:pt idx="136">
                  <c:v>jul/25</c:v>
                </c:pt>
                <c:pt idx="137">
                  <c:v>ago/25</c:v>
                </c:pt>
                <c:pt idx="138">
                  <c:v>set/25</c:v>
                </c:pt>
                <c:pt idx="139">
                  <c:v>out/25</c:v>
                </c:pt>
                <c:pt idx="140">
                  <c:v>nov/25</c:v>
                </c:pt>
                <c:pt idx="141">
                  <c:v>dez/25</c:v>
                </c:pt>
                <c:pt idx="142">
                  <c:v>jan/26</c:v>
                </c:pt>
                <c:pt idx="143">
                  <c:v>fev/26</c:v>
                </c:pt>
                <c:pt idx="144">
                  <c:v>mar/26</c:v>
                </c:pt>
                <c:pt idx="145">
                  <c:v>abr/26</c:v>
                </c:pt>
                <c:pt idx="146">
                  <c:v>mai/26</c:v>
                </c:pt>
                <c:pt idx="147">
                  <c:v>jun/26</c:v>
                </c:pt>
                <c:pt idx="148">
                  <c:v>jul/26</c:v>
                </c:pt>
                <c:pt idx="149">
                  <c:v>ago/26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46.75</c:v>
                </c:pt>
                <c:pt idx="1">
                  <c:v>46.67</c:v>
                </c:pt>
                <c:pt idx="2">
                  <c:v>47.13</c:v>
                </c:pt>
                <c:pt idx="3">
                  <c:v>47.92</c:v>
                </c:pt>
                <c:pt idx="4">
                  <c:v>48.02</c:v>
                </c:pt>
                <c:pt idx="5">
                  <c:v>48.4</c:v>
                </c:pt>
                <c:pt idx="6">
                  <c:v>47.47</c:v>
                </c:pt>
                <c:pt idx="7">
                  <c:v>49.11</c:v>
                </c:pt>
                <c:pt idx="8">
                  <c:v>49.71</c:v>
                </c:pt>
                <c:pt idx="9">
                  <c:v>48.47</c:v>
                </c:pt>
                <c:pt idx="10">
                  <c:v>50.99</c:v>
                </c:pt>
                <c:pt idx="11">
                  <c:v>53.11</c:v>
                </c:pt>
                <c:pt idx="12">
                  <c:v>53.13</c:v>
                </c:pt>
                <c:pt idx="13">
                  <c:v>54.79</c:v>
                </c:pt>
                <c:pt idx="14">
                  <c:v>56.28</c:v>
                </c:pt>
                <c:pt idx="15">
                  <c:v>57.53</c:v>
                </c:pt>
                <c:pt idx="16">
                  <c:v>58.77</c:v>
                </c:pt>
                <c:pt idx="17">
                  <c:v>60.13</c:v>
                </c:pt>
                <c:pt idx="18">
                  <c:v>61.3</c:v>
                </c:pt>
                <c:pt idx="19">
                  <c:v>63.37</c:v>
                </c:pt>
                <c:pt idx="20">
                  <c:v>64.01</c:v>
                </c:pt>
                <c:pt idx="21">
                  <c:v>62.73</c:v>
                </c:pt>
                <c:pt idx="22">
                  <c:v>65.8</c:v>
                </c:pt>
                <c:pt idx="23">
                  <c:v>67.33</c:v>
                </c:pt>
                <c:pt idx="24">
                  <c:v>68.57</c:v>
                </c:pt>
                <c:pt idx="25">
                  <c:v>70.42</c:v>
                </c:pt>
                <c:pt idx="26">
                  <c:v>70.7</c:v>
                </c:pt>
                <c:pt idx="27">
                  <c:v>70.18</c:v>
                </c:pt>
                <c:pt idx="28">
                  <c:v>70.75</c:v>
                </c:pt>
                <c:pt idx="29">
                  <c:v>71.15</c:v>
                </c:pt>
                <c:pt idx="30">
                  <c:v>72.61</c:v>
                </c:pt>
                <c:pt idx="31">
                  <c:v>72.87</c:v>
                </c:pt>
                <c:pt idx="32">
                  <c:v>72.93</c:v>
                </c:pt>
                <c:pt idx="33">
                  <c:v>70.99</c:v>
                </c:pt>
                <c:pt idx="34">
                  <c:v>71.79</c:v>
                </c:pt>
                <c:pt idx="35">
                  <c:v>72.0</c:v>
                </c:pt>
                <c:pt idx="36">
                  <c:v>71.23</c:v>
                </c:pt>
                <c:pt idx="37">
                  <c:v>66.58</c:v>
                </c:pt>
                <c:pt idx="38">
                  <c:v>62.14</c:v>
                </c:pt>
                <c:pt idx="39">
                  <c:v>62.22</c:v>
                </c:pt>
                <c:pt idx="40">
                  <c:v>63.65</c:v>
                </c:pt>
                <c:pt idx="41">
                  <c:v>62.31</c:v>
                </c:pt>
                <c:pt idx="42">
                  <c:v>58.55</c:v>
                </c:pt>
                <c:pt idx="43">
                  <c:v>58.85</c:v>
                </c:pt>
                <c:pt idx="44">
                  <c:v>57.81</c:v>
                </c:pt>
                <c:pt idx="45">
                  <c:v>54.49</c:v>
                </c:pt>
                <c:pt idx="46">
                  <c:v>55.08</c:v>
                </c:pt>
                <c:pt idx="47">
                  <c:v>56.94</c:v>
                </c:pt>
                <c:pt idx="48">
                  <c:v>56.54</c:v>
                </c:pt>
                <c:pt idx="49">
                  <c:v>56.3</c:v>
                </c:pt>
                <c:pt idx="50">
                  <c:v>53.09</c:v>
                </c:pt>
                <c:pt idx="51">
                  <c:v>52.25</c:v>
                </c:pt>
                <c:pt idx="52">
                  <c:v>51.24</c:v>
                </c:pt>
                <c:pt idx="53">
                  <c:v>50.91</c:v>
                </c:pt>
                <c:pt idx="54">
                  <c:v>51.11</c:v>
                </c:pt>
                <c:pt idx="55">
                  <c:v>51.19</c:v>
                </c:pt>
                <c:pt idx="56">
                  <c:v>50.85</c:v>
                </c:pt>
                <c:pt idx="57">
                  <c:v>48.09</c:v>
                </c:pt>
                <c:pt idx="58">
                  <c:v>50.33</c:v>
                </c:pt>
                <c:pt idx="59">
                  <c:v>51.95</c:v>
                </c:pt>
                <c:pt idx="60">
                  <c:v>52.65</c:v>
                </c:pt>
                <c:pt idx="61">
                  <c:v>52.45</c:v>
                </c:pt>
                <c:pt idx="62">
                  <c:v>51.8</c:v>
                </c:pt>
                <c:pt idx="63">
                  <c:v>52.08</c:v>
                </c:pt>
                <c:pt idx="64">
                  <c:v>51.13</c:v>
                </c:pt>
                <c:pt idx="65">
                  <c:v>50.84</c:v>
                </c:pt>
                <c:pt idx="66">
                  <c:v>49.87</c:v>
                </c:pt>
                <c:pt idx="67">
                  <c:v>48.48</c:v>
                </c:pt>
                <c:pt idx="68">
                  <c:v>48.97</c:v>
                </c:pt>
                <c:pt idx="69">
                  <c:v>46.12</c:v>
                </c:pt>
                <c:pt idx="70">
                  <c:v>45.72</c:v>
                </c:pt>
                <c:pt idx="71">
                  <c:v>46.86</c:v>
                </c:pt>
                <c:pt idx="72">
                  <c:v>46.38</c:v>
                </c:pt>
                <c:pt idx="73">
                  <c:v>43.99</c:v>
                </c:pt>
                <c:pt idx="74">
                  <c:v>42.86</c:v>
                </c:pt>
                <c:pt idx="75">
                  <c:v>40.15</c:v>
                </c:pt>
                <c:pt idx="76">
                  <c:v>39.09</c:v>
                </c:pt>
                <c:pt idx="77">
                  <c:v>38.29</c:v>
                </c:pt>
                <c:pt idx="78">
                  <c:v>37.45</c:v>
                </c:pt>
                <c:pt idx="79">
                  <c:v>38.37</c:v>
                </c:pt>
                <c:pt idx="80">
                  <c:v>37.3</c:v>
                </c:pt>
                <c:pt idx="81">
                  <c:v>36.22</c:v>
                </c:pt>
                <c:pt idx="82">
                  <c:v>38.5</c:v>
                </c:pt>
                <c:pt idx="83">
                  <c:v>39.23</c:v>
                </c:pt>
                <c:pt idx="84">
                  <c:v>39.9</c:v>
                </c:pt>
                <c:pt idx="85">
                  <c:v>40.4</c:v>
                </c:pt>
                <c:pt idx="86">
                  <c:v>39.03</c:v>
                </c:pt>
                <c:pt idx="87">
                  <c:v>39.06</c:v>
                </c:pt>
                <c:pt idx="88">
                  <c:v>38.81</c:v>
                </c:pt>
                <c:pt idx="89">
                  <c:v>39.61</c:v>
                </c:pt>
                <c:pt idx="90">
                  <c:v>40.36</c:v>
                </c:pt>
                <c:pt idx="91">
                  <c:v>42.33</c:v>
                </c:pt>
                <c:pt idx="92">
                  <c:v>43.53</c:v>
                </c:pt>
                <c:pt idx="93">
                  <c:v>44.21</c:v>
                </c:pt>
                <c:pt idx="94">
                  <c:v>45.51</c:v>
                </c:pt>
                <c:pt idx="95">
                  <c:v>47.28</c:v>
                </c:pt>
                <c:pt idx="96">
                  <c:v>48.7</c:v>
                </c:pt>
                <c:pt idx="97">
                  <c:v>49.06</c:v>
                </c:pt>
                <c:pt idx="98">
                  <c:v>49.56</c:v>
                </c:pt>
                <c:pt idx="99">
                  <c:v>50.65</c:v>
                </c:pt>
                <c:pt idx="100">
                  <c:v>52.44</c:v>
                </c:pt>
                <c:pt idx="101">
                  <c:v>53.1</c:v>
                </c:pt>
                <c:pt idx="102">
                  <c:v>52.77</c:v>
                </c:pt>
                <c:pt idx="103">
                  <c:v>55.54</c:v>
                </c:pt>
                <c:pt idx="104">
                  <c:v>56.23</c:v>
                </c:pt>
                <c:pt idx="105">
                  <c:v>54.53</c:v>
                </c:pt>
                <c:pt idx="106">
                  <c:v>55.35</c:v>
                </c:pt>
                <c:pt idx="107">
                  <c:v>56.98</c:v>
                </c:pt>
                <c:pt idx="108">
                  <c:v>57.39</c:v>
                </c:pt>
                <c:pt idx="109">
                  <c:v>59.25</c:v>
                </c:pt>
                <c:pt idx="110">
                  <c:v>58.6</c:v>
                </c:pt>
                <c:pt idx="111">
                  <c:v>57.79</c:v>
                </c:pt>
                <c:pt idx="112">
                  <c:v>56.97</c:v>
                </c:pt>
                <c:pt idx="113">
                  <c:v>56.52</c:v>
                </c:pt>
                <c:pt idx="114">
                  <c:v>56.06</c:v>
                </c:pt>
                <c:pt idx="115">
                  <c:v>55.13</c:v>
                </c:pt>
                <c:pt idx="116">
                  <c:v>54.76</c:v>
                </c:pt>
                <c:pt idx="117">
                  <c:v>53.94</c:v>
                </c:pt>
                <c:pt idx="118">
                  <c:v>52.25</c:v>
                </c:pt>
                <c:pt idx="119">
                  <c:v>52.66</c:v>
                </c:pt>
                <c:pt idx="120">
                  <c:v>53.36</c:v>
                </c:pt>
                <c:pt idx="121">
                  <c:v>52.82</c:v>
                </c:pt>
                <c:pt idx="122">
                  <c:v>52.62</c:v>
                </c:pt>
                <c:pt idx="123">
                  <c:v>52.61</c:v>
                </c:pt>
                <c:pt idx="124">
                  <c:v>52.19</c:v>
                </c:pt>
                <c:pt idx="125">
                  <c:v>51.79</c:v>
                </c:pt>
                <c:pt idx="126">
                  <c:v>52.26</c:v>
                </c:pt>
                <c:pt idx="127">
                  <c:v>52.39</c:v>
                </c:pt>
                <c:pt idx="128">
                  <c:v>53.16</c:v>
                </c:pt>
                <c:pt idx="129">
                  <c:v>53.11</c:v>
                </c:pt>
                <c:pt idx="130">
                  <c:v>54.22</c:v>
                </c:pt>
                <c:pt idx="131">
                  <c:v>56.82</c:v>
                </c:pt>
                <c:pt idx="132">
                  <c:v>57.08</c:v>
                </c:pt>
                <c:pt idx="133">
                  <c:v>58.31</c:v>
                </c:pt>
                <c:pt idx="134">
                  <c:v>58.98</c:v>
                </c:pt>
                <c:pt idx="135">
                  <c:v>59.4</c:v>
                </c:pt>
                <c:pt idx="136">
                  <c:v>58.44</c:v>
                </c:pt>
                <c:pt idx="137">
                  <c:v>58.79</c:v>
                </c:pt>
                <c:pt idx="138">
                  <c:v>58.66</c:v>
                </c:pt>
                <c:pt idx="139">
                  <c:v>59.16</c:v>
                </c:pt>
                <c:pt idx="140">
                  <c:v>61.08</c:v>
                </c:pt>
                <c:pt idx="141">
                  <c:v>60.5</c:v>
                </c:pt>
                <c:pt idx="142">
                  <c:v>61.23</c:v>
                </c:pt>
                <c:pt idx="143">
                  <c:v>62.12</c:v>
                </c:pt>
                <c:pt idx="144">
                  <c:v>61.72</c:v>
                </c:pt>
                <c:pt idx="145">
                  <c:v>62.98</c:v>
                </c:pt>
                <c:pt idx="146">
                  <c:v>62.19</c:v>
                </c:pt>
                <c:pt idx="147">
                  <c:v>61.93</c:v>
                </c:pt>
                <c:pt idx="148">
                  <c:v>60.3</c:v>
                </c:pt>
                <c:pt idx="149">
                  <c:v>61.74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80.0"/>
          <c:min val="3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28575">
              <a:solidFill>
                <a:srgbClr val="0D0D0D"/>
              </a:solidFill>
            </a:ln>
          </c:spPr>
          <c:marker>
            <c:symbol val="none"/>
          </c:marker>
          <c:dLbls>
            <c:dLbl>
              <c:idx val="149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Sheet1!$A$2:$A$151</c:f>
              <c:strCache>
                <c:ptCount val="150"/>
                <c:pt idx="0">
                  <c:v>mar/14</c:v>
                </c:pt>
                <c:pt idx="1">
                  <c:v>abr/14</c:v>
                </c:pt>
                <c:pt idx="2">
                  <c:v>mai/14</c:v>
                </c:pt>
                <c:pt idx="3">
                  <c:v>jun/14</c:v>
                </c:pt>
                <c:pt idx="4">
                  <c:v>jul/14</c:v>
                </c:pt>
                <c:pt idx="5">
                  <c:v>ago/14</c:v>
                </c:pt>
                <c:pt idx="6">
                  <c:v>set/14</c:v>
                </c:pt>
                <c:pt idx="7">
                  <c:v>out/14</c:v>
                </c:pt>
                <c:pt idx="8">
                  <c:v>nov/14</c:v>
                </c:pt>
                <c:pt idx="9">
                  <c:v>dez/14</c:v>
                </c:pt>
                <c:pt idx="10">
                  <c:v>jan/15</c:v>
                </c:pt>
                <c:pt idx="11">
                  <c:v>fev/15</c:v>
                </c:pt>
                <c:pt idx="12">
                  <c:v>mar/15</c:v>
                </c:pt>
                <c:pt idx="13">
                  <c:v>abr/15</c:v>
                </c:pt>
                <c:pt idx="14">
                  <c:v>mai/15</c:v>
                </c:pt>
                <c:pt idx="15">
                  <c:v>jun/15</c:v>
                </c:pt>
                <c:pt idx="16">
                  <c:v>jul/15</c:v>
                </c:pt>
                <c:pt idx="17">
                  <c:v>ago/15</c:v>
                </c:pt>
                <c:pt idx="18">
                  <c:v>set/15</c:v>
                </c:pt>
                <c:pt idx="19">
                  <c:v>out/15</c:v>
                </c:pt>
                <c:pt idx="20">
                  <c:v>nov/15</c:v>
                </c:pt>
                <c:pt idx="21">
                  <c:v>dez/15</c:v>
                </c:pt>
                <c:pt idx="22">
                  <c:v>jan/16</c:v>
                </c:pt>
                <c:pt idx="23">
                  <c:v>fev/16</c:v>
                </c:pt>
                <c:pt idx="24">
                  <c:v>mar/16</c:v>
                </c:pt>
                <c:pt idx="25">
                  <c:v>abr/16</c:v>
                </c:pt>
                <c:pt idx="26">
                  <c:v>mai/16</c:v>
                </c:pt>
                <c:pt idx="27">
                  <c:v>jun/16</c:v>
                </c:pt>
                <c:pt idx="28">
                  <c:v>jul/16</c:v>
                </c:pt>
                <c:pt idx="29">
                  <c:v>ago/16</c:v>
                </c:pt>
                <c:pt idx="30">
                  <c:v>set/16</c:v>
                </c:pt>
                <c:pt idx="31">
                  <c:v>out/16</c:v>
                </c:pt>
                <c:pt idx="32">
                  <c:v>nov/16</c:v>
                </c:pt>
                <c:pt idx="33">
                  <c:v>dez/16</c:v>
                </c:pt>
                <c:pt idx="34">
                  <c:v>jan/17</c:v>
                </c:pt>
                <c:pt idx="35">
                  <c:v>fev/17</c:v>
                </c:pt>
                <c:pt idx="36">
                  <c:v>mar/17</c:v>
                </c:pt>
                <c:pt idx="37">
                  <c:v>abr/17</c:v>
                </c:pt>
                <c:pt idx="38">
                  <c:v>mai/17</c:v>
                </c:pt>
                <c:pt idx="39">
                  <c:v>jun/17</c:v>
                </c:pt>
                <c:pt idx="40">
                  <c:v>jul/17</c:v>
                </c:pt>
                <c:pt idx="41">
                  <c:v>ago/17</c:v>
                </c:pt>
                <c:pt idx="42">
                  <c:v>set/17</c:v>
                </c:pt>
                <c:pt idx="43">
                  <c:v>out/17</c:v>
                </c:pt>
                <c:pt idx="44">
                  <c:v>nov/17</c:v>
                </c:pt>
                <c:pt idx="45">
                  <c:v>dez/17</c:v>
                </c:pt>
                <c:pt idx="46">
                  <c:v>jan/18</c:v>
                </c:pt>
                <c:pt idx="47">
                  <c:v>fev/18</c:v>
                </c:pt>
                <c:pt idx="48">
                  <c:v>mar/18</c:v>
                </c:pt>
                <c:pt idx="49">
                  <c:v>abr/18</c:v>
                </c:pt>
                <c:pt idx="50">
                  <c:v>mai/18</c:v>
                </c:pt>
                <c:pt idx="51">
                  <c:v>jun/18</c:v>
                </c:pt>
                <c:pt idx="52">
                  <c:v>jul/18</c:v>
                </c:pt>
                <c:pt idx="53">
                  <c:v>ago/18</c:v>
                </c:pt>
                <c:pt idx="54">
                  <c:v>set/18</c:v>
                </c:pt>
                <c:pt idx="55">
                  <c:v>out/18</c:v>
                </c:pt>
                <c:pt idx="56">
                  <c:v>nov/18</c:v>
                </c:pt>
                <c:pt idx="57">
                  <c:v>dez/18</c:v>
                </c:pt>
                <c:pt idx="58">
                  <c:v>jan/19</c:v>
                </c:pt>
                <c:pt idx="59">
                  <c:v>fev/19</c:v>
                </c:pt>
                <c:pt idx="60">
                  <c:v>mar/19</c:v>
                </c:pt>
                <c:pt idx="61">
                  <c:v>abr/19</c:v>
                </c:pt>
                <c:pt idx="62">
                  <c:v>mai/19</c:v>
                </c:pt>
                <c:pt idx="63">
                  <c:v>jun/19</c:v>
                </c:pt>
                <c:pt idx="64">
                  <c:v>jul/19</c:v>
                </c:pt>
                <c:pt idx="65">
                  <c:v>ago/19</c:v>
                </c:pt>
                <c:pt idx="66">
                  <c:v>set/19</c:v>
                </c:pt>
                <c:pt idx="67">
                  <c:v>out/19</c:v>
                </c:pt>
                <c:pt idx="68">
                  <c:v>nov/19</c:v>
                </c:pt>
                <c:pt idx="69">
                  <c:v>dez/19</c:v>
                </c:pt>
                <c:pt idx="70">
                  <c:v>jan/20</c:v>
                </c:pt>
                <c:pt idx="71">
                  <c:v>fev/20</c:v>
                </c:pt>
                <c:pt idx="72">
                  <c:v>mar/20</c:v>
                </c:pt>
                <c:pt idx="73">
                  <c:v>abr/20</c:v>
                </c:pt>
                <c:pt idx="74">
                  <c:v>mai/20</c:v>
                </c:pt>
                <c:pt idx="75">
                  <c:v>jun/20</c:v>
                </c:pt>
                <c:pt idx="76">
                  <c:v>jul/20</c:v>
                </c:pt>
                <c:pt idx="77">
                  <c:v>ago/20</c:v>
                </c:pt>
                <c:pt idx="78">
                  <c:v>set/20</c:v>
                </c:pt>
                <c:pt idx="79">
                  <c:v>out/20</c:v>
                </c:pt>
                <c:pt idx="80">
                  <c:v>nov/20</c:v>
                </c:pt>
                <c:pt idx="81">
                  <c:v>dez/20</c:v>
                </c:pt>
                <c:pt idx="82">
                  <c:v>jan/21</c:v>
                </c:pt>
                <c:pt idx="83">
                  <c:v>fev/21</c:v>
                </c:pt>
                <c:pt idx="84">
                  <c:v>mar/21</c:v>
                </c:pt>
                <c:pt idx="85">
                  <c:v>abr/21</c:v>
                </c:pt>
                <c:pt idx="86">
                  <c:v>mai/21</c:v>
                </c:pt>
                <c:pt idx="87">
                  <c:v>jun/21</c:v>
                </c:pt>
                <c:pt idx="88">
                  <c:v>jul/21</c:v>
                </c:pt>
                <c:pt idx="89">
                  <c:v>ago/21</c:v>
                </c:pt>
                <c:pt idx="90">
                  <c:v>set/21</c:v>
                </c:pt>
                <c:pt idx="91">
                  <c:v>out/21</c:v>
                </c:pt>
                <c:pt idx="92">
                  <c:v>nov/21</c:v>
                </c:pt>
                <c:pt idx="93">
                  <c:v>dez/21</c:v>
                </c:pt>
                <c:pt idx="94">
                  <c:v>jan/22</c:v>
                </c:pt>
                <c:pt idx="95">
                  <c:v>fev/22</c:v>
                </c:pt>
                <c:pt idx="96">
                  <c:v>mar/22</c:v>
                </c:pt>
                <c:pt idx="97">
                  <c:v>abr/22</c:v>
                </c:pt>
                <c:pt idx="98">
                  <c:v>mai/22</c:v>
                </c:pt>
                <c:pt idx="99">
                  <c:v>jun/22</c:v>
                </c:pt>
                <c:pt idx="100">
                  <c:v>jul/22</c:v>
                </c:pt>
                <c:pt idx="101">
                  <c:v>ago/22</c:v>
                </c:pt>
                <c:pt idx="102">
                  <c:v>set/22</c:v>
                </c:pt>
                <c:pt idx="103">
                  <c:v>out/22</c:v>
                </c:pt>
                <c:pt idx="104">
                  <c:v>nov/22</c:v>
                </c:pt>
                <c:pt idx="105">
                  <c:v>dez/22</c:v>
                </c:pt>
                <c:pt idx="106">
                  <c:v>jan/23</c:v>
                </c:pt>
                <c:pt idx="107">
                  <c:v>fev/23</c:v>
                </c:pt>
                <c:pt idx="108">
                  <c:v>mar/23</c:v>
                </c:pt>
                <c:pt idx="109">
                  <c:v>abr/23</c:v>
                </c:pt>
                <c:pt idx="110">
                  <c:v>mai/23</c:v>
                </c:pt>
                <c:pt idx="111">
                  <c:v>jun/23</c:v>
                </c:pt>
                <c:pt idx="112">
                  <c:v>jul/23</c:v>
                </c:pt>
                <c:pt idx="113">
                  <c:v>ago/23</c:v>
                </c:pt>
                <c:pt idx="114">
                  <c:v>set/23</c:v>
                </c:pt>
                <c:pt idx="115">
                  <c:v>out/23</c:v>
                </c:pt>
                <c:pt idx="116">
                  <c:v>nov/23</c:v>
                </c:pt>
                <c:pt idx="117">
                  <c:v>dez/23</c:v>
                </c:pt>
                <c:pt idx="118">
                  <c:v>jan/24</c:v>
                </c:pt>
                <c:pt idx="119">
                  <c:v>fev/24</c:v>
                </c:pt>
                <c:pt idx="120">
                  <c:v>mar/24</c:v>
                </c:pt>
                <c:pt idx="121">
                  <c:v>abr/24</c:v>
                </c:pt>
                <c:pt idx="122">
                  <c:v>mai/24</c:v>
                </c:pt>
                <c:pt idx="123">
                  <c:v>jun/24</c:v>
                </c:pt>
                <c:pt idx="124">
                  <c:v>jul/24</c:v>
                </c:pt>
                <c:pt idx="125">
                  <c:v>ago/24</c:v>
                </c:pt>
                <c:pt idx="126">
                  <c:v>set/24</c:v>
                </c:pt>
                <c:pt idx="127">
                  <c:v>out/24</c:v>
                </c:pt>
                <c:pt idx="128">
                  <c:v>nov/24</c:v>
                </c:pt>
                <c:pt idx="129">
                  <c:v>dez/24</c:v>
                </c:pt>
                <c:pt idx="130">
                  <c:v>jan/25</c:v>
                </c:pt>
                <c:pt idx="131">
                  <c:v>fev/25</c:v>
                </c:pt>
                <c:pt idx="132">
                  <c:v>mar/25</c:v>
                </c:pt>
                <c:pt idx="133">
                  <c:v>abr/25</c:v>
                </c:pt>
                <c:pt idx="134">
                  <c:v>mai/25</c:v>
                </c:pt>
                <c:pt idx="135">
                  <c:v>jun/25</c:v>
                </c:pt>
                <c:pt idx="136">
                  <c:v>jul/25</c:v>
                </c:pt>
                <c:pt idx="137">
                  <c:v>ago/25</c:v>
                </c:pt>
                <c:pt idx="138">
                  <c:v>set/25</c:v>
                </c:pt>
                <c:pt idx="139">
                  <c:v>out/25</c:v>
                </c:pt>
                <c:pt idx="140">
                  <c:v>nov/25</c:v>
                </c:pt>
                <c:pt idx="141">
                  <c:v>dez/25</c:v>
                </c:pt>
                <c:pt idx="142">
                  <c:v>jan/26</c:v>
                </c:pt>
                <c:pt idx="143">
                  <c:v>fev/26</c:v>
                </c:pt>
                <c:pt idx="144">
                  <c:v>mar/26</c:v>
                </c:pt>
                <c:pt idx="145">
                  <c:v>abr/26</c:v>
                </c:pt>
                <c:pt idx="146">
                  <c:v>mai/26</c:v>
                </c:pt>
                <c:pt idx="147">
                  <c:v>jun/26</c:v>
                </c:pt>
                <c:pt idx="148">
                  <c:v>jul/26</c:v>
                </c:pt>
                <c:pt idx="149">
                  <c:v>ago/26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5.63</c:v>
                </c:pt>
                <c:pt idx="1">
                  <c:v>5.66</c:v>
                </c:pt>
                <c:pt idx="2">
                  <c:v>5.8</c:v>
                </c:pt>
                <c:pt idx="3">
                  <c:v>5.67</c:v>
                </c:pt>
                <c:pt idx="4">
                  <c:v>5.75</c:v>
                </c:pt>
                <c:pt idx="5">
                  <c:v>5.75</c:v>
                </c:pt>
                <c:pt idx="6">
                  <c:v>5.73</c:v>
                </c:pt>
                <c:pt idx="7">
                  <c:v>5.67</c:v>
                </c:pt>
                <c:pt idx="8">
                  <c:v>5.51</c:v>
                </c:pt>
                <c:pt idx="9">
                  <c:v>5.36</c:v>
                </c:pt>
                <c:pt idx="10">
                  <c:v>5.38</c:v>
                </c:pt>
                <c:pt idx="11">
                  <c:v>5.4</c:v>
                </c:pt>
                <c:pt idx="12">
                  <c:v>5.22</c:v>
                </c:pt>
                <c:pt idx="13">
                  <c:v>5.33</c:v>
                </c:pt>
                <c:pt idx="14">
                  <c:v>5.5</c:v>
                </c:pt>
                <c:pt idx="15">
                  <c:v>5.36</c:v>
                </c:pt>
                <c:pt idx="16">
                  <c:v>5.51</c:v>
                </c:pt>
                <c:pt idx="17">
                  <c:v>5.67</c:v>
                </c:pt>
                <c:pt idx="18">
                  <c:v>5.81</c:v>
                </c:pt>
                <c:pt idx="19">
                  <c:v>5.84</c:v>
                </c:pt>
                <c:pt idx="20">
                  <c:v>6.03</c:v>
                </c:pt>
                <c:pt idx="21">
                  <c:v>6.24</c:v>
                </c:pt>
                <c:pt idx="22">
                  <c:v>6.32</c:v>
                </c:pt>
                <c:pt idx="23">
                  <c:v>6.27</c:v>
                </c:pt>
                <c:pt idx="24">
                  <c:v>6.24</c:v>
                </c:pt>
                <c:pt idx="25">
                  <c:v>6.33</c:v>
                </c:pt>
                <c:pt idx="26">
                  <c:v>6.4</c:v>
                </c:pt>
                <c:pt idx="27">
                  <c:v>6.23</c:v>
                </c:pt>
                <c:pt idx="28">
                  <c:v>6.28</c:v>
                </c:pt>
                <c:pt idx="29">
                  <c:v>6.29</c:v>
                </c:pt>
                <c:pt idx="30">
                  <c:v>6.31</c:v>
                </c:pt>
                <c:pt idx="31">
                  <c:v>6.24</c:v>
                </c:pt>
                <c:pt idx="32">
                  <c:v>6.16</c:v>
                </c:pt>
                <c:pt idx="33">
                  <c:v>6.13</c:v>
                </c:pt>
                <c:pt idx="34">
                  <c:v>6.09</c:v>
                </c:pt>
                <c:pt idx="35">
                  <c:v>6.0</c:v>
                </c:pt>
                <c:pt idx="36">
                  <c:v>5.97</c:v>
                </c:pt>
                <c:pt idx="37">
                  <c:v>5.94</c:v>
                </c:pt>
                <c:pt idx="38">
                  <c:v>6.02</c:v>
                </c:pt>
                <c:pt idx="39">
                  <c:v>5.84</c:v>
                </c:pt>
                <c:pt idx="40">
                  <c:v>5.81</c:v>
                </c:pt>
                <c:pt idx="41">
                  <c:v>5.81</c:v>
                </c:pt>
                <c:pt idx="42">
                  <c:v>5.7</c:v>
                </c:pt>
                <c:pt idx="43">
                  <c:v>5.64</c:v>
                </c:pt>
                <c:pt idx="44">
                  <c:v>5.48</c:v>
                </c:pt>
                <c:pt idx="45">
                  <c:v>5.31</c:v>
                </c:pt>
                <c:pt idx="46">
                  <c:v>5.34</c:v>
                </c:pt>
                <c:pt idx="47">
                  <c:v>5.23</c:v>
                </c:pt>
                <c:pt idx="48">
                  <c:v>5.17</c:v>
                </c:pt>
                <c:pt idx="49">
                  <c:v>5.16</c:v>
                </c:pt>
                <c:pt idx="50">
                  <c:v>5.12</c:v>
                </c:pt>
                <c:pt idx="51">
                  <c:v>5.04</c:v>
                </c:pt>
                <c:pt idx="52">
                  <c:v>5.1</c:v>
                </c:pt>
                <c:pt idx="53">
                  <c:v>5.07</c:v>
                </c:pt>
                <c:pt idx="54">
                  <c:v>5.05</c:v>
                </c:pt>
                <c:pt idx="55">
                  <c:v>5.01</c:v>
                </c:pt>
                <c:pt idx="56">
                  <c:v>4.85</c:v>
                </c:pt>
                <c:pt idx="57">
                  <c:v>4.88</c:v>
                </c:pt>
                <c:pt idx="58">
                  <c:v>4.89</c:v>
                </c:pt>
                <c:pt idx="59">
                  <c:v>4.78</c:v>
                </c:pt>
                <c:pt idx="60">
                  <c:v>4.81</c:v>
                </c:pt>
                <c:pt idx="61">
                  <c:v>4.81</c:v>
                </c:pt>
                <c:pt idx="62">
                  <c:v>4.89</c:v>
                </c:pt>
                <c:pt idx="63">
                  <c:v>4.87</c:v>
                </c:pt>
                <c:pt idx="64">
                  <c:v>4.92</c:v>
                </c:pt>
                <c:pt idx="65">
                  <c:v>4.95</c:v>
                </c:pt>
                <c:pt idx="66">
                  <c:v>5.07</c:v>
                </c:pt>
                <c:pt idx="67">
                  <c:v>5.07</c:v>
                </c:pt>
                <c:pt idx="68">
                  <c:v>5.06</c:v>
                </c:pt>
                <c:pt idx="69">
                  <c:v>5.1</c:v>
                </c:pt>
                <c:pt idx="70">
                  <c:v>5.05</c:v>
                </c:pt>
                <c:pt idx="71">
                  <c:v>5.17</c:v>
                </c:pt>
                <c:pt idx="72">
                  <c:v>5.29</c:v>
                </c:pt>
                <c:pt idx="73">
                  <c:v>5.6</c:v>
                </c:pt>
                <c:pt idx="74">
                  <c:v>5.69</c:v>
                </c:pt>
                <c:pt idx="75">
                  <c:v>5.39</c:v>
                </c:pt>
                <c:pt idx="76">
                  <c:v>5.2</c:v>
                </c:pt>
                <c:pt idx="77">
                  <c:v>4.95</c:v>
                </c:pt>
                <c:pt idx="78">
                  <c:v>4.73</c:v>
                </c:pt>
                <c:pt idx="79">
                  <c:v>4.59</c:v>
                </c:pt>
                <c:pt idx="80">
                  <c:v>4.36</c:v>
                </c:pt>
                <c:pt idx="81">
                  <c:v>4.23</c:v>
                </c:pt>
                <c:pt idx="82">
                  <c:v>4.2</c:v>
                </c:pt>
                <c:pt idx="83">
                  <c:v>4.13</c:v>
                </c:pt>
                <c:pt idx="84">
                  <c:v>4.09</c:v>
                </c:pt>
                <c:pt idx="85">
                  <c:v>4.1</c:v>
                </c:pt>
                <c:pt idx="86">
                  <c:v>4.17</c:v>
                </c:pt>
                <c:pt idx="87">
                  <c:v>4.1</c:v>
                </c:pt>
                <c:pt idx="88">
                  <c:v>4.16</c:v>
                </c:pt>
                <c:pt idx="89">
                  <c:v>4.2</c:v>
                </c:pt>
                <c:pt idx="90">
                  <c:v>4.29</c:v>
                </c:pt>
                <c:pt idx="91">
                  <c:v>4.31</c:v>
                </c:pt>
                <c:pt idx="92">
                  <c:v>4.34</c:v>
                </c:pt>
                <c:pt idx="93">
                  <c:v>4.45</c:v>
                </c:pt>
                <c:pt idx="94">
                  <c:v>4.72</c:v>
                </c:pt>
                <c:pt idx="95">
                  <c:v>4.81</c:v>
                </c:pt>
                <c:pt idx="96">
                  <c:v>4.94</c:v>
                </c:pt>
                <c:pt idx="97">
                  <c:v>5.13</c:v>
                </c:pt>
                <c:pt idx="98">
                  <c:v>5.35</c:v>
                </c:pt>
                <c:pt idx="99">
                  <c:v>5.34</c:v>
                </c:pt>
                <c:pt idx="100">
                  <c:v>5.56</c:v>
                </c:pt>
                <c:pt idx="101">
                  <c:v>5.72</c:v>
                </c:pt>
                <c:pt idx="102">
                  <c:v>5.8</c:v>
                </c:pt>
                <c:pt idx="103">
                  <c:v>5.91</c:v>
                </c:pt>
                <c:pt idx="104">
                  <c:v>5.92</c:v>
                </c:pt>
                <c:pt idx="105">
                  <c:v>6.02</c:v>
                </c:pt>
                <c:pt idx="106">
                  <c:v>6.22</c:v>
                </c:pt>
                <c:pt idx="107">
                  <c:v>6.25</c:v>
                </c:pt>
                <c:pt idx="108">
                  <c:v>6.19</c:v>
                </c:pt>
                <c:pt idx="109">
                  <c:v>6.35</c:v>
                </c:pt>
                <c:pt idx="110">
                  <c:v>6.47</c:v>
                </c:pt>
                <c:pt idx="111">
                  <c:v>6.42</c:v>
                </c:pt>
                <c:pt idx="112">
                  <c:v>6.31</c:v>
                </c:pt>
                <c:pt idx="113">
                  <c:v>6.2</c:v>
                </c:pt>
                <c:pt idx="114">
                  <c:v>6.07</c:v>
                </c:pt>
                <c:pt idx="115">
                  <c:v>6.05</c:v>
                </c:pt>
                <c:pt idx="116">
                  <c:v>5.91</c:v>
                </c:pt>
                <c:pt idx="117">
                  <c:v>5.73</c:v>
                </c:pt>
                <c:pt idx="118">
                  <c:v>5.7</c:v>
                </c:pt>
                <c:pt idx="119">
                  <c:v>5.66</c:v>
                </c:pt>
                <c:pt idx="120">
                  <c:v>5.58</c:v>
                </c:pt>
                <c:pt idx="121">
                  <c:v>5.63</c:v>
                </c:pt>
                <c:pt idx="122">
                  <c:v>5.72</c:v>
                </c:pt>
                <c:pt idx="123">
                  <c:v>5.59</c:v>
                </c:pt>
                <c:pt idx="124">
                  <c:v>5.65</c:v>
                </c:pt>
                <c:pt idx="125">
                  <c:v>5.65</c:v>
                </c:pt>
                <c:pt idx="126">
                  <c:v>5.69</c:v>
                </c:pt>
                <c:pt idx="127">
                  <c:v>5.59</c:v>
                </c:pt>
                <c:pt idx="128">
                  <c:v>5.47</c:v>
                </c:pt>
                <c:pt idx="129">
                  <c:v>5.4</c:v>
                </c:pt>
                <c:pt idx="130">
                  <c:v>5.74</c:v>
                </c:pt>
                <c:pt idx="131">
                  <c:v>5.81</c:v>
                </c:pt>
                <c:pt idx="132">
                  <c:v>5.91</c:v>
                </c:pt>
                <c:pt idx="133">
                  <c:v>6.21</c:v>
                </c:pt>
                <c:pt idx="134">
                  <c:v>6.38</c:v>
                </c:pt>
                <c:pt idx="135">
                  <c:v>6.5</c:v>
                </c:pt>
                <c:pt idx="136">
                  <c:v>6.73</c:v>
                </c:pt>
                <c:pt idx="137">
                  <c:v>6.97</c:v>
                </c:pt>
                <c:pt idx="138">
                  <c:v>6.89</c:v>
                </c:pt>
                <c:pt idx="139">
                  <c:v>6.86</c:v>
                </c:pt>
                <c:pt idx="140">
                  <c:v>6.94</c:v>
                </c:pt>
                <c:pt idx="141">
                  <c:v>7.06</c:v>
                </c:pt>
                <c:pt idx="142">
                  <c:v>7.17</c:v>
                </c:pt>
                <c:pt idx="143">
                  <c:v>7.42</c:v>
                </c:pt>
                <c:pt idx="144">
                  <c:v>7.25</c:v>
                </c:pt>
                <c:pt idx="145">
                  <c:v>7.37</c:v>
                </c:pt>
                <c:pt idx="146">
                  <c:v>7.56</c:v>
                </c:pt>
                <c:pt idx="147">
                  <c:v>7.37</c:v>
                </c:pt>
                <c:pt idx="148">
                  <c:v>7.78</c:v>
                </c:pt>
                <c:pt idx="149">
                  <c:v>8.01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max val="10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Governo (PLOA 2027)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 (com exclusões)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Mercado (mediana)</c:v>
                </c:pt>
              </c:strCache>
            </c:strRef>
          </c:tx>
          <c:spPr>
            <a:solidFill>
              <a:srgbClr val="F28C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 (com exclusões)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D0D0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-7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1A73E8"/>
              </a:solidFill>
            </a:ln>
          </c:spPr>
          <c:marker>
            <c:symbol val="none"/>
          </c:marker>
          <c:dLbls>
            <c:dLbl>
              <c:idx val="20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Sheet1!$B$2:$B$32</c:f>
              <c:numCache>
                <c:formatCode>0.0</c:formatCode>
                <c:ptCount val="31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DLSP</c:v>
                </c:pt>
              </c:strCache>
            </c:strRef>
          </c:tx>
          <c:spPr>
            <a:ln w="25400">
              <a:solidFill>
                <a:srgbClr val="0D0D0D"/>
              </a:solidFill>
            </a:ln>
          </c:spPr>
          <c:marker>
            <c:symbol val="none"/>
          </c:marker>
          <c:dLbls>
            <c:dLbl>
              <c:idx val="20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Sheet1!$C$2:$C$32</c:f>
              <c:numCache>
                <c:formatCode>0.0</c:formatCode>
                <c:ptCount val="31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</c:v>
                </c:pt>
                <c:pt idx="4">
                  <c:v>37.98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65.24</c:v>
                </c:pt>
                <c:pt idx="20">
                  <c:v>69.27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 – Focus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9"/>
            <c:spPr>
              <a:solidFill>
                <a:srgbClr val="F28C00"/>
              </a:solidFill>
              <a:ln>
                <a:solidFill>
                  <a:srgbClr val="F28C00"/>
                </a:solidFill>
              </a:ln>
            </c:spPr>
          </c:marker>
          <c:dLbls>
            <c:dLbl>
              <c:idx val="21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2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Sheet1!$D$2:$D$32</c:f>
              <c:numCache>
                <c:formatCode>0.0</c:formatCode>
                <c:ptCount val="31"/>
                <c:pt idx="21">
                  <c:v>87.2</c:v>
                </c:pt>
                <c:pt idx="22">
                  <c:v>90.1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DBGG – Tesouro</c:v>
                </c:pt>
              </c:strCache>
            </c:strRef>
          </c:tx>
          <c:spPr>
            <a:ln w="25400">
              <a:noFill/>
            </a:ln>
          </c:spPr>
          <c:marker>
            <c:symbol val="diamond"/>
            <c:size val="9"/>
            <c:spPr>
              <a:solidFill>
                <a:srgbClr val="A6A6A6"/>
              </a:solidFill>
              <a:ln>
                <a:solidFill>
                  <a:srgbClr val="A6A6A6"/>
                </a:solidFill>
              </a:ln>
            </c:spPr>
          </c:marker>
          <c:dLbls>
            <c:dLbl>
              <c:idx val="23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0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Sheet1!$A$2:$A$32</c:f>
              <c:strCache>
                <c:ptCount val="31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  <c:pt idx="25">
                  <c:v>2031</c:v>
                </c:pt>
                <c:pt idx="26">
                  <c:v>2032</c:v>
                </c:pt>
                <c:pt idx="27">
                  <c:v>2033</c:v>
                </c:pt>
                <c:pt idx="28">
                  <c:v>2034</c:v>
                </c:pt>
                <c:pt idx="29">
                  <c:v>2035</c:v>
                </c:pt>
                <c:pt idx="30">
                  <c:v>2036</c:v>
                </c:pt>
              </c:strCache>
            </c:strRef>
          </c:cat>
          <c:val>
            <c:numRef>
              <c:f>Sheet1!$E$2:$E$32</c:f>
              <c:numCache>
                <c:formatCode>0.0</c:formatCode>
                <c:ptCount val="31"/>
                <c:pt idx="23">
                  <c:v>88.0</c:v>
                </c:pt>
                <c:pt idx="30">
                  <c:v>83.0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tickLblSkip val="3"/>
        <c:tickMarkSkip val="3"/>
        <c:noMultiLvlLbl val="0"/>
      </c:catAx>
      <c:valAx>
        <c:axId val="2140495176"/>
        <c:scaling>
          <c:max val="100.0"/>
          <c:min val="2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38100">
              <a:solidFill>
                <a:srgbClr val="1A73E8"/>
              </a:solidFill>
            </a:ln>
          </c:spPr>
          <c:marker>
            <c:symbol val="none"/>
          </c:marker>
          <c:dLbls>
            <c:dLbl>
              <c:idx val="34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1A73E8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34.7</c:v>
                </c:pt>
                <c:pt idx="1">
                  <c:v>32.8</c:v>
                </c:pt>
                <c:pt idx="2">
                  <c:v>32.7</c:v>
                </c:pt>
                <c:pt idx="3">
                  <c:v>33.5</c:v>
                </c:pt>
                <c:pt idx="4">
                  <c:v>33.9</c:v>
                </c:pt>
                <c:pt idx="5">
                  <c:v>34.4</c:v>
                </c:pt>
                <c:pt idx="6">
                  <c:v>34.0</c:v>
                </c:pt>
                <c:pt idx="7">
                  <c:v>32.8</c:v>
                </c:pt>
                <c:pt idx="8">
                  <c:v>31.2</c:v>
                </c:pt>
                <c:pt idx="9">
                  <c:v>31.0</c:v>
                </c:pt>
                <c:pt idx="10">
                  <c:v>30.3</c:v>
                </c:pt>
                <c:pt idx="11">
                  <c:v>29.5</c:v>
                </c:pt>
                <c:pt idx="12">
                  <c:v>28.7</c:v>
                </c:pt>
                <c:pt idx="13">
                  <c:v>28.5</c:v>
                </c:pt>
                <c:pt idx="14">
                  <c:v>28.3</c:v>
                </c:pt>
                <c:pt idx="15">
                  <c:v>28.5</c:v>
                </c:pt>
                <c:pt idx="16">
                  <c:v>29.5</c:v>
                </c:pt>
                <c:pt idx="17">
                  <c:v>30.1</c:v>
                </c:pt>
                <c:pt idx="18">
                  <c:v>29.6</c:v>
                </c:pt>
                <c:pt idx="19">
                  <c:v>30.6</c:v>
                </c:pt>
                <c:pt idx="20">
                  <c:v>31.5</c:v>
                </c:pt>
                <c:pt idx="21">
                  <c:v>31.6</c:v>
                </c:pt>
                <c:pt idx="22">
                  <c:v>31.7</c:v>
                </c:pt>
                <c:pt idx="23">
                  <c:v>31.2</c:v>
                </c:pt>
                <c:pt idx="24">
                  <c:v>29.8</c:v>
                </c:pt>
                <c:pt idx="25">
                  <c:v>29.4</c:v>
                </c:pt>
                <c:pt idx="26">
                  <c:v>29.5</c:v>
                </c:pt>
                <c:pt idx="27">
                  <c:v>29.1</c:v>
                </c:pt>
                <c:pt idx="28">
                  <c:v>28.5</c:v>
                </c:pt>
                <c:pt idx="29">
                  <c:v>28.7</c:v>
                </c:pt>
                <c:pt idx="30">
                  <c:v>27.9</c:v>
                </c:pt>
                <c:pt idx="31">
                  <c:v>27.1</c:v>
                </c:pt>
                <c:pt idx="32">
                  <c:v>27.3</c:v>
                </c:pt>
                <c:pt idx="33">
                  <c:v>26.9</c:v>
                </c:pt>
                <c:pt idx="34">
                  <c:v>26.7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25400">
              <a:solidFill>
                <a:srgbClr val="0D0D0D"/>
              </a:solidFill>
            </a:ln>
          </c:spPr>
          <c:marker>
            <c:symbol val="none"/>
          </c:marker>
          <c:dLbls>
            <c:dLbl>
              <c:idx val="34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0D0D0D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39.0</c:v>
                </c:pt>
                <c:pt idx="1">
                  <c:v>39.6</c:v>
                </c:pt>
                <c:pt idx="2">
                  <c:v>41.4</c:v>
                </c:pt>
                <c:pt idx="3">
                  <c:v>43.2</c:v>
                </c:pt>
                <c:pt idx="4">
                  <c:v>45.9</c:v>
                </c:pt>
                <c:pt idx="5">
                  <c:v>47.6</c:v>
                </c:pt>
                <c:pt idx="6">
                  <c:v>48.7</c:v>
                </c:pt>
                <c:pt idx="7">
                  <c:v>48.0</c:v>
                </c:pt>
                <c:pt idx="8">
                  <c:v>51.1</c:v>
                </c:pt>
                <c:pt idx="9">
                  <c:v>52.1</c:v>
                </c:pt>
                <c:pt idx="10">
                  <c:v>53.0</c:v>
                </c:pt>
                <c:pt idx="11">
                  <c:v>54.6</c:v>
                </c:pt>
                <c:pt idx="12">
                  <c:v>55.0</c:v>
                </c:pt>
                <c:pt idx="13">
                  <c:v>55.3</c:v>
                </c:pt>
                <c:pt idx="14">
                  <c:v>56.5</c:v>
                </c:pt>
                <c:pt idx="15">
                  <c:v>58.2</c:v>
                </c:pt>
                <c:pt idx="16">
                  <c:v>60.2</c:v>
                </c:pt>
                <c:pt idx="17">
                  <c:v>61.4</c:v>
                </c:pt>
                <c:pt idx="18">
                  <c:v>61.3</c:v>
                </c:pt>
                <c:pt idx="19">
                  <c:v>62.8</c:v>
                </c:pt>
                <c:pt idx="20">
                  <c:v>63.2</c:v>
                </c:pt>
                <c:pt idx="21">
                  <c:v>63.2</c:v>
                </c:pt>
                <c:pt idx="22">
                  <c:v>63.5</c:v>
                </c:pt>
                <c:pt idx="23">
                  <c:v>63.5</c:v>
                </c:pt>
                <c:pt idx="24">
                  <c:v>63.8</c:v>
                </c:pt>
                <c:pt idx="25">
                  <c:v>65.2</c:v>
                </c:pt>
                <c:pt idx="26">
                  <c:v>66.1</c:v>
                </c:pt>
                <c:pt idx="27">
                  <c:v>66.9</c:v>
                </c:pt>
                <c:pt idx="28">
                  <c:v>66.8</c:v>
                </c:pt>
                <c:pt idx="29">
                  <c:v>64.3</c:v>
                </c:pt>
                <c:pt idx="30">
                  <c:v>64.9</c:v>
                </c:pt>
                <c:pt idx="31">
                  <c:v>65.1</c:v>
                </c:pt>
                <c:pt idx="32">
                  <c:v>64.3</c:v>
                </c:pt>
                <c:pt idx="33">
                  <c:v>63.8</c:v>
                </c:pt>
                <c:pt idx="34">
                  <c:v>63.1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Chile</c:v>
                </c:pt>
              </c:strCache>
            </c:strRef>
          </c:tx>
          <c:spPr>
            <a:ln w="25400">
              <a:solidFill>
                <a:srgbClr val="F28C00"/>
              </a:solidFill>
            </a:ln>
          </c:spPr>
          <c:marker>
            <c:symbol val="none"/>
          </c:marker>
          <c:dLbls>
            <c:dLbl>
              <c:idx val="34"/>
              <c:numFmt formatCode="0.0" sourceLinked="0"/>
              <c:spPr/>
              <c:txPr>
                <a:bodyPr/>
                <a:lstStyle/>
                <a:p>
                  <a:pPr>
                    <a:defRPr sz="11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35.4</c:v>
                </c:pt>
                <c:pt idx="1">
                  <c:v>36.7</c:v>
                </c:pt>
                <c:pt idx="2">
                  <c:v>37.7</c:v>
                </c:pt>
                <c:pt idx="3">
                  <c:v>38.7</c:v>
                </c:pt>
                <c:pt idx="4">
                  <c:v>40.1</c:v>
                </c:pt>
                <c:pt idx="5">
                  <c:v>42.1</c:v>
                </c:pt>
                <c:pt idx="6">
                  <c:v>43.4</c:v>
                </c:pt>
                <c:pt idx="7">
                  <c:v>43.3</c:v>
                </c:pt>
                <c:pt idx="8">
                  <c:v>43.0</c:v>
                </c:pt>
                <c:pt idx="9">
                  <c:v>43.5</c:v>
                </c:pt>
                <c:pt idx="10">
                  <c:v>44.3</c:v>
                </c:pt>
                <c:pt idx="11">
                  <c:v>44.3</c:v>
                </c:pt>
                <c:pt idx="12">
                  <c:v>43.8</c:v>
                </c:pt>
                <c:pt idx="13">
                  <c:v>44.7</c:v>
                </c:pt>
                <c:pt idx="14">
                  <c:v>45.0</c:v>
                </c:pt>
                <c:pt idx="15">
                  <c:v>45.4</c:v>
                </c:pt>
                <c:pt idx="16">
                  <c:v>45.7</c:v>
                </c:pt>
                <c:pt idx="17">
                  <c:v>46.0</c:v>
                </c:pt>
                <c:pt idx="18">
                  <c:v>45.5</c:v>
                </c:pt>
                <c:pt idx="19">
                  <c:v>43.1</c:v>
                </c:pt>
                <c:pt idx="20">
                  <c:v>43.3</c:v>
                </c:pt>
                <c:pt idx="21">
                  <c:v>44.7</c:v>
                </c:pt>
                <c:pt idx="22">
                  <c:v>44.8</c:v>
                </c:pt>
                <c:pt idx="23">
                  <c:v>44.7</c:v>
                </c:pt>
                <c:pt idx="24">
                  <c:v>44.2</c:v>
                </c:pt>
                <c:pt idx="25">
                  <c:v>44.4</c:v>
                </c:pt>
                <c:pt idx="26">
                  <c:v>43.4</c:v>
                </c:pt>
                <c:pt idx="27">
                  <c:v>43.5</c:v>
                </c:pt>
                <c:pt idx="28">
                  <c:v>42.4</c:v>
                </c:pt>
                <c:pt idx="29">
                  <c:v>43.9</c:v>
                </c:pt>
                <c:pt idx="30">
                  <c:v>45.4</c:v>
                </c:pt>
                <c:pt idx="31">
                  <c:v>43.7</c:v>
                </c:pt>
                <c:pt idx="32">
                  <c:v>42.4</c:v>
                </c:pt>
                <c:pt idx="33">
                  <c:v>41.6</c:v>
                </c:pt>
                <c:pt idx="34">
                  <c:v>41.5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China</c:v>
                </c:pt>
              </c:strCache>
            </c:strRef>
          </c:tx>
          <c:spPr>
            <a:ln w="25400">
              <a:solidFill>
                <a:srgbClr val="8FB8F2"/>
              </a:solidFill>
            </a:ln>
          </c:spPr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3.6</c:v>
                </c:pt>
                <c:pt idx="1">
                  <c:v>3.9</c:v>
                </c:pt>
                <c:pt idx="2">
                  <c:v>4.4</c:v>
                </c:pt>
                <c:pt idx="3">
                  <c:v>4.9</c:v>
                </c:pt>
                <c:pt idx="4">
                  <c:v>5.3</c:v>
                </c:pt>
                <c:pt idx="5">
                  <c:v>5.7</c:v>
                </c:pt>
                <c:pt idx="6">
                  <c:v>6.0</c:v>
                </c:pt>
                <c:pt idx="7">
                  <c:v>6.3</c:v>
                </c:pt>
                <c:pt idx="8">
                  <c:v>6.5</c:v>
                </c:pt>
                <c:pt idx="9">
                  <c:v>6.8</c:v>
                </c:pt>
                <c:pt idx="10">
                  <c:v>7.3</c:v>
                </c:pt>
                <c:pt idx="11">
                  <c:v>7.7</c:v>
                </c:pt>
                <c:pt idx="12">
                  <c:v>8.2</c:v>
                </c:pt>
                <c:pt idx="13">
                  <c:v>8.7</c:v>
                </c:pt>
                <c:pt idx="14">
                  <c:v>9.4</c:v>
                </c:pt>
                <c:pt idx="15">
                  <c:v>10.4</c:v>
                </c:pt>
                <c:pt idx="16">
                  <c:v>11.6</c:v>
                </c:pt>
                <c:pt idx="17">
                  <c:v>12.7</c:v>
                </c:pt>
                <c:pt idx="18">
                  <c:v>13.7</c:v>
                </c:pt>
                <c:pt idx="19">
                  <c:v>14.7</c:v>
                </c:pt>
                <c:pt idx="20">
                  <c:v>15.9</c:v>
                </c:pt>
                <c:pt idx="21">
                  <c:v>17.0</c:v>
                </c:pt>
                <c:pt idx="22">
                  <c:v>18.1</c:v>
                </c:pt>
                <c:pt idx="23">
                  <c:v>19.3</c:v>
                </c:pt>
                <c:pt idx="24">
                  <c:v>20.4</c:v>
                </c:pt>
                <c:pt idx="25">
                  <c:v>21.7</c:v>
                </c:pt>
                <c:pt idx="26">
                  <c:v>23.0</c:v>
                </c:pt>
                <c:pt idx="27">
                  <c:v>24.2</c:v>
                </c:pt>
                <c:pt idx="28">
                  <c:v>25.5</c:v>
                </c:pt>
                <c:pt idx="29">
                  <c:v>25.7</c:v>
                </c:pt>
                <c:pt idx="30">
                  <c:v>26.3</c:v>
                </c:pt>
                <c:pt idx="31">
                  <c:v>27.9</c:v>
                </c:pt>
                <c:pt idx="32">
                  <c:v>28.7</c:v>
                </c:pt>
                <c:pt idx="33">
                  <c:v>29.8</c:v>
                </c:pt>
                <c:pt idx="34">
                  <c:v>30.7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México</c:v>
                </c:pt>
              </c:strCache>
            </c:strRef>
          </c:tx>
          <c:spPr>
            <a:ln w="25400">
              <a:solidFill>
                <a:srgbClr val="A6A6A6"/>
              </a:solidFill>
            </a:ln>
          </c:spPr>
          <c:marker>
            <c:symbol val="none"/>
          </c:marker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Sheet1!$F$2:$F$36</c:f>
              <c:numCache>
                <c:formatCode>0.0</c:formatCode>
                <c:ptCount val="35"/>
                <c:pt idx="0">
                  <c:v>54.7</c:v>
                </c:pt>
                <c:pt idx="1">
                  <c:v>53.2</c:v>
                </c:pt>
                <c:pt idx="2">
                  <c:v>52.4</c:v>
                </c:pt>
                <c:pt idx="3">
                  <c:v>53.1</c:v>
                </c:pt>
                <c:pt idx="4">
                  <c:v>49.8</c:v>
                </c:pt>
                <c:pt idx="5">
                  <c:v>49.7</c:v>
                </c:pt>
                <c:pt idx="6">
                  <c:v>49.3</c:v>
                </c:pt>
                <c:pt idx="7">
                  <c:v>49.8</c:v>
                </c:pt>
                <c:pt idx="8">
                  <c:v>48.6</c:v>
                </c:pt>
                <c:pt idx="9">
                  <c:v>48.9</c:v>
                </c:pt>
                <c:pt idx="10">
                  <c:v>47.6</c:v>
                </c:pt>
                <c:pt idx="11">
                  <c:v>46.1</c:v>
                </c:pt>
                <c:pt idx="12">
                  <c:v>44.5</c:v>
                </c:pt>
                <c:pt idx="13">
                  <c:v>43.9</c:v>
                </c:pt>
                <c:pt idx="14">
                  <c:v>42.5</c:v>
                </c:pt>
                <c:pt idx="15">
                  <c:v>42.7</c:v>
                </c:pt>
                <c:pt idx="16">
                  <c:v>42.2</c:v>
                </c:pt>
                <c:pt idx="17">
                  <c:v>41.9</c:v>
                </c:pt>
                <c:pt idx="18">
                  <c:v>38.7</c:v>
                </c:pt>
                <c:pt idx="19">
                  <c:v>38.6</c:v>
                </c:pt>
                <c:pt idx="20">
                  <c:v>38.8</c:v>
                </c:pt>
                <c:pt idx="21">
                  <c:v>38.6</c:v>
                </c:pt>
                <c:pt idx="22">
                  <c:v>38.0</c:v>
                </c:pt>
                <c:pt idx="23">
                  <c:v>38.3</c:v>
                </c:pt>
                <c:pt idx="24">
                  <c:v>38.0</c:v>
                </c:pt>
                <c:pt idx="25">
                  <c:v>37.9</c:v>
                </c:pt>
                <c:pt idx="26">
                  <c:v>37.7</c:v>
                </c:pt>
                <c:pt idx="27">
                  <c:v>37.1</c:v>
                </c:pt>
                <c:pt idx="28">
                  <c:v>35.6</c:v>
                </c:pt>
                <c:pt idx="29">
                  <c:v>33.9</c:v>
                </c:pt>
                <c:pt idx="30">
                  <c:v>32.4</c:v>
                </c:pt>
                <c:pt idx="31">
                  <c:v>32.6</c:v>
                </c:pt>
                <c:pt idx="32">
                  <c:v>32.2</c:v>
                </c:pt>
                <c:pt idx="33">
                  <c:v>31.5</c:v>
                </c:pt>
                <c:pt idx="34">
                  <c:v>30.7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max val="70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4285F4"/>
              </a:solidFill>
              <a:ln>
                <a:solidFill>
                  <a:srgbClr val="4285F4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AC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AL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AP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CE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DF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ES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MA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MT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t>MG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t>PA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t>PB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t>PR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t>PI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t>RJ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3"/>
              <c:tx>
                <c:rich>
                  <a:bodyPr/>
                  <a:lstStyle/>
                  <a:p>
                    <a:r>
                      <a:t>SP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5"/>
              <c:tx>
                <c:rich>
                  <a:bodyPr/>
                  <a:lstStyle/>
                  <a:p>
                    <a:r>
                      <a:t>TO</a:t>
                    </a:r>
                  </a:p>
                </c:rich>
              </c:tx>
              <c:txPr>
                <a:bodyPr/>
                <a:lstStyle/>
                <a:p>
                  <a:pPr>
                    <a:defRPr sz="900">
                      <a:solidFill>
                        <a:srgbClr val="595959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Sheet1!$A$2:$A$27</c:f>
              <c:numCache>
                <c:formatCode>General</c:formatCode>
                <c:ptCount val="26"/>
                <c:pt idx="0">
                  <c:v>18.3</c:v>
                </c:pt>
                <c:pt idx="1">
                  <c:v>13.7</c:v>
                </c:pt>
                <c:pt idx="2">
                  <c:v>19.1</c:v>
                </c:pt>
                <c:pt idx="3">
                  <c:v>28.3</c:v>
                </c:pt>
                <c:pt idx="4">
                  <c:v>23.3</c:v>
                </c:pt>
                <c:pt idx="5">
                  <c:v>33.5</c:v>
                </c:pt>
                <c:pt idx="6">
                  <c:v>156.6</c:v>
                </c:pt>
                <c:pt idx="7">
                  <c:v>34.5</c:v>
                </c:pt>
                <c:pt idx="8">
                  <c:v>28.2</c:v>
                </c:pt>
                <c:pt idx="9">
                  <c:v>10.6</c:v>
                </c:pt>
                <c:pt idx="10">
                  <c:v>23.2</c:v>
                </c:pt>
                <c:pt idx="11">
                  <c:v>30.3</c:v>
                </c:pt>
                <c:pt idx="12">
                  <c:v>36.0</c:v>
                </c:pt>
                <c:pt idx="13">
                  <c:v>15.8</c:v>
                </c:pt>
                <c:pt idx="14">
                  <c:v>44.3</c:v>
                </c:pt>
                <c:pt idx="15">
                  <c:v>56.9</c:v>
                </c:pt>
                <c:pt idx="16">
                  <c:v>43.4</c:v>
                </c:pt>
                <c:pt idx="17">
                  <c:v>18.9</c:v>
                </c:pt>
                <c:pt idx="18">
                  <c:v>50.2</c:v>
                </c:pt>
                <c:pt idx="19">
                  <c:v>27.5</c:v>
                </c:pt>
                <c:pt idx="20">
                  <c:v>49.7</c:v>
                </c:pt>
                <c:pt idx="21">
                  <c:v>21.6</c:v>
                </c:pt>
                <c:pt idx="22">
                  <c:v>15.8</c:v>
                </c:pt>
                <c:pt idx="23">
                  <c:v>83.3</c:v>
                </c:pt>
                <c:pt idx="24">
                  <c:v>32.5</c:v>
                </c:pt>
                <c:pt idx="25">
                  <c:v>19.9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2.62</c:v>
                </c:pt>
                <c:pt idx="1">
                  <c:v>0.25</c:v>
                </c:pt>
                <c:pt idx="2">
                  <c:v>-1.01</c:v>
                </c:pt>
                <c:pt idx="3">
                  <c:v>-0.46</c:v>
                </c:pt>
                <c:pt idx="4">
                  <c:v>0.35</c:v>
                </c:pt>
                <c:pt idx="5">
                  <c:v>0.59</c:v>
                </c:pt>
                <c:pt idx="6">
                  <c:v>0.09</c:v>
                </c:pt>
                <c:pt idx="7">
                  <c:v>-1.0</c:v>
                </c:pt>
                <c:pt idx="8">
                  <c:v>-0.46</c:v>
                </c:pt>
                <c:pt idx="9">
                  <c:v>1.62</c:v>
                </c:pt>
                <c:pt idx="10">
                  <c:v>1.62</c:v>
                </c:pt>
                <c:pt idx="11">
                  <c:v>0.93</c:v>
                </c:pt>
                <c:pt idx="12">
                  <c:v>-0.37</c:v>
                </c:pt>
                <c:pt idx="13">
                  <c:v>-0.31</c:v>
                </c:pt>
                <c:pt idx="14">
                  <c:v>1.09</c:v>
                </c:pt>
                <c:pt idx="15">
                  <c:v>-0.07</c:v>
                </c:pt>
                <c:pt idx="16">
                  <c:v>0.36</c:v>
                </c:pt>
                <c:pt idx="17">
                  <c:v>2.22</c:v>
                </c:pt>
                <c:pt idx="18">
                  <c:v>0.36</c:v>
                </c:pt>
                <c:pt idx="19">
                  <c:v>0.83</c:v>
                </c:pt>
                <c:pt idx="20">
                  <c:v>0.03</c:v>
                </c:pt>
                <c:pt idx="21">
                  <c:v>0.44</c:v>
                </c:pt>
                <c:pt idx="22">
                  <c:v>0.63</c:v>
                </c:pt>
                <c:pt idx="23">
                  <c:v>-0.65</c:v>
                </c:pt>
                <c:pt idx="24">
                  <c:v>-0.39</c:v>
                </c:pt>
                <c:pt idx="25">
                  <c:v>1.33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Sheet1!$B$29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F28C00"/>
              </a:solidFill>
              <a:ln>
                <a:solidFill>
                  <a:srgbClr val="F28C00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SC</a:t>
                    </a:r>
                  </a:p>
                </c:rich>
              </c:tx>
              <c:txPr>
                <a:bodyPr/>
                <a:lstStyle/>
                <a:p>
                  <a:pPr>
                    <a:defRPr sz="1200" b="1">
                      <a:solidFill>
                        <a:srgbClr val="F28C00"/>
                      </a:solidFill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Sheet1!$A$30:$A$30</c:f>
              <c:numCache>
                <c:formatCode>General</c:formatCode>
                <c:ptCount val="1"/>
                <c:pt idx="0">
                  <c:v>46.9</c:v>
                </c:pt>
              </c:numCache>
            </c:numRef>
          </c:xVal>
          <c:yVal>
            <c:numRef>
              <c:f>Sheet1!$B$30:$B$30</c:f>
              <c:numCache>
                <c:formatCode>General</c:formatCode>
                <c:ptCount val="1"/>
                <c:pt idx="0">
                  <c:v>-0.35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Sheet1!$B$32</c:f>
              <c:strCache>
                <c:ptCount val="1"/>
                <c:pt idx="0">
                  <c:v>Tendência</c:v>
                </c:pt>
              </c:strCache>
            </c:strRef>
          </c:tx>
          <c:spPr>
            <a:ln w="15875">
              <a:solidFill>
                <a:srgbClr val="0D0D0D"/>
              </a:solidFill>
              <a:prstDash val="sysDot"/>
            </a:ln>
          </c:spPr>
          <c:marker>
            <c:symbol val="none"/>
          </c:marker>
          <c:xVal>
            <c:numRef>
              <c:f>Sheet1!$A$33:$A$34</c:f>
              <c:numCache>
                <c:formatCode>General</c:formatCode>
                <c:ptCount val="2"/>
                <c:pt idx="0">
                  <c:v>0</c:v>
                </c:pt>
                <c:pt idx="1">
                  <c:v>160</c:v>
                </c:pt>
              </c:numCache>
            </c:numRef>
          </c:xVal>
          <c:yVal>
            <c:numRef>
              <c:f>Sheet1!$B$33:$B$34</c:f>
              <c:numCache>
                <c:formatCode>General</c:formatCode>
                <c:ptCount val="2"/>
                <c:pt idx="0">
                  <c:v>0.6976285972020844</c:v>
                </c:pt>
                <c:pt idx="1">
                  <c:v>-0.6943652335146058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60.0"/>
          <c:min val="0.0"/>
        </c:scaling>
        <c:delete val="0"/>
        <c:axPos val="b"/>
        <c:numFmt formatCode="0" sourceLinked="0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3.0"/>
          <c:min val="-1.5"/>
        </c:scaling>
        <c:delete val="0"/>
        <c:axPos val="l"/>
        <c:numFmt formatCode="0.0" sourceLinked="0"/>
        <c:majorTickMark val="none"/>
        <c:minorTickMark val="none"/>
        <c:tickLblPos val="nextTo"/>
        <c:spPr>
          <a:ln>
            <a:noFill/>
          </a:ln>
        </c:spPr>
        <c:crossAx val="-2128940872"/>
        <c:crosses val="autoZero"/>
        <c:crossBetween val="midCat"/>
        <c:majorUnit val="0.5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377</c:v>
                </c:pt>
                <c:pt idx="1">
                  <c:v>408</c:v>
                </c:pt>
                <c:pt idx="2">
                  <c:v>409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OCDE</c:v>
                </c:pt>
              </c:strCache>
            </c:strRef>
          </c:tx>
          <c:spPr>
            <a:solidFill>
              <a:srgbClr val="0D0D0D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Matemática</c:v>
                </c:pt>
                <c:pt idx="1">
                  <c:v>Leitura</c:v>
                </c:pt>
                <c:pt idx="2">
                  <c:v>Ciências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469</c:v>
                </c:pt>
                <c:pt idx="1">
                  <c:v>466</c:v>
                </c:pt>
                <c:pt idx="2">
                  <c:v>486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D0D0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0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  <c:majorUnit val="100.0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0D0D0D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0D0D0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8D8C0-ECDE-4C8A-B4F2-9FC205690BC8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A0F09-9859-4F54-977D-4C5528282F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09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A6268AB-14F2-F957-7E4C-FB5ED1F9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932A65B-6CC1-8138-C6BA-B1511EA2FD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37BAD7A-8C27-9F81-5D70-EB69D060D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Projeção de crescimento mundial (≈ 1,5 min). Dados de The Economist/Observatório FIESC (set/26). Mensagem: o mundo cresce ~2,3% em 2026, abaixo de 2025, e segue perto disso até 2030. Atualização: o FMI (jul/26) segue vendo crescimento próximo ao ritmo de longo prazo, sustentado por investimentos em IA e gastos militares.</a:t>
            </a:r>
          </a:p>
        </p:txBody>
      </p:sp>
    </p:spTree>
    <p:extLst>
      <p:ext uri="{BB962C8B-B14F-4D97-AF65-F5344CB8AC3E}">
        <p14:creationId xmlns:p14="http://schemas.microsoft.com/office/powerpoint/2010/main" val="541019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4873871-09A2-C4AF-989C-CEE528F2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8216E326-5C89-5F4E-4CA9-4F6E1E612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7CB651E-D313-E6F8-6495-7C77A7211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Importações mundiais (≈ 1 min). Após a expansão de 2025, a demanda mundial por importações desacelera — relevante para a indústria exportadora catarinense. FMI (jul/26): comércio mundial +3,5% em 2026 (5,0% em 2025) e 4,3% em 2027.</a:t>
            </a:r>
          </a:p>
        </p:txBody>
      </p:sp>
    </p:spTree>
    <p:extLst>
      <p:ext uri="{BB962C8B-B14F-4D97-AF65-F5344CB8AC3E}">
        <p14:creationId xmlns:p14="http://schemas.microsoft.com/office/powerpoint/2010/main" val="2517892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D297A9B-A694-6683-C610-BB764327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5C062817-F733-DEA7-C9F5-867F21195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A7314C1-0A92-3329-C6BC-182F5E126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Câmbio (≈ 1,5 min). Slide de 15/09. Atualização: o Focus de 23/10 espera câmbio de R$ 5,05 no fim de 2026 e R$ 5,15 em 2027. Juros reais altos e petróleo sustentam o real, apesar da alta dos juros americanos e da incerteza eleitoral.</a:t>
            </a:r>
          </a:p>
        </p:txBody>
      </p:sp>
    </p:spTree>
    <p:extLst>
      <p:ext uri="{BB962C8B-B14F-4D97-AF65-F5344CB8AC3E}">
        <p14:creationId xmlns:p14="http://schemas.microsoft.com/office/powerpoint/2010/main" val="1682062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20E5A84-02E5-5C89-F665-40DCA84B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7DECA796-976B-94B3-6AB5-E87E0C6B4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52AFB5-C912-63F6-7F08-3B37A87AE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Setor externo de SC (≈ 1,5 min). SC tem grau de abertura (47%) bem acima do Brasil (28%): a economia catarinense é mais exposta — para o bem e para o mal — ao cenário externo. Importações de SC em US$ 34 bi (2025), exportações em US$ 12 bi.</a:t>
            </a:r>
          </a:p>
        </p:txBody>
      </p:sp>
    </p:spTree>
    <p:extLst>
      <p:ext uri="{BB962C8B-B14F-4D97-AF65-F5344CB8AC3E}">
        <p14:creationId xmlns:p14="http://schemas.microsoft.com/office/powerpoint/2010/main" val="1675951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6A63E3-6252-EBF5-F057-2DB204B6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9D24AD78-9A8D-82E3-AC58-2C6F8E1D73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76C226E-D0F0-3CFC-2407-873AAA718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Mercado de trabalho (≈ 1,5 min). Dados até o 2T26 — atuais. Desemprego de 5,4% no Brasil e 2,1% em SC; renda real em alta. Ipea: no trimestre até julho, desocupação de 5,3%, menor da série para o período; mas a participação (62,0%) segue abaixo do pré-pandemia (63,2%) — com ela, o desemprego seria 7,2%. A massa salarial desacelerou de ~7% para 4,1%.</a:t>
            </a:r>
          </a:p>
        </p:txBody>
      </p:sp>
    </p:spTree>
    <p:extLst>
      <p:ext uri="{BB962C8B-B14F-4D97-AF65-F5344CB8AC3E}">
        <p14:creationId xmlns:p14="http://schemas.microsoft.com/office/powerpoint/2010/main" val="2398617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591C8199-B3E6-98D3-FDE4-9DBC051C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C6BDBC8F-C988-2EF8-8879-86D5EF091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33C8EFC-EA31-700F-F081-0672DA29A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IBC-Br e IBCR-SC (≈ 1,5 min). Slide de 15/09 (dados até jun/26). A atividade de SC mostra mais resiliência que a brasileira. Atualização: o IBC-Br caiu 0,2% em julho, após -0,9% em junho, deixando carregamento negativo para o 3T.</a:t>
            </a:r>
          </a:p>
        </p:txBody>
      </p:sp>
    </p:spTree>
    <p:extLst>
      <p:ext uri="{BB962C8B-B14F-4D97-AF65-F5344CB8AC3E}">
        <p14:creationId xmlns:p14="http://schemas.microsoft.com/office/powerpoint/2010/main" val="61059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E97692B-ABD2-A257-0DB9-89A2B707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29B355FB-5865-974F-D708-1380F1147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412205-5C07-5426-C313-B24C481DD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Produção industrial (≈ 1,5 min). Slide de 15/09. A indústria de transformação desacelera em SC e no Brasil, contida pelo crédito caro. Atualização (Ipea): a transformação recuou 2,1% em junho e subiu 0,5% em julho; a extrativa sustenta o ano.</a:t>
            </a:r>
          </a:p>
        </p:txBody>
      </p:sp>
    </p:spTree>
    <p:extLst>
      <p:ext uri="{BB962C8B-B14F-4D97-AF65-F5344CB8AC3E}">
        <p14:creationId xmlns:p14="http://schemas.microsoft.com/office/powerpoint/2010/main" val="981055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8A36668-7E69-EF36-03B1-9C93BDDE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3D811321-50A9-CF80-0ACF-DF18E2E86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E2F1E61-F6B1-A894-B36B-579910F02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PIB regional de SC (≈ 1 min). Projeção do Observatório FIESC: CAGR 2026–2030 por Vice-Presidência Regional. Foz do Rio Itajaí (7,3% a.a.), Norte-Nordeste (5,2%) e Vale do Itajaí Mirim (3,3%) se destacam. Fecho do bloco: as regiões que mais crescem são as que combinam logística, indústria e serviços de maior produtividade.</a:t>
            </a:r>
          </a:p>
        </p:txBody>
      </p:sp>
    </p:spTree>
    <p:extLst>
      <p:ext uri="{BB962C8B-B14F-4D97-AF65-F5344CB8AC3E}">
        <p14:creationId xmlns:p14="http://schemas.microsoft.com/office/powerpoint/2010/main" val="4093750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18DD285F-D72B-7B00-32E7-ED6D6FEA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:notes">
            <a:extLst>
              <a:ext uri="{FF2B5EF4-FFF2-40B4-BE49-F238E27FC236}">
                <a16:creationId xmlns:a16="http://schemas.microsoft.com/office/drawing/2014/main" id="{ADCCC637-3219-A1DC-472E-62D9BAAE2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A4E874E-43A6-9B28-C5C0-13A322FD6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Contato e perguntas.</a:t>
            </a:r>
          </a:p>
        </p:txBody>
      </p:sp>
    </p:spTree>
    <p:extLst>
      <p:ext uri="{BB962C8B-B14F-4D97-AF65-F5344CB8AC3E}">
        <p14:creationId xmlns:p14="http://schemas.microsoft.com/office/powerpoint/2010/main" val="590405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(≈ 1 min). Palestra de 40 minutos em seis blocos. A pergunta-guia: qual economia o governo eleito recebe em 1º de janeiro de 2027 e quais restrições ela impõe?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(≈ 1 min). Tempo indicativo por bloco somando 40 minutos, já incluídas as transições.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bloco 1 (≈ 7 min no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1,5 min. O memorando EUA–Irã de junho levou o Brent a ~US$ 75, mas foi encerrado em julho. A EIA elevou o Brent médio projetado para 2027 de US$ 65 para US$ 84. A produção brasileira passou de 4,3 milhões de barris/dia: o real se comporta como moeda de commodity — o dólar fechou setembro em R$ 5,18, praticamente igual à véspera do conflito.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bloco 2 (≈ 9 min no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O 2T26 cresceu 0,5% na margem, puxado por agro (+2,8%) e extrativa (+3,4%); consumo, transformação e construção caíram 0,4%. O IBC-Br caiu em junho e julho. Focus de 23/10: PIB 1,8% em 2026 e 1,3% em 2027 — abaixo do Ipea (2,0% e 1,7%) e próximo do BC (1,8% e 1,4%). O investimento (FBCF) desacelera de 6,9% em 2024 para ~1%.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IPCA: deflação de 0,32% em agosto (bônus de Itaipu), revertida em setembro (+0,82%). Copom (16/09): projeção de 5,2% no fim de 2026 e 3,2% no 1T28; expectativas desancoradas para 2027–28. Focus 23/10: IPCA 5,2% (2026), 4,3% (2027), 3,8% (2028); Selic 13,25%, 11,75% e 10,00%. Juro real ex-ante ainda perto de 7% em 2027: política monetária segue restritiva no 1º ano do novo governo.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bloco 3 (≈ 8 min no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Box 1 da Carta de Conjuntura nº 72 do Ipea: a distância entre renda e consumo corresponde à alta da taxa de poupança (+2,4 p.p. em um ano), concentrada no 4T25 e 1T26, quando a renda real cresceu 5–6%. Quatro hipóteses: suavização, juros altos estimulando aplicações, usos fora do consumo medido (bets: R$ 37 bi em 2025, 0,4% da renda) e erro de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Atualização do Gráfico 1.1 do Ipea com o SGS (séries 29034, 29035, 29037, 29038). A literatura (Flodén et al., 2021; Drehmann, Juselius e Korinek, 2023; Garber et al., 2024) associa alto comprometimento de renda a consumo mais baixo e volátil. Bets: começar a apostar eleva a inadimplência (Carvalho et al.,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RPM set/26: inadimplência no crédito livre PF em 7,8% e no SFN em 4,9%, recordes. Concessões de crédito livre PF caíram 1,3% no trimestre até julho, com recuo das linhas de longo prazo (inclusive consignado privado) e alta das emergenciais. Em contrapartida, o saldo de crédito livre PF ainda cresce ~6% real (Ipea).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Slide de síntese para provocar a plateia: qual força domina em 2027? O Ipea aposta em retomada gradual (consumo +1,5% em 2027); o Focus é mais cauteloso (1,2%). O efeito do fim das bets depende de conter a migração para plataformas ilegais.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bloco 4 (≈ 5 min no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2,5 min. Em 12 meses até agosto, déficit primário do Governo Central de R$ 68,7 bi (~0,53% do PIB). Discricionárias +44,6% reais até julho (emendas). A LC 235/2026 cria gatilhos que limitam despesas vinculadas em 2027 (~R$ 9 bi). Ponto para o debate: o novo governo terá de decidir cedo entre revisar a meta ou ajustar despesas obrigatórias (previdência, pisos de saúde e educação, vinculações ao salário mínimo).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2,5 min. Dívida pública federal de R$ 9,3 tri em agosto, prazo médio ~4 anos, predominância de pós-fixados. Com Selic a 13,75% e PIB nominal crescendo ~6–7%, o diferencial juros–crescimento é muito desfavorável. O círculo: credibilidade fiscal → juros menores → dívida mais barata → famílias menos pressionadas.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bloco 5 (≈ 6 min no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1,5 min. Indicador WDI SL.GDP.PCAP.EM.KD (atualização de 08/10/2026). Com desemprego na mínima, participação estável e envelhecimento, crescer acima de 2% exige produtividade.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Resultado contraintuitivo e honesto: no período, quem mais cresceu em produtividade foi a fronteira agrícola (AC, PI, MA, MT, TO) — convergência a partir de níveis baixos e expansão do agro. Estados com mais formação em TIC (DF, SP) tiveram produtividade estável ou em queda. Leituras possíveis: (1) o efeito da formação aparece com defasagem; (2) os formados migram para SP/DF ou para trabalho remoto; (3) 2012–2023 inclui a recessão de 2015–16 e a pandemia. Para SC: a vantagem em capital humano precisa se converter em inovação e investimento.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1,5 min. Brasil 2025: 377 (matemática), 408 (leitura), 409 (ciências); em 2022: 379, 410 e 403. Leitura: 49% no nível 2 ou acima (OCDE 69%); ciências: 48% (OCDE 74%). Divulgado pela OCDE em 08/09/2026. Ligação com o slide anterior: escolaridade subiu, aprendizagem não acompanhou.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para o bloco 6 (≈ 5 min no bloco).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2 min. Para cada tema, um indicador para acompanhar ao longo de 2027. Reforma tributária: 2026 foi o ano de teste (CBS 0,9% e IBS 0,1%); em 2027 a CBS entra em vigor plena e PIS/Cofins são extintos (LC 214/2025).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1,5 min. O Ipea vê riscos de baixa para o crescimento e de alta para a inflação; o BC destaca a desancoragem das expectativas e a incerteza fiscal.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≈ 1,5 min. Amarrar os blocos: fiscal → juros → famílias/consumo; produtividade → crescimento potencial.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D876-916D-9FE2-DA3B-35327691D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7858AB-2100-8750-70ED-DCF4BB9FA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8C1C87-A8B0-7B8D-C748-DEC789ED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8CEF7A-BA6E-F39F-34B9-C4B9772E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9EC9-93A2-B22A-AB9C-E22F950A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40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B87E6-B6C4-05CB-FE12-4F54462A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3A2550-1DDE-E121-529D-C38040578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C1FBFA-526A-B43D-AA54-0484EA63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D05801-C0B9-86C7-D048-B1BFF999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F0DDCD-256C-CF14-6088-7E8BB678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03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2B028-515E-C824-1E08-C4CD0D17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E122BC-EBAC-8404-0FF6-FDFB439FE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ACD0D9-A2CF-FE14-B513-806B639A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F891C-C9B2-0B94-1253-4D3D1625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FC0A-8266-97D9-323E-047C17FC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5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AAE63-5297-EAB1-28D6-00E4CF8B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73C46-AA47-8463-4DB8-2A53A10D3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4FAEC2-5DC7-B417-94FD-841CE4F7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2DB769-53FD-0EC6-620F-EDDEEDF2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1FEBE3-EE70-B4DE-9C81-B61B0000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1CA4C2-2810-DB00-D9A8-59EF009C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02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8B98C-C72A-5DA4-0770-5DC341C1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EF4810-6FA9-0442-69F8-E12CA1797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3B5D4A-D2BF-8839-9DA9-C787B7A9C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0D35A4-64E5-6D17-C650-21399A34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68F6A-8E6D-20D2-5D2E-85E48C18C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76AB09-F4D4-AA7E-2ED5-0459BF4E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1BC024-08E6-6A09-8474-93633247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B13710-8EE1-3883-B0D2-72AACD51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618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B838-E784-EBAD-D544-227F9708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6904BE-7DBC-8AB0-983B-0153DB833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553535-20EB-37DA-9A7A-B74629AE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78D905-9351-21E7-3AC3-A67487E1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20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EB5F66-4FD3-E2A3-80C8-E978A78A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AD304EB-1218-F3B6-2EE7-1CD11E90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43088C-F595-EEC1-AE35-AB091694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44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D0F4B-C825-8C42-395D-85758D4C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188BF0-BA3B-0A1A-DA8B-2A00FC6EF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23E164-0FB5-3E9A-C36C-63D894970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5A9254-32FC-9F43-62CC-1126F265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99FE33-43A9-63BF-8BE9-965EAC5B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5CCE3F-464E-7550-44B2-2FA5A36B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41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AC26E-3E1A-9FB6-CC3D-549C1593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F5959F-575D-3A55-F341-B30906011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BF3C7F-B979-EFDB-B3EE-4B966D19F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4B7650-F4DF-9150-CBD8-EEAAB1D4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8F0AB2-5CD3-B592-CC5D-1981A171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1C5531-AD88-0E82-D322-FDE9B433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4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4E2AA-D462-C38E-EB39-B726B616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8E8E1D-70ED-EA50-A188-D2E3BBFE8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87C1C0-FEC3-8167-FF49-E96C4CD6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CEEDF1-7CA1-5D18-424C-344EA8E7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34DCA-20A5-946B-AAB1-5E5FD885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17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9FF2C5-C295-C1A4-9632-4051D4570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1965F9-B622-4909-0026-54F54A048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0E262-639C-4206-8BBB-D39D02160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96DDE9-F93D-2F81-C982-7353998F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5DBA0C-7A02-865B-6466-799F9E31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36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666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85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802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88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05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291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520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018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7153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34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558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3263901" y="2667001"/>
            <a:ext cx="2647200" cy="35520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9798669" y="4760940"/>
            <a:ext cx="1772800" cy="14584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4121967" y="1285467"/>
            <a:ext cx="1789200" cy="12420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6090469" y="1285468"/>
            <a:ext cx="5480800" cy="3362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620668" y="2667001"/>
            <a:ext cx="2463600" cy="3552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072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8730747" y="1194072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6182265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70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418357"/>
            <a:ext cx="55208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50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6192664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8772960" y="3287536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667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958756" y="1321655"/>
            <a:ext cx="2376400" cy="421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5513379" y="3159953"/>
            <a:ext cx="2376400" cy="23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099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4907803" y="3209027"/>
            <a:ext cx="2376400" cy="246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4907803" y="1456427"/>
            <a:ext cx="2376400" cy="22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752601" y="3867151"/>
            <a:ext cx="55316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065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1114247" y="1382743"/>
            <a:ext cx="44584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6264291" y="3751987"/>
            <a:ext cx="5927600" cy="19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173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008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1228216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5039973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8851731" y="2526125"/>
            <a:ext cx="2112000" cy="2191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767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4322763" y="1455737"/>
            <a:ext cx="3002000" cy="40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48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3516519" y="1553703"/>
            <a:ext cx="2776800" cy="40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01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7013020" y="1986029"/>
            <a:ext cx="2205200" cy="39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8608340" y="1284443"/>
            <a:ext cx="2205200" cy="39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871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1098057" y="1302992"/>
            <a:ext cx="4560800" cy="42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11409051" y="6333125"/>
            <a:ext cx="7832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37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9955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D207-BEAD-1EE4-41F2-6C5E115D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DB704E-CB18-2B8B-945A-3B7AC8403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4397E7-0EE3-7B15-08FA-4FAD31007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E6C80-01DF-44A0-A7B7-6D736C94744A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2A0934-E7C8-D24E-498F-6B93DCBF2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275589-7679-7627-094F-D076D6C07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8BD56-A1FC-48F1-947B-9FC3B1B8C6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31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2512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11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35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D5016DD-36BA-655B-A7FA-5E7F14FE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5D20FEFC-2CF4-431B-98B2-A62A696EC8B6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DB6AA5A5-E728-BE6E-9382-D1762FD2D5F8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5A83C27-18FD-022D-50E6-5143661AC5B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51B5854C-448F-65F9-7E56-08D49618202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3E58D4F9-AB93-F141-0629-7A14A97F0B6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D6FCC576-6AD0-1429-C962-0B5869B40C2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9C6DDEA6-967E-719E-F19D-A25BE704653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CF066F9-52FB-2C60-6076-9282D0823CD9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3D12EA75-C5F0-5F3E-CDC9-D6265C706ABD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5884093C-1C57-5B07-611B-D3A59E1A173C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CCA3740C-D958-D2AB-1275-115FB53270D5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D52D409-473E-EB4C-303B-6E664ABEFD99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793C3C9E-9602-0E76-8097-322C13F518D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330E93E-55EC-786A-7FF5-3E32D5DD6B31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23B7D3EF-A1CC-50D8-B858-E8A418632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D4E5A51F-6242-1C1E-0DA5-7ECC5CB09B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6E30DA0A-707C-F9F1-73BA-A5BECED9B3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95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6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E096D2D-EBD5-0485-33C9-AF99D1BA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75EC33F7-36C6-68C0-142E-F505E3E00DD7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2A45B3BB-AE4E-CA21-F100-4C3C72C34DD9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D117AE7-7FA4-198C-E45C-367E6BBDA206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67A377F-9664-05CF-927A-A939EC1636B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A4BC5115-E10E-221A-2504-38C2A41A6D9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AEAC0F51-7CBD-6687-1A3D-B2549F6686C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5C9FD2BF-21F0-857F-2D29-B53D73879B8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1B6DC75B-723E-117F-458B-1E7D0CA3E14D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37D1922B-0279-812C-5923-89629178FDEE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78516749-703C-94BD-324F-D1AF6664C337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1CADE247-83C0-B1B7-11BD-A8228876A84B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0B40B41-4722-CFB6-AABF-96D8E5D2CF71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2617CAD0-B178-05BA-47BC-4B52F6E7A305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955BE5B0-B089-C68D-C1D0-47BF104D591B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63A2440B-C64A-C97B-4FB3-C1B7B12C2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CB067BC1-4CA8-3F8C-F7A5-F072230B4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523EC39-5D0A-DB3E-6CF6-9EC50B13E6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620"/>
            <a:ext cx="12192000" cy="68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27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52E4703-B8DF-048F-8D81-04311F2E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433FEC7F-36EA-9CBC-1C33-B11CBDF04DF2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4B248614-D872-D4F8-5DA0-9446870D9EA7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895902AD-A2C0-AAF6-A7C0-FBF067A3051B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A62F90A1-7A79-FAD7-FF83-E35521E7434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F966876-91CF-A7FC-B577-EC289134AA9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C20DA1DC-4233-B652-CEA1-13777621321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0915CAE5-B4FB-F671-428F-FF6C721C8CD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780108C-CEC0-51A7-DB31-A7EF82A01944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7F9ECF8E-8AC3-AC1B-4856-0508E6DF218F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F7307B25-BA7B-744F-4C73-8BCDF992B5D5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7495B15E-FC3B-727E-10BF-5D074C8CC799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21CB8E4-6322-F4B5-280B-0E026FB82867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E4BD7B70-931E-779D-5858-E2F2CB963BD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B11F30B7-5027-B0B2-BA4A-6A153F2879D0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3D475F02-3781-DBAF-5462-9035264E5F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D952EACF-E2AB-E343-EACB-F6DF72798A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84A21A2-8447-E5E4-F9C9-5CED162398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" y="0"/>
            <a:ext cx="12177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92C278D-F59F-AA65-3CC9-3BE04C85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04183E2F-C949-43CB-6D0E-59C712A62D93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A0857913-1BC6-C56F-B3B2-2C32FB3D9527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97602642-BF09-8387-2985-CDA3D123F03C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B974403C-F421-72AD-A682-8F0A5E01A2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BF13A4D2-C781-ABA8-B712-589BCCDA19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FEC86C32-896B-79F1-A832-EBBE01D718F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CEB8618F-57A6-58F6-9FC7-5E242C91C08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CBCDDB64-D744-6004-17C5-3117D391F603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17FBE155-9608-1B80-8807-F7B85ED281E4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D327595B-6BC4-FCFA-CBE3-2EC2F67AFA96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7275AF3E-46E4-40AB-8008-EE8EC8378BE5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64CA2BA-8026-E6BA-49A1-70FEEE60AFA1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941F9141-B8DE-71FE-E47C-3535CCFDA1B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D2C614A-BB8C-1175-3DB3-690256375ACA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78EC85F7-808D-B436-8A65-ACE0CF263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613BC08F-5CB4-AB21-AAE9-D5A435FF0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73205B1B-2923-1286-A6BB-8E4DC85EDF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22412"/>
            <a:ext cx="12192000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7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32CEEA2-B092-03E2-68DB-37A81E6F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9D928A9F-3693-1A0D-129F-E939A67B3472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8A1DFBF-1599-7DFE-374F-02F47D20D48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046A540-E05E-A0C0-F1DB-DD000E65830A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2E27C284-B406-0C19-FFE4-0FC79100DF4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E69F8195-9808-8B10-882A-DB90C8A0A58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92E4B1EB-DDA7-68AD-7CD3-214BAC3A87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4AE264B2-F26C-2A4B-31F8-05DC9173033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869D3E5-AD7D-F7C9-434B-8CBA07CF82D3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77A3181B-6CBF-ACA6-64DA-0E683D66874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912D8B31-2004-4137-E12E-0C272CA82AA2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56D8A09A-FE23-77D9-9042-7C00281980FD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A85FB5A-D52F-6B2B-698B-A9C3AED64A72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51145099-6981-4A81-A9EC-5251D5DFB0D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EF15F882-7EF6-2856-7F3B-E3B2BE056D61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B1009948-B685-B7C3-9625-6605527D4F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5A1215A8-B0BA-16F8-28FE-EEE9C7FD0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B2EB54B-05AF-F0F8-3142-9980395995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873" y="0"/>
            <a:ext cx="12351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9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CD94D53-5051-5F5F-CDEA-15394EB7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1425B27-74D8-E174-7DD2-A97DE93C1618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05C0A890-263F-8FC2-E9BD-9ED83EFEE12C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5C9A7B9E-78EF-7484-395D-FDACD8355C17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7D2F56CC-8B8B-CA6A-9743-B242EED2AC9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70F02CF0-2F6A-4AC1-A0FE-D31FAC8AAE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3D69609A-F61E-DC6E-7658-6506066F29C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8E5D8781-93C1-28E8-9331-9441DC5620C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B8B30BF-4852-0E50-9391-F79AE914CE4E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91F554A4-D1F4-C24E-8869-6DDFFEF8C6E8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DF346CB1-9452-4564-9C7C-E07567185FB1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8BD7C5E9-1160-F228-830B-68E42BC1F2AC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4E5548F-36C0-723C-3F17-DB92756FC108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C046427D-65C9-9F8A-A24B-D12084D6F340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203A14E9-DFAB-A859-8F7C-1AAEB56C156C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5228C5F4-4528-2128-85FA-A1261C0B12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276CC341-774F-11FC-92D2-B8F2020036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EF50BE4A-FD4D-100B-450F-4A059CBE7D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8907"/>
            <a:ext cx="12192000" cy="682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39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F5B53B6E-2937-1F86-F619-EFE3CAEF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176342EE-9287-55A4-C977-860C36D1E009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8DF7369A-BF37-E083-84EE-707F522AE8C4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838FECD-B2D6-0EB0-9934-A4BBDC44391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8FE8494D-4EBC-EF18-6C3E-AAAE4574699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FF6B89A1-BF29-FBC8-5AE6-62C0BFF98FB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16F9ECA9-09B2-0F5F-602F-EBE3C71B500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D269AE3A-FB93-8489-9F58-E0AF4E76655A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C83AFA0-DA15-46DF-C27A-58213D286EA1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FA356D6E-E212-A727-8D39-F2455B08DA01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EC5A404B-792C-3EF4-EF35-72413ACB11A3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A7FD914D-4068-D770-DDF1-4FFAF912403D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502EEF6-DFBF-A9BF-CC4F-E97E4373FE7A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D24D7440-FB0B-8ABA-4A12-464BE1896E5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F51037D-2053-FE2C-7E3C-C5B01634D664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F9201B3B-430D-FC01-7DDD-CAB4D2BC6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6BA91E7E-1B99-8CDF-3EF8-E60BE64A7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10438A49-6B7D-145B-7283-99C07E396B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873" y="0"/>
            <a:ext cx="12222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82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880E1165-144B-BFDA-9051-BF5370D7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38A880F1-1378-FCDD-597A-B36008F9BA7F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134E7AF2-6638-2B08-D6EE-E910A37ACBE9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545E732A-808A-BFD6-F055-9A6CF5F29ACF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90A223B8-A4F6-A66C-A094-2AEED23FDDA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8E584091-E364-3337-4F71-89EC750BD0F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68D5C21E-CE82-9D65-9E4E-B1D8C975307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1B8E673A-2BD4-D2AD-212B-EA8320385EE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723E8F55-2142-FC63-862E-7B9291821477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9216FA2A-9B22-1A17-DC60-0F95CF980B83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283DC75B-0C43-179C-9459-1BFD1505257D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3EE22F0C-63C9-2EFC-8347-53EC7205D36F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BB3B9AA-5092-C00A-E548-1396ACB02AF3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23CFD2E2-BBC7-B826-677A-CDA769FB1091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1C738D31-986C-9BFF-C96C-5DB6A0826A3C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C0408033-C5A0-3D86-183C-A446BAABF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8314CCE1-8BB7-96CE-652D-95F3C7165C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1D3C51A-312E-A5A5-796E-233CFA8BB8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34" y="-1"/>
            <a:ext cx="12166566" cy="687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4E840AC-00BE-9886-2AEF-BE489C32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D4897F63-4791-5E32-91AA-095B8B18998B}"/>
              </a:ext>
            </a:extLst>
          </p:cNvPr>
          <p:cNvGrpSpPr/>
          <p:nvPr/>
        </p:nvGrpSpPr>
        <p:grpSpPr>
          <a:xfrm>
            <a:off x="1580230" y="4803113"/>
            <a:ext cx="9699161" cy="822491"/>
            <a:chOff x="2312418" y="3037620"/>
            <a:chExt cx="8234515" cy="698288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F9929670-7D99-3FC1-2244-9D99E9167502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1C71E479-0A4D-3686-A9F8-FD5106F572BA}"/>
                </a:ext>
              </a:extLst>
            </p:cNvPr>
            <p:cNvSpPr txBox="1"/>
            <p:nvPr/>
          </p:nvSpPr>
          <p:spPr>
            <a:xfrm>
              <a:off x="2514799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BCF6A5DA-A66B-5AE4-5B5F-E7818758E31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ADE6EB6F-776F-F9C7-00E7-2E4FAC035F4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9CA7C124-C42B-19D9-7167-99C934CFD6D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C26AA8AE-8CBD-7F37-2A83-EF6A0F35C85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F1E25729-3661-3C5D-9356-28AB7FA4A315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CB0E224D-EA1D-82F2-2F7F-5ABFA06A642E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C4DC0833-9118-75EB-2F6D-ADF42FA1938F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444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50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FE9E7340-4998-8436-7E02-61688F7BEC3E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77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91433" rIns="91433" bIns="91433" anchor="t" anchorCtr="0">
              <a:spAutoFit/>
            </a:bodyPr>
            <a:lstStyle/>
            <a:p>
              <a:pPr defTabSz="1219170">
                <a:lnSpc>
                  <a:spcPct val="115000"/>
                </a:lnSpc>
                <a:buClr>
                  <a:srgbClr val="000000"/>
                </a:buClr>
                <a:buSzPts val="1300"/>
              </a:pPr>
              <a:r>
                <a:rPr lang="pt-BR" sz="1467" kern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  <a:endParaRPr sz="1467" kern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6CBE4E7-377A-9122-B383-D8C287DC6707}"/>
              </a:ext>
            </a:extLst>
          </p:cNvPr>
          <p:cNvGrpSpPr/>
          <p:nvPr/>
        </p:nvGrpSpPr>
        <p:grpSpPr>
          <a:xfrm>
            <a:off x="4097402" y="3887459"/>
            <a:ext cx="3997164" cy="598796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A8ED437E-8648-9C48-60B0-A0163E164FE3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4A1FBCE5-5C78-DDE0-6A28-F39D3FC73FF4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E78AE5-D753-9802-098F-BBC60F2166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4FA395B-0E12-B18B-76E0-A31047C3A3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AFAED731-9662-D606-C76C-F0F2B8115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023"/>
            <a:ext cx="12192000" cy="684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3281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7132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FFFFFF"/>
                </a:solidFill>
                <a:latin typeface="Century Gothic"/>
              </a:rPr>
              <a:t>Outubro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331720"/>
            <a:ext cx="85953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entury Gothic"/>
              </a:rPr>
              <a:t>Pós-eleição: </a:t>
            </a:r>
            <a:r>
              <a:rPr sz="4000" b="1" i="0">
                <a:solidFill>
                  <a:srgbClr val="8FB8F2"/>
                </a:solidFill>
                <a:latin typeface="Century Gothic"/>
              </a:rPr>
              <a:t>temas econômicos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entury Gothic"/>
              </a:rPr>
              <a:t>relevantes para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005072"/>
            <a:ext cx="420624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3504" y="416052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entury Gothic"/>
              </a:rPr>
              <a:t>Conjuntura, consumo das famílias, dívida pública e produtividade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Roteiro da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apresentação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99616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Cenário externo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499616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0D0D0D"/>
                </a:solidFill>
                <a:latin typeface="Century Gothic"/>
              </a:rPr>
              <a:t>Crescimento mundial, petróleo, câmbio e comércio exterior de 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1499616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0" i="0">
                <a:solidFill>
                  <a:srgbClr val="595959"/>
                </a:solidFill>
                <a:latin typeface="Century Gothic"/>
              </a:rPr>
              <a:t>7 min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212848"/>
            <a:ext cx="1115567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86000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Atividade, emprego e juros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286000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0D0D0D"/>
                </a:solidFill>
                <a:latin typeface="Century Gothic"/>
              </a:rPr>
              <a:t>PIB, indústria, mercado de trabalho, inflação e Selic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286000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0" i="0">
                <a:solidFill>
                  <a:srgbClr val="595959"/>
                </a:solidFill>
                <a:latin typeface="Century Gothic"/>
              </a:rPr>
              <a:t>9 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999232"/>
            <a:ext cx="1115567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" y="3127248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72384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Consumo das famílias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072384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0D0D0D"/>
                </a:solidFill>
                <a:latin typeface="Century Gothic"/>
              </a:rPr>
              <a:t>Renda cresce, consumo não: endividamento, crédito e poupança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3072384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0" i="0">
                <a:solidFill>
                  <a:srgbClr val="595959"/>
                </a:solidFill>
                <a:latin typeface="Century Gothic"/>
              </a:rPr>
              <a:t>8 min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785615"/>
            <a:ext cx="1115567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58768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Contas públicas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58768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0D0D0D"/>
                </a:solidFill>
                <a:latin typeface="Century Gothic"/>
              </a:rPr>
              <a:t>Resultado primário de 2027 e trajetória da dívida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3858768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0" i="0">
                <a:solidFill>
                  <a:srgbClr val="595959"/>
                </a:solidFill>
                <a:latin typeface="Century Gothic"/>
              </a:rPr>
              <a:t>5 min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572000"/>
            <a:ext cx="1115567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48640" y="4700016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45152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Produtividade e educação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645152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0D0D0D"/>
                </a:solidFill>
                <a:latin typeface="Century Gothic"/>
              </a:rPr>
              <a:t>O teto do crescimento de longo prazo, no Brasil e nas UFs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4645152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0" i="0">
                <a:solidFill>
                  <a:srgbClr val="595959"/>
                </a:solidFill>
                <a:latin typeface="Century Gothic"/>
              </a:rPr>
              <a:t>6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358384"/>
            <a:ext cx="1115567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431536"/>
            <a:ext cx="39319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Agenda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5431536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0" i="0">
                <a:solidFill>
                  <a:srgbClr val="0D0D0D"/>
                </a:solidFill>
                <a:latin typeface="Century Gothic"/>
              </a:rPr>
              <a:t>O que observar, riscos e mensagens finais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5431536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0" i="0">
                <a:solidFill>
                  <a:srgbClr val="595959"/>
                </a:solidFill>
                <a:latin typeface="Century Gothic"/>
              </a:rPr>
              <a:t>5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Cenário externo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D9DCE6"/>
                </a:solidFill>
                <a:latin typeface="Century Gothic"/>
              </a:rPr>
              <a:t>Economia mundial desacelera, petróleo pressiona e o real resiste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Petróleo caro e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juros globais</a:t>
            </a:r>
            <a:r>
              <a:rPr sz="3600" b="0" i="0">
                <a:solidFill>
                  <a:srgbClr val="0D0D0D"/>
                </a:solidFill>
                <a:latin typeface="Century Gothic"/>
              </a:rPr>
              <a:t> em alta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O conflito no Oriente Médio se prolongou: o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Brent voltou a superar US$ 100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 em setembro e o Fed voltou a subir juros. A economia mundial desacelera, mas segue crescendo.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7724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Projeções de crescimento do PIB em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Mediana das projeções de mercado, em %, por data da coleta.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2788920"/>
          <a:ext cx="786384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0" y="2240280"/>
            <a:ext cx="3063240" cy="4114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O Fed elevou os juros para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3,75%–4,00%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em setembro, a primeira alta desde julho de 2023.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Preços de alimentos (Banco Mundial)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+9%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em set/26 frente a fev/26.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Para o Brasil, petróleo mais caro melhora os termos de troca 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sustenta o real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Bloomberg (2026), EIA (2026), Banco Mundial (2026), Ipea (2026) e Observatório FIESC (2026)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Atividade, emprego e juros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D9DCE6"/>
                </a:solidFill>
                <a:latin typeface="Century Gothic"/>
              </a:rPr>
              <a:t>Pouso suave do PIB, mercado de trabalho apertado e Selic em queda gradual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Pouso suave do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PIB brasileiro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Após quatro anos de PIB crescendo acima do potencial, a economia desacelera. O mercado espera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1,8% em 2026 e 1,3% em 2027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, com consumo das famílias e investimento perdendo fôlego.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Valor observado e Projeção do PIB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Crescimento acumulado em 12 meses por trimestre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662940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219456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Crescimento por componente do PIB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237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Variação acumulada no ano (%)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23760" y="2788920"/>
          <a:ext cx="4526280" cy="35433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7472"/>
                <a:gridCol w="1527048"/>
                <a:gridCol w="658368"/>
                <a:gridCol w="658368"/>
                <a:gridCol w="667512"/>
                <a:gridCol w="66751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/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Setores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2024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2025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2026
(Exp.)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2027
(Exp.)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42900">
                <a:tc row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Produção</a:t>
                      </a:r>
                    </a:p>
                  </a:txBody>
                  <a:tcPr marL="27432" marR="27432" marT="9144" marB="9144" anchor="ctr" vert="vert27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Agropecuária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-3,70%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11,70%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2,50%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1,00%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  <a:tr h="342900">
                <a:tc vMerge="1"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Indústria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3,10%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1,40%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1,44%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1,00%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  <a:tr h="342900">
                <a:tc vMerge="1">
                  <a:txBody>
                    <a:bodyPr/>
                    <a:lstStyle/>
                    <a:p/>
                  </a:txBody>
                  <a:tcPr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Serviços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3,80%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1,80%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1,70%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1,50%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42900">
                <a:tc rowSpan="5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Despesa</a:t>
                      </a:r>
                    </a:p>
                  </a:txBody>
                  <a:tcPr marL="27432" marR="27432" marT="9144" marB="9144" anchor="ctr" vert="vert27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Consumo das famílias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5,10%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1,30%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1,30%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1,20%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  <a:tr h="342900">
                <a:tc vMerge="1"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Gasto do Governo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2,00%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2,10%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2,20%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1,14%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  <a:tr h="342900">
                <a:tc vMerge="1"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Investimento (FBCF)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6,90%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2,90%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0,90%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1,06%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  <a:tr h="342900">
                <a:tc vMerge="1"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Exportação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2,80%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6,20%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4,20%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3,00%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  <a:tr h="342900">
                <a:tc vMerge="1">
                  <a:txBody>
                    <a:bodyPr/>
                    <a:lstStyle/>
                    <a:p/>
                  </a:txBody>
                  <a:tcPr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Importação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15,60%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D0D0D"/>
                          </a:solidFill>
                          <a:latin typeface="Century Gothic"/>
                        </a:rPr>
                        <a:t>4,50%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3,10%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73E8"/>
                          </a:solidFill>
                          <a:latin typeface="Century Gothic"/>
                        </a:rPr>
                        <a:t>1,96%</a:t>
                      </a:r>
                    </a:p>
                  </a:txBody>
                  <a:tcPr marL="27432" marR="27432" marT="9144" marB="9144" anchor="ctr"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/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PIB - Total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3,40%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0D0D"/>
                          </a:solidFill>
                          <a:latin typeface="Century Gothic"/>
                        </a:rPr>
                        <a:t>2,30%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3E8"/>
                          </a:solidFill>
                          <a:latin typeface="Century Gothic"/>
                        </a:rPr>
                        <a:t>1,80%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73E8"/>
                          </a:solidFill>
                          <a:latin typeface="Century Gothic"/>
                        </a:rPr>
                        <a:t>1,31%</a:t>
                      </a:r>
                    </a:p>
                  </a:txBody>
                  <a:tcPr marL="27432" marR="27432" marT="9144" marB="9144" anchor="ctr"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IBGE (2026), BCB (2026) e Observatório FIESC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entury Gothic"/>
              </a:rPr>
              <a:t>* Expectativas da pesquisa Focus de 23 de outubro de 2026; potencial de 2% a.a.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Expectativas de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juros e inflação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25880"/>
            <a:ext cx="8229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Expectativas para Selic e IPCA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50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Valores em %, da Selic e IPCA observados e expectativas até outubro de 2028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965960"/>
          <a:ext cx="841248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006840" y="1463040"/>
            <a:ext cx="2788920" cy="4846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0D0D0D"/>
                </a:solidFill>
                <a:latin typeface="Century Gothic"/>
              </a:rPr>
              <a:t>A inflação recuou até agosto, mas voltou a </a:t>
            </a:r>
            <a:r>
              <a:rPr sz="1700" b="1" i="0">
                <a:solidFill>
                  <a:srgbClr val="1A73E8"/>
                </a:solidFill>
                <a:latin typeface="Century Gothic"/>
              </a:rPr>
              <a:t>4,58% em setembro</a:t>
            </a:r>
            <a:r>
              <a:rPr sz="1700" b="0" i="0">
                <a:solidFill>
                  <a:srgbClr val="0D0D0D"/>
                </a:solidFill>
                <a:latin typeface="Century Gothic"/>
              </a:rPr>
              <a:t>, acima do teto da meta.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0D0D0D"/>
                </a:solidFill>
                <a:latin typeface="Century Gothic"/>
              </a:rPr>
              <a:t>O Copom iniciou os cortes em março e levou a Selic a </a:t>
            </a:r>
            <a:r>
              <a:rPr sz="1700" b="1" i="0">
                <a:solidFill>
                  <a:srgbClr val="1A73E8"/>
                </a:solidFill>
                <a:latin typeface="Century Gothic"/>
              </a:rPr>
              <a:t>13,75%</a:t>
            </a:r>
            <a:r>
              <a:rPr sz="1700" b="0" i="0">
                <a:solidFill>
                  <a:srgbClr val="0D0D0D"/>
                </a:solidFill>
                <a:latin typeface="Century Gothic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 i="0">
                <a:solidFill>
                  <a:srgbClr val="0D0D0D"/>
                </a:solidFill>
                <a:latin typeface="Century Gothic"/>
              </a:rPr>
              <a:t>O Focus espera Selic de </a:t>
            </a:r>
            <a:r>
              <a:rPr sz="1700" b="1" i="0">
                <a:solidFill>
                  <a:srgbClr val="1A73E8"/>
                </a:solidFill>
                <a:latin typeface="Century Gothic"/>
              </a:rPr>
              <a:t>13,25% no fim de 2026</a:t>
            </a:r>
            <a:r>
              <a:rPr sz="1700" b="0" i="0">
                <a:solidFill>
                  <a:srgbClr val="0D0D0D"/>
                </a:solidFill>
                <a:latin typeface="Century Gothic"/>
              </a:rPr>
              <a:t> e </a:t>
            </a:r>
            <a:r>
              <a:rPr sz="1700" b="1" i="0">
                <a:solidFill>
                  <a:srgbClr val="1A73E8"/>
                </a:solidFill>
                <a:latin typeface="Century Gothic"/>
              </a:rPr>
              <a:t>11,75% em 2027</a:t>
            </a:r>
            <a:r>
              <a:rPr sz="1700" b="0" i="0">
                <a:solidFill>
                  <a:srgbClr val="0D0D0D"/>
                </a:solidFill>
                <a:latin typeface="Century Gothic"/>
              </a:rPr>
              <a:t>, com IPCA de 4,3%: </a:t>
            </a:r>
            <a:r>
              <a:rPr sz="1700" b="1" i="0">
                <a:solidFill>
                  <a:srgbClr val="1A73E8"/>
                </a:solidFill>
                <a:latin typeface="Century Gothic"/>
              </a:rPr>
              <a:t>juros reais seguem elevados</a:t>
            </a:r>
            <a:r>
              <a:rPr sz="1700" b="0" i="0">
                <a:solidFill>
                  <a:srgbClr val="0D0D0D"/>
                </a:solidFill>
                <a:latin typeface="Century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BCB (2026), IBGE (2026) e Observatório FIESC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entury Gothic"/>
              </a:rPr>
              <a:t>Expectativas: pesquisa Focus de 23/10/2026 (IPCA mensal acumulado em 12 meses e Selic por reunião do Copom).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Consumo das famílias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D9DCE6"/>
                </a:solidFill>
                <a:latin typeface="Century Gothic"/>
              </a:rPr>
              <a:t>Renda em alta e desemprego baixo, mas o consumo perdeu fôlego: o que está por trás?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Renda cresce,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consumo desacelera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A renda disponível das famílias cresceu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4,2% em termos reais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, mas o consumo avançou só 0,9%. A diferença virou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poupança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, que chegou a 13% da renda.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5895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Consumo das famílias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Crescimento acumulado em 4 trimestres, em %, 1T19 a 2T26.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77724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3920" y="2240280"/>
            <a:ext cx="324612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Taxa de poupança: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13,0% da renda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, ante 10,1% no fim de 2024 — a maior fora da pandemia.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Por quê? Juros altos estimulam aplicações,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poupança precaucional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(eleição, guerra) e apostas on-line.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Focus: consumo de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1,3% em 2026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e 1,2% em 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IBGE (2026), BCB (2026), Ipea (2026) e Observatório FIESC (2026)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Comprometimento de renda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em nível recorde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O endividamento ficou estável, mas o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serviço da dívida subiu com os juros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: as famílias destinam parcela recorde da renda ao pagamento de juros e amortizações.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Endividamento e comprometimento de renda das famílias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Exceto crédito imobiliário, em % da renda, mar/05 a jul/26.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7863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2240280"/>
            <a:ext cx="315468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Comprometimento total: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28,7% da renda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(jul/26), recorde da série.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Endividamento total: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49,9%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, perto do recorde de jan/26.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 i="0">
                <a:solidFill>
                  <a:srgbClr val="1A73E8"/>
                </a:solidFill>
                <a:latin typeface="Century Gothic"/>
              </a:rPr>
              <a:t>Canal do fluxo de caixa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: dívidas curtas e rotativo fazem a Selic chegar rápido às parcelas.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BCB (2026), Ipea (2026) e Observatório FIESC (2026)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Crédito caro e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inadimplência recorde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Juros altos e mais uso de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modalidades emergenciais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 (cartão rotativo, cheque especial) elevam o custo da dívida; a inadimplência das famílias atingiu o maior nível da série.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Taxa média de juros – pessoas físicas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Em % ao ano, mar/14 a ago/26.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566928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2194560"/>
            <a:ext cx="53949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Inadimplência – pessoas físicas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2374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Em % da carteira com atraso acima de 90 dias.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17920" y="2743200"/>
          <a:ext cx="553212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BCB (2026) e Observatório FIESC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entury Gothic"/>
              </a:rPr>
              <a:t>Nota: a Resolução CMN 4.966 (jan/25) explica cerca de 40% da alta da inadimplência desde dez/24 (BCB).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Drivers do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consumo em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O consumo deve voltar a acelerar devagar: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impulsos de renda e juros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 competem com o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peso da dívida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A73E8"/>
                </a:solidFill>
                <a:latin typeface="Century Gothic"/>
              </a:rPr>
              <a:t>Impulsos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651760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560320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Selic em queda: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de 15,00% para 13,75%; Focus espera 11,75% no fim de 2027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01568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310127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Bolsa Família: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reajuste de ~15% nos benefícios desde outubro/26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151375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059935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Fim das bets: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MP 1.394; R$ 37 bi apostados em 2025 (0,4% da renda)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901183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809744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Novo Desenrola: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renegociação de dívidas a partir de fevereiro/27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650992"/>
            <a:ext cx="384048" cy="38404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559552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Renda do trabalho: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desemprego baixo e massa salarial ainda em 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574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28C00"/>
                </a:solidFill>
                <a:latin typeface="Century Gothic"/>
              </a:rPr>
              <a:t>Freios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2651760"/>
            <a:ext cx="384048" cy="384048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2560320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Serviço da dívida: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comprometimento de renda recorde (28,7%)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401568"/>
            <a:ext cx="384048" cy="384048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310127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Inadimplência: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PF em 8,0%, máxima da série; bancos mais seletivos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4151375"/>
            <a:ext cx="384048" cy="384048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059935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Poupança precaucional: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incerteza pós-eleitoral, fiscal e geopolítica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4901183"/>
            <a:ext cx="384048" cy="384048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4809744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Trabalho no limite: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pouca mão de obra ociosa; massa salarial desacelera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5650992"/>
            <a:ext cx="384048" cy="384048"/>
          </a:xfrm>
          <a:prstGeom prst="ellipse">
            <a:avLst/>
          </a:prstGeom>
          <a:solidFill>
            <a:srgbClr val="F2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5559552"/>
            <a:ext cx="4846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0D0D0D"/>
                </a:solidFill>
                <a:latin typeface="Century Gothic"/>
              </a:rPr>
              <a:t>Alimentos e energia: 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petróleo e El Niño ameaçam a renda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Ipea (2026), BCB (2026) e Observatório FIESC (2026)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Contas públicas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D9DCE6"/>
                </a:solidFill>
                <a:latin typeface="Century Gothic"/>
              </a:rPr>
              <a:t>O ajuste de 2027 é inevitável, qualquer que seja o governo: a dívida segue em alta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Divergência sobre o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resultado primário de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O orçamento de 2027 prevê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superávit e cumprimento da meta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; a mediana do mercado espera déficit e resultado abaixo do piso. As despesas obrigatórias crescem acima do limite do arcabouço.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Resultado primário do Governo Central em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Em R$ bilhões: PLOA 2027 x mediana do mercado.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67665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98079" y="2240280"/>
            <a:ext cx="425196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Meta de 2027: superávit de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R$ 73 bi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(0,5% do PIB); piso de R$ 37 bi.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Previdência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+4,0%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e pessoal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+6,7%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reais em 2026, acima do limite de 2,5%.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Bolsa Família e fim das bets: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R$ 27,8 bi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a menos frente ao PLOA.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Focus: primário de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-0,30% do PIB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em 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BCB (2026), STN (2026), Ipea (2026) e Observatório FIESC (2026)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Dívida pública em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trajetória ascendente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A dívida bruta chegou a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82,9% do PIB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 em agosto. O mercado projeta 90,1% em 2028; o Tesouro vê pico de 88% em 2029. Com juros implícitos de ~13% a.a., a dívida cresce mesmo com déficit pequeno.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Dívida bruta (DBGG) e líquida (DLSP) do setor público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Em % do PIB, fim de ano (2026: agosto) e projeções.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7863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2240280"/>
            <a:ext cx="315468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Mantida a tendência, a dívida bruta chega a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100% do PIB em 2033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(Focus de set/26).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Custo: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~13% a.a.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de taxa implícita; LFT a 15%.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 i="0">
                <a:solidFill>
                  <a:srgbClr val="1A73E8"/>
                </a:solidFill>
                <a:latin typeface="Century Gothic"/>
              </a:rPr>
              <a:t>Regra de bolso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: se os juros superam o crescimento nominal do PIB, só superávit primário estabiliza a dívida.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BCB (2026), Tesouro Nacional (2026) e Observatório FIESC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entury Gothic"/>
              </a:rPr>
              <a:t>Projeções: Focus de 23/10/2026 (2027–2028) e Relatório de Projeções Fiscais do Tesouro (1º sem./2026).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Produtividade e educação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D9DCE6"/>
                </a:solidFill>
                <a:latin typeface="Century Gothic"/>
              </a:rPr>
              <a:t>Sem ganho de produtividade, o crescimento potencial segue perto de 2% ao ano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Produtividade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estagnada há três décadas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O trabalhador brasileiro produz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cerca de um quarto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 do que produz um trabalhador americano, proporção menor que em 1991. Coreia, Chile e China avançaram; o Brasil ficou para trás.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PIB por pessoa ocupada em relação aos EUA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Em % (EUA = 100), US$ PPC constantes de 2021, 1991–2025.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7863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2240280"/>
            <a:ext cx="315468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Brasil: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26,7% dos EUA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em 2025 (34,7% em 1991).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Crescimento médio de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0,8% a.a.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desde 1991 (EUA: 1,6%; Coreia: 3,0%).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O crescimento veio de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mais trabalhadores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, não de mais produção por trabalhador — e esse motor se esgotou.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Banco Mundial (2026) e Observatório FIESC (2026)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Formação em tecnologia e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produtividade nas UFs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Entre 2012 e 2023, a produtividade do trabalho no Brasil ficou praticamente parada (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-0,04% ao ano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). Os estados que mais avançaram foram os da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fronteira agrícola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, não os que mais formam em tecnologia.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Produtividade x formação em Computação e TIC, por 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Eixo X: concluintes de graduação em TIC por 100 mil hab. (2024). Eixo Y: crescimento médio anual do PIB real por ocupado, 2012–2023 (%).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971800"/>
          <a:ext cx="786384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2240280"/>
            <a:ext cx="315468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500" b="0" i="0">
                <a:solidFill>
                  <a:srgbClr val="0D0D0D"/>
                </a:solidFill>
                <a:latin typeface="Century Gothic"/>
              </a:rPr>
              <a:t>Correlação de </a:t>
            </a:r>
            <a:r>
              <a:rPr sz="1500" b="1" i="0">
                <a:solidFill>
                  <a:srgbClr val="1A73E8"/>
                </a:solidFill>
                <a:latin typeface="Century Gothic"/>
              </a:rPr>
              <a:t>-0,27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: formar mais em TIC não garantiu, sozinho, ganho de produtividade.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500" b="0" i="0">
                <a:solidFill>
                  <a:srgbClr val="0D0D0D"/>
                </a:solidFill>
                <a:latin typeface="Century Gothic"/>
              </a:rPr>
              <a:t>SC forma </a:t>
            </a:r>
            <a:r>
              <a:rPr sz="1500" b="1" i="0">
                <a:solidFill>
                  <a:srgbClr val="1A73E8"/>
                </a:solidFill>
                <a:latin typeface="Century Gothic"/>
              </a:rPr>
              <a:t>47 concluintes em TIC por 100 mil hab.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 (Brasil: 47), mas a produtividade variou -0,35% a.a.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500" b="0" i="0">
                <a:solidFill>
                  <a:srgbClr val="0D0D0D"/>
                </a:solidFill>
                <a:latin typeface="Century Gothic"/>
              </a:rPr>
              <a:t>Capital humano é condição necessária: precisa vir com </a:t>
            </a:r>
            <a:r>
              <a:rPr sz="1500" b="1" i="0">
                <a:solidFill>
                  <a:srgbClr val="1A73E8"/>
                </a:solidFill>
                <a:latin typeface="Century Gothic"/>
              </a:rPr>
              <a:t>investimento e inovação</a:t>
            </a:r>
            <a:r>
              <a:rPr sz="1500" b="0" i="0">
                <a:solidFill>
                  <a:srgbClr val="0D0D0D"/>
                </a:solidFill>
                <a:latin typeface="Century Gothic"/>
              </a:rPr>
              <a:t> nas empresas.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IBGE (2026), INEP/MEC (2025) e Observatório FIESC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65683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entury Gothic"/>
              </a:rPr>
              <a:t>Nota: PIB real das Contas Regionais por pessoa ocupada (PNAD Contínua, média anual). Concluintes na área CINE "Computação e TIC", presencial e EAD, pela UF do curso/polo.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Desempenho no PISA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ainda distante da OCDE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No PISA 2025, o Brasil ficou estável e reduziu a distância para a OCDE desde 2006, mas a diferença em matemática ainda equivale a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cerca de 4,6 anos de escolaridade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1" i="0">
                <a:solidFill>
                  <a:srgbClr val="1A73E8"/>
                </a:solidFill>
                <a:latin typeface="Century Gothic"/>
              </a:rPr>
              <a:t>PISA 2025: pontuação média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374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0D0D0D"/>
                </a:solidFill>
                <a:latin typeface="Century Gothic"/>
              </a:rPr>
              <a:t>Brasil x média da OCDE, em pontos.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20040" y="2743200"/>
          <a:ext cx="7863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2240280"/>
            <a:ext cx="3154680" cy="4160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Só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28% dos alunos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atingem o nível básico em matemática (OCDE: 65%).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Distância em matemática caiu de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131 para 92 pontos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desde 2006 (20 pontos ≈ 1 ano escolar).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0" i="0">
                <a:solidFill>
                  <a:srgbClr val="0D0D0D"/>
                </a:solidFill>
                <a:latin typeface="Century Gothic"/>
              </a:rPr>
              <a:t>Novo domínio digital: Brasil </a:t>
            </a:r>
            <a:r>
              <a:rPr sz="1600" b="1" i="0">
                <a:solidFill>
                  <a:srgbClr val="1A73E8"/>
                </a:solidFill>
                <a:latin typeface="Century Gothic"/>
              </a:rPr>
              <a:t>406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 x OCDE 500.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OCDE (2026), INEP (2026) e Observatório FIESC (2026)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5989320"/>
            <a:ext cx="2508069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2148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8FB8F2"/>
                </a:solidFill>
                <a:latin typeface="Century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804672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Gothic"/>
              </a:rPr>
              <a:t>Agenda 2027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069080"/>
            <a:ext cx="36576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420624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D9DCE6"/>
                </a:solidFill>
                <a:latin typeface="Century Gothic"/>
              </a:rPr>
              <a:t>O que observar no primeiro ano do novo governo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Agenda econômica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para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4630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Regra fiscal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0D0D0D"/>
                </a:solidFill>
                <a:latin typeface="Century Gothic"/>
              </a:rPr>
              <a:t>Meta de 0,5% do PIB, gatilhos da LC 235 e revisão de despesas obrigatórias.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73E8"/>
                </a:solidFill>
                <a:latin typeface="Century Gothic"/>
              </a:rPr>
              <a:t>Indicador: </a:t>
            </a:r>
            <a:r>
              <a:rPr sz="1400" b="0" i="0">
                <a:solidFill>
                  <a:srgbClr val="1A73E8"/>
                </a:solidFill>
                <a:latin typeface="Century Gothic"/>
              </a:rPr>
              <a:t>Primário e dívida bruta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675887"/>
            <a:ext cx="35204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97680" y="146304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4630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Juros e inflação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21408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0D0D0D"/>
                </a:solidFill>
                <a:latin typeface="Century Gothic"/>
              </a:rPr>
              <a:t>Corte da Selic depende de expectativas ancoradas e de credibilidade fiscal.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461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73E8"/>
                </a:solidFill>
                <a:latin typeface="Century Gothic"/>
              </a:rPr>
              <a:t>Indicador: </a:t>
            </a:r>
            <a:r>
              <a:rPr sz="1400" b="0" i="0">
                <a:solidFill>
                  <a:srgbClr val="1A73E8"/>
                </a:solidFill>
                <a:latin typeface="Century Gothic"/>
              </a:rPr>
              <a:t>Focus e Copom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0" y="3675887"/>
            <a:ext cx="35204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092440" y="146304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146304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Famílias e crédito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121408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0D0D0D"/>
                </a:solidFill>
                <a:latin typeface="Century Gothic"/>
              </a:rPr>
              <a:t>Novo Desenrola, fim das bets e juros menores aliviam o serviço da dívida.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2461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73E8"/>
                </a:solidFill>
                <a:latin typeface="Century Gothic"/>
              </a:rPr>
              <a:t>Indicador: </a:t>
            </a:r>
            <a:r>
              <a:rPr sz="1400" b="0" i="0">
                <a:solidFill>
                  <a:srgbClr val="1A73E8"/>
                </a:solidFill>
                <a:latin typeface="Century Gothic"/>
              </a:rPr>
              <a:t>Comprometimento de renda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92440" y="3675887"/>
            <a:ext cx="35204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2920" y="397763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977639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Reforma tributária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36007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0D0D0D"/>
                </a:solidFill>
                <a:latin typeface="Century Gothic"/>
              </a:rPr>
              <a:t>2027: CBS substitui PIS/Cofins, IPI zerado (exceto ZFM) e início do Imposto Seletivo.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07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73E8"/>
                </a:solidFill>
                <a:latin typeface="Century Gothic"/>
              </a:rPr>
              <a:t>Indicador: </a:t>
            </a:r>
            <a:r>
              <a:rPr sz="1400" b="0" i="0">
                <a:solidFill>
                  <a:srgbClr val="1A73E8"/>
                </a:solidFill>
                <a:latin typeface="Century Gothic"/>
              </a:rPr>
              <a:t>Preços e arrecadação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190488"/>
            <a:ext cx="35204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297680" y="397763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3977639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Produtividade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636007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0D0D0D"/>
                </a:solidFill>
                <a:latin typeface="Century Gothic"/>
              </a:rPr>
              <a:t>Educação básica, inovação e infraestrutura definem o crescimento potencial.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7607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73E8"/>
                </a:solidFill>
                <a:latin typeface="Century Gothic"/>
              </a:rPr>
              <a:t>Indicador: </a:t>
            </a:r>
            <a:r>
              <a:rPr sz="1400" b="0" i="0">
                <a:solidFill>
                  <a:srgbClr val="1A73E8"/>
                </a:solidFill>
                <a:latin typeface="Century Gothic"/>
              </a:rPr>
              <a:t>PIB por trabalhador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297680" y="6190488"/>
            <a:ext cx="35204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092440" y="3977639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14232" y="3977639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D0D0D"/>
                </a:solidFill>
                <a:latin typeface="Century Gothic"/>
              </a:rPr>
              <a:t>Cenário externo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636007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500" b="0" i="0">
                <a:solidFill>
                  <a:srgbClr val="0D0D0D"/>
                </a:solidFill>
                <a:latin typeface="Century Gothic"/>
              </a:rPr>
              <a:t>Petróleo, juros americanos e tarifas; o real amortece choques de commodities.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76072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1A73E8"/>
                </a:solidFill>
                <a:latin typeface="Century Gothic"/>
              </a:rPr>
              <a:t>Indicador: </a:t>
            </a:r>
            <a:r>
              <a:rPr sz="1400" b="0" i="0">
                <a:solidFill>
                  <a:srgbClr val="1A73E8"/>
                </a:solidFill>
                <a:latin typeface="Century Gothic"/>
              </a:rPr>
              <a:t>Brent e câmbio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092440" y="6190488"/>
            <a:ext cx="35204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Ipea (2026), BCB (2026), Brasil (2025) e Observatório FIESC (2026)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"/>
            <a:ext cx="1040457" cy="2468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61320" y="24688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200" b="0" i="0">
                <a:solidFill>
                  <a:srgbClr val="0D0D0D"/>
                </a:solidFill>
                <a:latin typeface="Century Gothic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338560" cy="603504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3600" b="0" i="0">
                <a:solidFill>
                  <a:srgbClr val="0D0D0D"/>
                </a:solidFill>
                <a:latin typeface="Century Gothic"/>
              </a:rPr>
              <a:t>Balanço de </a:t>
            </a:r>
            <a:r>
              <a:rPr sz="3600" b="0" i="0">
                <a:solidFill>
                  <a:srgbClr val="1A73E8"/>
                </a:solidFill>
                <a:latin typeface="Century Gothic"/>
              </a:rPr>
              <a:t>riscos para 2027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4632" y="1161288"/>
            <a:ext cx="21031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243584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D0D0D"/>
                </a:solidFill>
                <a:latin typeface="Century Gothic"/>
              </a:rPr>
              <a:t>O cenário central é de crescimento de </a:t>
            </a:r>
            <a:r>
              <a:rPr sz="1800" b="1" i="0">
                <a:solidFill>
                  <a:srgbClr val="1A73E8"/>
                </a:solidFill>
                <a:latin typeface="Century Gothic"/>
              </a:rPr>
              <a:t>1,3%</a:t>
            </a:r>
            <a:r>
              <a:rPr sz="1800" b="0" i="0">
                <a:solidFill>
                  <a:srgbClr val="0D0D0D"/>
                </a:solidFill>
                <a:latin typeface="Century Gothic"/>
              </a:rPr>
              <a:t> e inflação em queda lenta. Os riscos estão dos dois lados.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28C00"/>
                </a:solidFill>
                <a:latin typeface="Century Gothic"/>
              </a:rPr>
              <a:t>Para pior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578608"/>
            <a:ext cx="5394960" cy="0"/>
          </a:xfrm>
          <a:prstGeom prst="line">
            <a:avLst/>
          </a:prstGeom>
          <a:ln w="15875">
            <a:solidFill>
              <a:srgbClr val="F2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743200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Fiscal: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meta revisada ou ajuste adiado elevam o prêmio de risco.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Petróleo e guerra: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pressão sobre combustíveis, fretes e alimentos.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Juros globais: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novas altas do Fed e Treasury de 10 anos a 5%.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Clima: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El Niño afeta safra e energia.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Crédito: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inadimplência recorde trava a oferta às famílias.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1A73E8"/>
                </a:solidFill>
                <a:latin typeface="Century Gothic"/>
              </a:rPr>
              <a:t>Para melhor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0" y="2578608"/>
            <a:ext cx="5394960" cy="0"/>
          </a:xfrm>
          <a:prstGeom prst="line">
            <a:avLst/>
          </a:prstGeom>
          <a:ln w="15875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9360" y="2743200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Credibilidade: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ajuste crível nas obrigatórias acelera a queda da Selic.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Commodities: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petróleo e agro sustentam câmbio e receitas.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Famílias: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Desenrola e fim das bets liberam renda.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Desinflação: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atividade mais fraca alivia serviços.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0D0D0D"/>
                </a:solidFill>
                <a:latin typeface="Century Gothic"/>
              </a:rPr>
              <a:t>Investimento: </a:t>
            </a:r>
            <a:r>
              <a:rPr sz="1600" b="0" i="0">
                <a:solidFill>
                  <a:srgbClr val="0D0D0D"/>
                </a:solidFill>
                <a:latin typeface="Century Gothic"/>
              </a:rPr>
              <a:t>juros menores destravam FBCF e construção.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0D0D0D"/>
                </a:solidFill>
                <a:latin typeface="Century Gothic"/>
              </a:rPr>
              <a:t>Fonte: Ipea (2026), BCB (2026) e Observatório FIESC (2026)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6126480"/>
            <a:ext cx="2351314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" y="548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400" b="1" i="0">
                <a:solidFill>
                  <a:srgbClr val="FFFFFF"/>
                </a:solidFill>
                <a:latin typeface="Century Gothic"/>
              </a:rPr>
              <a:t>Mensagens finais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274320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FFFFFF"/>
                </a:solidFill>
                <a:latin typeface="Century Gothic"/>
              </a:rPr>
              <a:t>2027 começa com PIB desacelerando (1,3% no Focus), desemprego mínimo e inflação acima da meta.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32888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FFFFFF"/>
                </a:solidFill>
                <a:latin typeface="Century Gothic"/>
              </a:rPr>
              <a:t>O consumo perdeu fôlego pelo peso da dívida, não por falta de renda: comprometimento recorde e poupança em alta.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74136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FFFFFF"/>
                </a:solidFill>
                <a:latin typeface="Century Gothic"/>
              </a:rPr>
              <a:t>O ajuste fiscal é inevitável: a dívida bruta caminha para 90% do PIB em 2028.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15384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FFFFFF"/>
                </a:solidFill>
                <a:latin typeface="Century Gothic"/>
              </a:rPr>
              <a:t>Juros só caem de forma sustentada com credibilidade fiscal: é o elo entre o fiscal e as famílias.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056632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FFFFFF"/>
                </a:solidFill>
                <a:latin typeface="Century Gothic"/>
              </a:rPr>
              <a:t>No longo prazo, o teto é a produtividade: formação e inovação precisam chegar às empresas.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142C45-182D-4058-8F41-2F5C3C44E06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d95aa2c-75db-4488-87e1-a68cdba316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396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Montserrat SemiBold</vt:lpstr>
      <vt:lpstr>Tema do Office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GIULIANO MANERA LONGHI</dc:creator>
  <cp:lastModifiedBy>BRUNO HAEMING</cp:lastModifiedBy>
  <cp:revision>44</cp:revision>
  <dcterms:created xsi:type="dcterms:W3CDTF">2026-07-28T19:26:35Z</dcterms:created>
  <dcterms:modified xsi:type="dcterms:W3CDTF">2026-09-15T11:28:56Z</dcterms:modified>
</cp:coreProperties>
</file>