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charts/chart8.xml" ContentType="application/vnd.openxmlformats-officedocument.drawingml.chart+xml"/>
  <Override PartName="/ppt/notesSlides/notesSlide12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1.xml" ContentType="application/vnd.openxmlformats-officedocument.drawingml.chart+xml"/>
  <Override PartName="/ppt/notesSlides/notesSlide16.xml" ContentType="application/vnd.openxmlformats-officedocument.presentationml.notesSlide+xml"/>
  <Override PartName="/ppt/charts/chart12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3.xml" ContentType="application/vnd.openxmlformats-officedocument.drawingml.chart+xml"/>
  <Override PartName="/ppt/notesSlides/notesSlide19.xml" ContentType="application/vnd.openxmlformats-officedocument.presentationml.notesSlide+xml"/>
  <Override PartName="/ppt/charts/chart14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5"/>
  </p:notesMasterIdLst>
  <p:sldIdLst>
    <p:sldId id="4051" r:id="rId3"/>
    <p:sldId id="4052" r:id="rId4"/>
    <p:sldId id="4053" r:id="rId5"/>
    <p:sldId id="4054" r:id="rId6"/>
    <p:sldId id="4055" r:id="rId7"/>
    <p:sldId id="4056" r:id="rId8"/>
    <p:sldId id="4057" r:id="rId9"/>
    <p:sldId id="4058" r:id="rId10"/>
    <p:sldId id="4059" r:id="rId11"/>
    <p:sldId id="4060" r:id="rId12"/>
    <p:sldId id="4061" r:id="rId13"/>
    <p:sldId id="4062" r:id="rId14"/>
    <p:sldId id="4063" r:id="rId15"/>
    <p:sldId id="4064" r:id="rId16"/>
    <p:sldId id="4065" r:id="rId17"/>
    <p:sldId id="4066" r:id="rId18"/>
    <p:sldId id="4067" r:id="rId19"/>
    <p:sldId id="4068" r:id="rId20"/>
    <p:sldId id="4069" r:id="rId21"/>
    <p:sldId id="4070" r:id="rId22"/>
    <p:sldId id="4071" r:id="rId23"/>
    <p:sldId id="4072" r:id="rId24"/>
    <p:sldId id="4073" r:id="rId25"/>
    <p:sldId id="4074" r:id="rId26"/>
    <p:sldId id="4040" r:id="rId27"/>
    <p:sldId id="4041" r:id="rId28"/>
    <p:sldId id="4044" r:id="rId29"/>
    <p:sldId id="4045" r:id="rId30"/>
    <p:sldId id="4047" r:id="rId31"/>
    <p:sldId id="4048" r:id="rId32"/>
    <p:sldId id="4049" r:id="rId33"/>
    <p:sldId id="4050" r:id="rId3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6DE2"/>
    <a:srgbClr val="0077FC"/>
    <a:srgbClr val="2D8EFA"/>
    <a:srgbClr val="F6F6F0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o Haeming" userId="1f20289039c5bca1" providerId="LiveId" clId="{0205A383-5CB1-46F4-B940-4017E214C5FC}"/>
    <pc:docChg chg="custSel modSld">
      <pc:chgData name="Bruno Haeming" userId="1f20289039c5bca1" providerId="LiveId" clId="{0205A383-5CB1-46F4-B940-4017E214C5FC}" dt="2026-10-27T07:22:35.795" v="6" actId="478"/>
      <pc:docMkLst>
        <pc:docMk/>
      </pc:docMkLst>
      <pc:sldChg chg="delSp modSp mod">
        <pc:chgData name="Bruno Haeming" userId="1f20289039c5bca1" providerId="LiveId" clId="{0205A383-5CB1-46F4-B940-4017E214C5FC}" dt="2026-10-27T07:22:12.977" v="5" actId="478"/>
        <pc:sldMkLst>
          <pc:docMk/>
          <pc:sldMk cId="0" sldId="4052"/>
        </pc:sldMkLst>
        <pc:spChg chg="del">
          <ac:chgData name="Bruno Haeming" userId="1f20289039c5bca1" providerId="LiveId" clId="{0205A383-5CB1-46F4-B940-4017E214C5FC}" dt="2026-10-27T07:22:09.460" v="0" actId="478"/>
          <ac:spMkLst>
            <pc:docMk/>
            <pc:sldMk cId="0" sldId="4052"/>
            <ac:spMk id="6" creationId="{00000000-0000-0000-0000-000000000000}"/>
          </ac:spMkLst>
        </pc:spChg>
        <pc:spChg chg="del">
          <ac:chgData name="Bruno Haeming" userId="1f20289039c5bca1" providerId="LiveId" clId="{0205A383-5CB1-46F4-B940-4017E214C5FC}" dt="2026-10-27T07:22:10.797" v="1" actId="478"/>
          <ac:spMkLst>
            <pc:docMk/>
            <pc:sldMk cId="0" sldId="4052"/>
            <ac:spMk id="10" creationId="{00000000-0000-0000-0000-000000000000}"/>
          </ac:spMkLst>
        </pc:spChg>
        <pc:spChg chg="del mod">
          <ac:chgData name="Bruno Haeming" userId="1f20289039c5bca1" providerId="LiveId" clId="{0205A383-5CB1-46F4-B940-4017E214C5FC}" dt="2026-10-27T07:22:11.346" v="3" actId="478"/>
          <ac:spMkLst>
            <pc:docMk/>
            <pc:sldMk cId="0" sldId="4052"/>
            <ac:spMk id="14" creationId="{00000000-0000-0000-0000-000000000000}"/>
          </ac:spMkLst>
        </pc:spChg>
        <pc:spChg chg="del">
          <ac:chgData name="Bruno Haeming" userId="1f20289039c5bca1" providerId="LiveId" clId="{0205A383-5CB1-46F4-B940-4017E214C5FC}" dt="2026-10-27T07:22:12.154" v="4" actId="478"/>
          <ac:spMkLst>
            <pc:docMk/>
            <pc:sldMk cId="0" sldId="4052"/>
            <ac:spMk id="18" creationId="{00000000-0000-0000-0000-000000000000}"/>
          </ac:spMkLst>
        </pc:spChg>
        <pc:spChg chg="del">
          <ac:chgData name="Bruno Haeming" userId="1f20289039c5bca1" providerId="LiveId" clId="{0205A383-5CB1-46F4-B940-4017E214C5FC}" dt="2026-10-27T07:22:12.977" v="5" actId="478"/>
          <ac:spMkLst>
            <pc:docMk/>
            <pc:sldMk cId="0" sldId="4052"/>
            <ac:spMk id="22" creationId="{00000000-0000-0000-0000-000000000000}"/>
          </ac:spMkLst>
        </pc:spChg>
      </pc:sldChg>
      <pc:sldChg chg="delSp mod">
        <pc:chgData name="Bruno Haeming" userId="1f20289039c5bca1" providerId="LiveId" clId="{0205A383-5CB1-46F4-B940-4017E214C5FC}" dt="2026-10-27T07:22:35.795" v="6" actId="478"/>
        <pc:sldMkLst>
          <pc:docMk/>
          <pc:sldMk cId="0" sldId="4053"/>
        </pc:sldMkLst>
        <pc:spChg chg="del">
          <ac:chgData name="Bruno Haeming" userId="1f20289039c5bca1" providerId="LiveId" clId="{0205A383-5CB1-46F4-B940-4017E214C5FC}" dt="2026-10-27T07:22:35.795" v="6" actId="478"/>
          <ac:spMkLst>
            <pc:docMk/>
            <pc:sldMk cId="0" sldId="4053"/>
            <ac:spMk id="4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ago/25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rgbClr val="3C3C3C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EUA</c:v>
                </c:pt>
                <c:pt idx="1">
                  <c:v>Área do Euro</c:v>
                </c:pt>
                <c:pt idx="2">
                  <c:v>China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1.7</c:v>
                </c:pt>
                <c:pt idx="1">
                  <c:v>1.1000000000000001</c:v>
                </c:pt>
                <c:pt idx="2">
                  <c:v>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10-475D-8AFF-CAC107AC51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fev/26</c:v>
                </c:pt>
              </c:strCache>
            </c:strRef>
          </c:tx>
          <c:spPr>
            <a:solidFill>
              <a:srgbClr val="8FB8F2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rgbClr val="3C3C3C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EUA</c:v>
                </c:pt>
                <c:pt idx="1">
                  <c:v>Área do Euro</c:v>
                </c:pt>
                <c:pt idx="2">
                  <c:v>China</c:v>
                </c:pt>
              </c:strCache>
            </c:strRef>
          </c:cat>
          <c:val>
            <c:numRef>
              <c:f>Sheet1!$C$2:$C$4</c:f>
              <c:numCache>
                <c:formatCode>0.0</c:formatCode>
                <c:ptCount val="3"/>
                <c:pt idx="0">
                  <c:v>2.5</c:v>
                </c:pt>
                <c:pt idx="1">
                  <c:v>1.2</c:v>
                </c:pt>
                <c:pt idx="2">
                  <c:v>4.5999999999999996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310-475D-8AFF-CAC107AC51E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ago/26</c:v>
                </c:pt>
              </c:strCache>
            </c:strRef>
          </c:tx>
          <c:spPr>
            <a:solidFill>
              <a:srgbClr val="1A6FE0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rgbClr val="3C3C3C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EUA</c:v>
                </c:pt>
                <c:pt idx="1">
                  <c:v>Área do Euro</c:v>
                </c:pt>
                <c:pt idx="2">
                  <c:v>China</c:v>
                </c:pt>
              </c:strCache>
            </c:strRef>
          </c:cat>
          <c:val>
            <c:numRef>
              <c:f>Sheet1!$D$2:$D$4</c:f>
              <c:numCache>
                <c:formatCode>0.0</c:formatCode>
                <c:ptCount val="3"/>
                <c:pt idx="0">
                  <c:v>2.1</c:v>
                </c:pt>
                <c:pt idx="1">
                  <c:v>0.8</c:v>
                </c:pt>
                <c:pt idx="2">
                  <c:v>4.5999999999999996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310-475D-8AFF-CAC107AC51E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1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.5"/>
          <c:min val="0"/>
        </c:scaling>
        <c:delete val="0"/>
        <c:axPos val="l"/>
        <c:majorGridlines>
          <c:spPr>
            <a:ln w="9525">
              <a:solidFill>
                <a:srgbClr val="DDDDD8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  <c:crossBetween val="between"/>
        <c:majorUnit val="1"/>
      </c:valAx>
    </c:plotArea>
    <c:legend>
      <c:legendPos val="t"/>
      <c:overlay val="0"/>
      <c:txPr>
        <a:bodyPr/>
        <a:lstStyle/>
        <a:p>
          <a:pPr>
            <a:defRPr sz="1100">
              <a:solidFill>
                <a:srgbClr val="3C3C3C"/>
              </a:solidFill>
            </a:defRPr>
          </a:pPr>
          <a:endParaRPr lang="pt-BR"/>
        </a:p>
      </c:txPr>
    </c:legend>
    <c:plotVisOnly val="1"/>
    <c:dispBlanksAs val="gap"/>
    <c:showDLblsOverMax val="1"/>
  </c:chart>
  <c:txPr>
    <a:bodyPr/>
    <a:lstStyle/>
    <a:p>
      <a:pPr>
        <a:defRPr sz="1100">
          <a:solidFill>
            <a:srgbClr val="6B6B6B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PIB</c:v>
                </c:pt>
              </c:strCache>
            </c:strRef>
          </c:tx>
          <c:spPr>
            <a:solidFill>
              <a:srgbClr val="1A6FE0"/>
            </a:solidFill>
          </c:spPr>
          <c:invertIfNegative val="0"/>
          <c:dLbls>
            <c:dLbl>
              <c:idx val="29"/>
              <c:numFmt formatCode="0.0" sourceLinked="0"/>
              <c:spPr/>
              <c:txPr>
                <a:bodyPr/>
                <a:lstStyle/>
                <a:p>
                  <a:pPr>
                    <a:defRPr sz="1200" b="1">
                      <a:solidFill>
                        <a:srgbClr val="1A6FE0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82F-45FC-A906-B4699DF9931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Sheet1!$A$2:$A$31</c:f>
              <c:strCache>
                <c:ptCount val="30"/>
                <c:pt idx="0">
                  <c:v>1T19</c:v>
                </c:pt>
                <c:pt idx="1">
                  <c:v>2T19</c:v>
                </c:pt>
                <c:pt idx="2">
                  <c:v>3T19</c:v>
                </c:pt>
                <c:pt idx="3">
                  <c:v>4T19</c:v>
                </c:pt>
                <c:pt idx="4">
                  <c:v>1T20</c:v>
                </c:pt>
                <c:pt idx="5">
                  <c:v>2T20</c:v>
                </c:pt>
                <c:pt idx="6">
                  <c:v>3T20</c:v>
                </c:pt>
                <c:pt idx="7">
                  <c:v>4T20</c:v>
                </c:pt>
                <c:pt idx="8">
                  <c:v>1T21</c:v>
                </c:pt>
                <c:pt idx="9">
                  <c:v>2T21</c:v>
                </c:pt>
                <c:pt idx="10">
                  <c:v>3T21</c:v>
                </c:pt>
                <c:pt idx="11">
                  <c:v>4T21</c:v>
                </c:pt>
                <c:pt idx="12">
                  <c:v>1T22</c:v>
                </c:pt>
                <c:pt idx="13">
                  <c:v>2T22</c:v>
                </c:pt>
                <c:pt idx="14">
                  <c:v>3T22</c:v>
                </c:pt>
                <c:pt idx="15">
                  <c:v>4T22</c:v>
                </c:pt>
                <c:pt idx="16">
                  <c:v>1T23</c:v>
                </c:pt>
                <c:pt idx="17">
                  <c:v>2T23</c:v>
                </c:pt>
                <c:pt idx="18">
                  <c:v>3T23</c:v>
                </c:pt>
                <c:pt idx="19">
                  <c:v>4T23</c:v>
                </c:pt>
                <c:pt idx="20">
                  <c:v>1T24</c:v>
                </c:pt>
                <c:pt idx="21">
                  <c:v>2T24</c:v>
                </c:pt>
                <c:pt idx="22">
                  <c:v>3T24</c:v>
                </c:pt>
                <c:pt idx="23">
                  <c:v>4T24</c:v>
                </c:pt>
                <c:pt idx="24">
                  <c:v>1T25</c:v>
                </c:pt>
                <c:pt idx="25">
                  <c:v>2T25</c:v>
                </c:pt>
                <c:pt idx="26">
                  <c:v>3T25</c:v>
                </c:pt>
                <c:pt idx="27">
                  <c:v>4T25</c:v>
                </c:pt>
                <c:pt idx="28">
                  <c:v>1T26</c:v>
                </c:pt>
                <c:pt idx="29">
                  <c:v>2T26</c:v>
                </c:pt>
              </c:strCache>
            </c:strRef>
          </c:cat>
          <c:val>
            <c:numRef>
              <c:f>Sheet1!$B$2:$B$31</c:f>
              <c:numCache>
                <c:formatCode>0.0</c:formatCode>
                <c:ptCount val="30"/>
                <c:pt idx="0">
                  <c:v>1.5</c:v>
                </c:pt>
                <c:pt idx="1">
                  <c:v>1.4</c:v>
                </c:pt>
                <c:pt idx="2">
                  <c:v>1.2</c:v>
                </c:pt>
                <c:pt idx="3">
                  <c:v>1.2</c:v>
                </c:pt>
                <c:pt idx="4">
                  <c:v>1.1000000000000001</c:v>
                </c:pt>
                <c:pt idx="5">
                  <c:v>-1.7</c:v>
                </c:pt>
                <c:pt idx="6">
                  <c:v>-2.8</c:v>
                </c:pt>
                <c:pt idx="7">
                  <c:v>-3.3</c:v>
                </c:pt>
                <c:pt idx="8">
                  <c:v>-2.9</c:v>
                </c:pt>
                <c:pt idx="9">
                  <c:v>2.4</c:v>
                </c:pt>
                <c:pt idx="10">
                  <c:v>4.3</c:v>
                </c:pt>
                <c:pt idx="11">
                  <c:v>4.8</c:v>
                </c:pt>
                <c:pt idx="12">
                  <c:v>4.7</c:v>
                </c:pt>
                <c:pt idx="13">
                  <c:v>2.7</c:v>
                </c:pt>
                <c:pt idx="14">
                  <c:v>2.7</c:v>
                </c:pt>
                <c:pt idx="15">
                  <c:v>3</c:v>
                </c:pt>
                <c:pt idx="16">
                  <c:v>3.8</c:v>
                </c:pt>
                <c:pt idx="17">
                  <c:v>3.8</c:v>
                </c:pt>
                <c:pt idx="18">
                  <c:v>3.3</c:v>
                </c:pt>
                <c:pt idx="19">
                  <c:v>3.2</c:v>
                </c:pt>
                <c:pt idx="20">
                  <c:v>2.8</c:v>
                </c:pt>
                <c:pt idx="21">
                  <c:v>2.7</c:v>
                </c:pt>
                <c:pt idx="22">
                  <c:v>3.1</c:v>
                </c:pt>
                <c:pt idx="23">
                  <c:v>3.4</c:v>
                </c:pt>
                <c:pt idx="24">
                  <c:v>3.6</c:v>
                </c:pt>
                <c:pt idx="25">
                  <c:v>3.3</c:v>
                </c:pt>
                <c:pt idx="26">
                  <c:v>2.7</c:v>
                </c:pt>
                <c:pt idx="27">
                  <c:v>2.2999999999999998</c:v>
                </c:pt>
                <c:pt idx="28">
                  <c:v>2</c:v>
                </c:pt>
                <c:pt idx="29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82F-45FC-A906-B4699DF993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000"/>
            </a:pPr>
            <a:endParaRPr lang="pt-BR"/>
          </a:p>
        </c:txPr>
        <c:crossAx val="-2113994440"/>
        <c:crosses val="autoZero"/>
        <c:auto val="1"/>
        <c:lblAlgn val="ctr"/>
        <c:lblOffset val="100"/>
        <c:tickLblSkip val="2"/>
        <c:tickMarkSkip val="2"/>
        <c:noMultiLvlLbl val="0"/>
      </c:catAx>
      <c:valAx>
        <c:axId val="-2113994440"/>
        <c:scaling>
          <c:orientation val="minMax"/>
          <c:max val="6"/>
          <c:min val="-4"/>
        </c:scaling>
        <c:delete val="0"/>
        <c:axPos val="l"/>
        <c:majorGridlines>
          <c:spPr>
            <a:ln w="9525">
              <a:solidFill>
                <a:srgbClr val="DDDDD8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  <c:crossBetween val="between"/>
        <c:majorUnit val="2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6B6B6B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3C3C3C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Agropecuária</c:v>
                </c:pt>
                <c:pt idx="1">
                  <c:v>Indústria</c:v>
                </c:pt>
                <c:pt idx="2">
                  <c:v>Serviços</c:v>
                </c:pt>
                <c:pt idx="3">
                  <c:v>Consumo das famílias</c:v>
                </c:pt>
                <c:pt idx="4">
                  <c:v>Consumo do governo</c:v>
                </c:pt>
                <c:pt idx="5">
                  <c:v>Investimento (FBCF)</c:v>
                </c:pt>
                <c:pt idx="6">
                  <c:v>Exportações</c:v>
                </c:pt>
                <c:pt idx="7">
                  <c:v>Importações</c:v>
                </c:pt>
              </c:strCache>
            </c:strRef>
          </c:cat>
          <c:val>
            <c:numRef>
              <c:f>Sheet1!$B$2:$B$9</c:f>
              <c:numCache>
                <c:formatCode>0.0</c:formatCode>
                <c:ptCount val="8"/>
                <c:pt idx="0">
                  <c:v>11.7</c:v>
                </c:pt>
                <c:pt idx="1">
                  <c:v>1.4</c:v>
                </c:pt>
                <c:pt idx="2">
                  <c:v>1.8</c:v>
                </c:pt>
                <c:pt idx="3">
                  <c:v>1.3</c:v>
                </c:pt>
                <c:pt idx="4">
                  <c:v>2.1</c:v>
                </c:pt>
                <c:pt idx="5">
                  <c:v>2.9</c:v>
                </c:pt>
                <c:pt idx="6">
                  <c:v>6.2</c:v>
                </c:pt>
                <c:pt idx="7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49-487C-A857-88E0131E4E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 (proj.)</c:v>
                </c:pt>
              </c:strCache>
            </c:strRef>
          </c:tx>
          <c:spPr>
            <a:solidFill>
              <a:srgbClr val="1A6FE0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3C3C3C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Agropecuária</c:v>
                </c:pt>
                <c:pt idx="1">
                  <c:v>Indústria</c:v>
                </c:pt>
                <c:pt idx="2">
                  <c:v>Serviços</c:v>
                </c:pt>
                <c:pt idx="3">
                  <c:v>Consumo das famílias</c:v>
                </c:pt>
                <c:pt idx="4">
                  <c:v>Consumo do governo</c:v>
                </c:pt>
                <c:pt idx="5">
                  <c:v>Investimento (FBCF)</c:v>
                </c:pt>
                <c:pt idx="6">
                  <c:v>Exportações</c:v>
                </c:pt>
                <c:pt idx="7">
                  <c:v>Importações</c:v>
                </c:pt>
              </c:strCache>
            </c:strRef>
          </c:cat>
          <c:val>
            <c:numRef>
              <c:f>Sheet1!$C$2:$C$9</c:f>
              <c:numCache>
                <c:formatCode>0.0</c:formatCode>
                <c:ptCount val="8"/>
                <c:pt idx="0">
                  <c:v>3.4</c:v>
                </c:pt>
                <c:pt idx="1">
                  <c:v>1.8</c:v>
                </c:pt>
                <c:pt idx="2">
                  <c:v>1.8</c:v>
                </c:pt>
                <c:pt idx="3">
                  <c:v>1</c:v>
                </c:pt>
                <c:pt idx="4">
                  <c:v>2.2999999999999998</c:v>
                </c:pt>
                <c:pt idx="5">
                  <c:v>1.8</c:v>
                </c:pt>
                <c:pt idx="6">
                  <c:v>3.5</c:v>
                </c:pt>
                <c:pt idx="7">
                  <c:v>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49-487C-A857-88E0131E4EF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2027 (proj.)</c:v>
                </c:pt>
              </c:strCache>
            </c:strRef>
          </c:tx>
          <c:spPr>
            <a:solidFill>
              <a:srgbClr val="F28C00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3C3C3C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Agropecuária</c:v>
                </c:pt>
                <c:pt idx="1">
                  <c:v>Indústria</c:v>
                </c:pt>
                <c:pt idx="2">
                  <c:v>Serviços</c:v>
                </c:pt>
                <c:pt idx="3">
                  <c:v>Consumo das famílias</c:v>
                </c:pt>
                <c:pt idx="4">
                  <c:v>Consumo do governo</c:v>
                </c:pt>
                <c:pt idx="5">
                  <c:v>Investimento (FBCF)</c:v>
                </c:pt>
                <c:pt idx="6">
                  <c:v>Exportações</c:v>
                </c:pt>
                <c:pt idx="7">
                  <c:v>Importações</c:v>
                </c:pt>
              </c:strCache>
            </c:strRef>
          </c:cat>
          <c:val>
            <c:numRef>
              <c:f>Sheet1!$D$2:$D$9</c:f>
              <c:numCache>
                <c:formatCode>0.0</c:formatCode>
                <c:ptCount val="8"/>
                <c:pt idx="0">
                  <c:v>2.1</c:v>
                </c:pt>
                <c:pt idx="1">
                  <c:v>1.8</c:v>
                </c:pt>
                <c:pt idx="2">
                  <c:v>1.6</c:v>
                </c:pt>
                <c:pt idx="3">
                  <c:v>1.5</c:v>
                </c:pt>
                <c:pt idx="4">
                  <c:v>2</c:v>
                </c:pt>
                <c:pt idx="5">
                  <c:v>2</c:v>
                </c:pt>
                <c:pt idx="6">
                  <c:v>2.7</c:v>
                </c:pt>
                <c:pt idx="7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049-487C-A857-88E0131E4EF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1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3"/>
          <c:min val="0"/>
        </c:scaling>
        <c:delete val="0"/>
        <c:axPos val="l"/>
        <c:majorGridlines>
          <c:spPr>
            <a:ln w="9525">
              <a:solidFill>
                <a:srgbClr val="DDDDD8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  <c:crossBetween val="between"/>
        <c:majorUnit val="2"/>
      </c:valAx>
    </c:plotArea>
    <c:legend>
      <c:legendPos val="t"/>
      <c:overlay val="0"/>
      <c:txPr>
        <a:bodyPr/>
        <a:lstStyle/>
        <a:p>
          <a:pPr>
            <a:defRPr sz="1100">
              <a:solidFill>
                <a:srgbClr val="3C3C3C"/>
              </a:solidFill>
            </a:defRPr>
          </a:pPr>
          <a:endParaRPr lang="pt-BR"/>
        </a:p>
      </c:txPr>
    </c:legend>
    <c:plotVisOnly val="1"/>
    <c:dispBlanksAs val="gap"/>
    <c:showDLblsOverMax val="1"/>
  </c:chart>
  <c:txPr>
    <a:bodyPr/>
    <a:lstStyle/>
    <a:p>
      <a:pPr>
        <a:defRPr sz="1100">
          <a:solidFill>
            <a:srgbClr val="6B6B6B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IPCA 12m</c:v>
                </c:pt>
              </c:strCache>
            </c:strRef>
          </c:tx>
          <c:spPr>
            <a:ln w="31750">
              <a:solidFill>
                <a:srgbClr val="1A6FE0"/>
              </a:solidFill>
            </a:ln>
          </c:spPr>
          <c:marker>
            <c:symbol val="none"/>
          </c:marker>
          <c:dLbls>
            <c:dLbl>
              <c:idx val="68"/>
              <c:numFmt formatCode="0.00" sourceLinked="0"/>
              <c:spPr/>
              <c:txPr>
                <a:bodyPr/>
                <a:lstStyle/>
                <a:p>
                  <a:pPr>
                    <a:defRPr sz="1200" b="1">
                      <a:solidFill>
                        <a:srgbClr val="1A6FE0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3F9-4389-8C70-4F5EDC3E6F6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Sheet1!$A$2:$A$70</c:f>
              <c:strCache>
                <c:ptCount val="69"/>
                <c:pt idx="0">
                  <c:v>jan/21</c:v>
                </c:pt>
                <c:pt idx="1">
                  <c:v>fev/21</c:v>
                </c:pt>
                <c:pt idx="2">
                  <c:v>mar/21</c:v>
                </c:pt>
                <c:pt idx="3">
                  <c:v>abr/21</c:v>
                </c:pt>
                <c:pt idx="4">
                  <c:v>mai/21</c:v>
                </c:pt>
                <c:pt idx="5">
                  <c:v>jun/21</c:v>
                </c:pt>
                <c:pt idx="6">
                  <c:v>jul/21</c:v>
                </c:pt>
                <c:pt idx="7">
                  <c:v>ago/21</c:v>
                </c:pt>
                <c:pt idx="8">
                  <c:v>set/21</c:v>
                </c:pt>
                <c:pt idx="9">
                  <c:v>out/21</c:v>
                </c:pt>
                <c:pt idx="10">
                  <c:v>nov/21</c:v>
                </c:pt>
                <c:pt idx="11">
                  <c:v>dez/21</c:v>
                </c:pt>
                <c:pt idx="12">
                  <c:v>jan/22</c:v>
                </c:pt>
                <c:pt idx="13">
                  <c:v>fev/22</c:v>
                </c:pt>
                <c:pt idx="14">
                  <c:v>mar/22</c:v>
                </c:pt>
                <c:pt idx="15">
                  <c:v>abr/22</c:v>
                </c:pt>
                <c:pt idx="16">
                  <c:v>mai/22</c:v>
                </c:pt>
                <c:pt idx="17">
                  <c:v>jun/22</c:v>
                </c:pt>
                <c:pt idx="18">
                  <c:v>jul/22</c:v>
                </c:pt>
                <c:pt idx="19">
                  <c:v>ago/22</c:v>
                </c:pt>
                <c:pt idx="20">
                  <c:v>set/22</c:v>
                </c:pt>
                <c:pt idx="21">
                  <c:v>out/22</c:v>
                </c:pt>
                <c:pt idx="22">
                  <c:v>nov/22</c:v>
                </c:pt>
                <c:pt idx="23">
                  <c:v>dez/22</c:v>
                </c:pt>
                <c:pt idx="24">
                  <c:v>jan/23</c:v>
                </c:pt>
                <c:pt idx="25">
                  <c:v>fev/23</c:v>
                </c:pt>
                <c:pt idx="26">
                  <c:v>mar/23</c:v>
                </c:pt>
                <c:pt idx="27">
                  <c:v>abr/23</c:v>
                </c:pt>
                <c:pt idx="28">
                  <c:v>mai/23</c:v>
                </c:pt>
                <c:pt idx="29">
                  <c:v>jun/23</c:v>
                </c:pt>
                <c:pt idx="30">
                  <c:v>jul/23</c:v>
                </c:pt>
                <c:pt idx="31">
                  <c:v>ago/23</c:v>
                </c:pt>
                <c:pt idx="32">
                  <c:v>set/23</c:v>
                </c:pt>
                <c:pt idx="33">
                  <c:v>out/23</c:v>
                </c:pt>
                <c:pt idx="34">
                  <c:v>nov/23</c:v>
                </c:pt>
                <c:pt idx="35">
                  <c:v>dez/23</c:v>
                </c:pt>
                <c:pt idx="36">
                  <c:v>jan/24</c:v>
                </c:pt>
                <c:pt idx="37">
                  <c:v>fev/24</c:v>
                </c:pt>
                <c:pt idx="38">
                  <c:v>mar/24</c:v>
                </c:pt>
                <c:pt idx="39">
                  <c:v>abr/24</c:v>
                </c:pt>
                <c:pt idx="40">
                  <c:v>mai/24</c:v>
                </c:pt>
                <c:pt idx="41">
                  <c:v>jun/24</c:v>
                </c:pt>
                <c:pt idx="42">
                  <c:v>jul/24</c:v>
                </c:pt>
                <c:pt idx="43">
                  <c:v>ago/24</c:v>
                </c:pt>
                <c:pt idx="44">
                  <c:v>set/24</c:v>
                </c:pt>
                <c:pt idx="45">
                  <c:v>out/24</c:v>
                </c:pt>
                <c:pt idx="46">
                  <c:v>nov/24</c:v>
                </c:pt>
                <c:pt idx="47">
                  <c:v>dez/24</c:v>
                </c:pt>
                <c:pt idx="48">
                  <c:v>jan/25</c:v>
                </c:pt>
                <c:pt idx="49">
                  <c:v>fev/25</c:v>
                </c:pt>
                <c:pt idx="50">
                  <c:v>mar/25</c:v>
                </c:pt>
                <c:pt idx="51">
                  <c:v>abr/25</c:v>
                </c:pt>
                <c:pt idx="52">
                  <c:v>mai/25</c:v>
                </c:pt>
                <c:pt idx="53">
                  <c:v>jun/25</c:v>
                </c:pt>
                <c:pt idx="54">
                  <c:v>jul/25</c:v>
                </c:pt>
                <c:pt idx="55">
                  <c:v>ago/25</c:v>
                </c:pt>
                <c:pt idx="56">
                  <c:v>set/25</c:v>
                </c:pt>
                <c:pt idx="57">
                  <c:v>out/25</c:v>
                </c:pt>
                <c:pt idx="58">
                  <c:v>nov/25</c:v>
                </c:pt>
                <c:pt idx="59">
                  <c:v>dez/25</c:v>
                </c:pt>
                <c:pt idx="60">
                  <c:v>jan/26</c:v>
                </c:pt>
                <c:pt idx="61">
                  <c:v>fev/26</c:v>
                </c:pt>
                <c:pt idx="62">
                  <c:v>mar/26</c:v>
                </c:pt>
                <c:pt idx="63">
                  <c:v>abr/26</c:v>
                </c:pt>
                <c:pt idx="64">
                  <c:v>mai/26</c:v>
                </c:pt>
                <c:pt idx="65">
                  <c:v>jun/26</c:v>
                </c:pt>
                <c:pt idx="66">
                  <c:v>jul/26</c:v>
                </c:pt>
                <c:pt idx="67">
                  <c:v>ago/26</c:v>
                </c:pt>
                <c:pt idx="68">
                  <c:v>set/26</c:v>
                </c:pt>
              </c:strCache>
            </c:strRef>
          </c:cat>
          <c:val>
            <c:numRef>
              <c:f>Sheet1!$B$2:$B$70</c:f>
              <c:numCache>
                <c:formatCode>0.0</c:formatCode>
                <c:ptCount val="69"/>
                <c:pt idx="0">
                  <c:v>4.5599999999999996</c:v>
                </c:pt>
                <c:pt idx="1">
                  <c:v>5.2</c:v>
                </c:pt>
                <c:pt idx="2">
                  <c:v>6.1</c:v>
                </c:pt>
                <c:pt idx="3">
                  <c:v>6.76</c:v>
                </c:pt>
                <c:pt idx="4">
                  <c:v>8.06</c:v>
                </c:pt>
                <c:pt idx="5">
                  <c:v>8.35</c:v>
                </c:pt>
                <c:pt idx="6">
                  <c:v>8.99</c:v>
                </c:pt>
                <c:pt idx="7">
                  <c:v>9.68</c:v>
                </c:pt>
                <c:pt idx="8">
                  <c:v>10.25</c:v>
                </c:pt>
                <c:pt idx="9">
                  <c:v>10.67</c:v>
                </c:pt>
                <c:pt idx="10">
                  <c:v>10.74</c:v>
                </c:pt>
                <c:pt idx="11">
                  <c:v>10.06</c:v>
                </c:pt>
                <c:pt idx="12">
                  <c:v>10.38</c:v>
                </c:pt>
                <c:pt idx="13">
                  <c:v>10.54</c:v>
                </c:pt>
                <c:pt idx="14">
                  <c:v>11.3</c:v>
                </c:pt>
                <c:pt idx="15">
                  <c:v>12.13</c:v>
                </c:pt>
                <c:pt idx="16">
                  <c:v>11.73</c:v>
                </c:pt>
                <c:pt idx="17">
                  <c:v>11.89</c:v>
                </c:pt>
                <c:pt idx="18">
                  <c:v>10.07</c:v>
                </c:pt>
                <c:pt idx="19">
                  <c:v>8.73</c:v>
                </c:pt>
                <c:pt idx="20">
                  <c:v>7.17</c:v>
                </c:pt>
                <c:pt idx="21">
                  <c:v>6.47</c:v>
                </c:pt>
                <c:pt idx="22">
                  <c:v>5.9</c:v>
                </c:pt>
                <c:pt idx="23">
                  <c:v>5.79</c:v>
                </c:pt>
                <c:pt idx="24">
                  <c:v>5.77</c:v>
                </c:pt>
                <c:pt idx="25">
                  <c:v>5.6</c:v>
                </c:pt>
                <c:pt idx="26">
                  <c:v>4.6500000000000004</c:v>
                </c:pt>
                <c:pt idx="27">
                  <c:v>4.18</c:v>
                </c:pt>
                <c:pt idx="28">
                  <c:v>3.94</c:v>
                </c:pt>
                <c:pt idx="29">
                  <c:v>3.16</c:v>
                </c:pt>
                <c:pt idx="30">
                  <c:v>3.99</c:v>
                </c:pt>
                <c:pt idx="31">
                  <c:v>4.6100000000000003</c:v>
                </c:pt>
                <c:pt idx="32">
                  <c:v>5.19</c:v>
                </c:pt>
                <c:pt idx="33">
                  <c:v>4.82</c:v>
                </c:pt>
                <c:pt idx="34">
                  <c:v>4.68</c:v>
                </c:pt>
                <c:pt idx="35">
                  <c:v>4.62</c:v>
                </c:pt>
                <c:pt idx="36">
                  <c:v>4.51</c:v>
                </c:pt>
                <c:pt idx="37">
                  <c:v>4.5</c:v>
                </c:pt>
                <c:pt idx="38">
                  <c:v>3.93</c:v>
                </c:pt>
                <c:pt idx="39">
                  <c:v>3.69</c:v>
                </c:pt>
                <c:pt idx="40">
                  <c:v>3.93</c:v>
                </c:pt>
                <c:pt idx="41">
                  <c:v>4.2300000000000004</c:v>
                </c:pt>
                <c:pt idx="42">
                  <c:v>4.5</c:v>
                </c:pt>
                <c:pt idx="43">
                  <c:v>4.24</c:v>
                </c:pt>
                <c:pt idx="44">
                  <c:v>4.42</c:v>
                </c:pt>
                <c:pt idx="45">
                  <c:v>4.76</c:v>
                </c:pt>
                <c:pt idx="46">
                  <c:v>4.87</c:v>
                </c:pt>
                <c:pt idx="47">
                  <c:v>4.83</c:v>
                </c:pt>
                <c:pt idx="48">
                  <c:v>4.5599999999999996</c:v>
                </c:pt>
                <c:pt idx="49">
                  <c:v>5.0599999999999996</c:v>
                </c:pt>
                <c:pt idx="50">
                  <c:v>5.48</c:v>
                </c:pt>
                <c:pt idx="51">
                  <c:v>5.53</c:v>
                </c:pt>
                <c:pt idx="52">
                  <c:v>5.32</c:v>
                </c:pt>
                <c:pt idx="53">
                  <c:v>5.35</c:v>
                </c:pt>
                <c:pt idx="54">
                  <c:v>5.23</c:v>
                </c:pt>
                <c:pt idx="55">
                  <c:v>5.13</c:v>
                </c:pt>
                <c:pt idx="56">
                  <c:v>5.17</c:v>
                </c:pt>
                <c:pt idx="57">
                  <c:v>4.68</c:v>
                </c:pt>
                <c:pt idx="58">
                  <c:v>4.46</c:v>
                </c:pt>
                <c:pt idx="59">
                  <c:v>4.26</c:v>
                </c:pt>
                <c:pt idx="60">
                  <c:v>4.4400000000000004</c:v>
                </c:pt>
                <c:pt idx="61">
                  <c:v>3.81</c:v>
                </c:pt>
                <c:pt idx="62">
                  <c:v>4.1399999999999997</c:v>
                </c:pt>
                <c:pt idx="63">
                  <c:v>4.3899999999999997</c:v>
                </c:pt>
                <c:pt idx="64">
                  <c:v>4.72</c:v>
                </c:pt>
                <c:pt idx="65">
                  <c:v>4.6399999999999997</c:v>
                </c:pt>
                <c:pt idx="66">
                  <c:v>4.4400000000000004</c:v>
                </c:pt>
                <c:pt idx="67">
                  <c:v>4.22</c:v>
                </c:pt>
                <c:pt idx="68">
                  <c:v>4.58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3F9-4389-8C70-4F5EDC3E6F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Meta</c:v>
                </c:pt>
              </c:strCache>
            </c:strRef>
          </c:tx>
          <c:spPr>
            <a:ln w="15875">
              <a:solidFill>
                <a:srgbClr val="1A1A1A"/>
              </a:solidFill>
              <a:prstDash val="dash"/>
            </a:ln>
          </c:spPr>
          <c:marker>
            <c:symbol val="none"/>
          </c:marker>
          <c:cat>
            <c:strRef>
              <c:f>Sheet1!$A$2:$A$70</c:f>
              <c:strCache>
                <c:ptCount val="69"/>
                <c:pt idx="0">
                  <c:v>jan/21</c:v>
                </c:pt>
                <c:pt idx="1">
                  <c:v>fev/21</c:v>
                </c:pt>
                <c:pt idx="2">
                  <c:v>mar/21</c:v>
                </c:pt>
                <c:pt idx="3">
                  <c:v>abr/21</c:v>
                </c:pt>
                <c:pt idx="4">
                  <c:v>mai/21</c:v>
                </c:pt>
                <c:pt idx="5">
                  <c:v>jun/21</c:v>
                </c:pt>
                <c:pt idx="6">
                  <c:v>jul/21</c:v>
                </c:pt>
                <c:pt idx="7">
                  <c:v>ago/21</c:v>
                </c:pt>
                <c:pt idx="8">
                  <c:v>set/21</c:v>
                </c:pt>
                <c:pt idx="9">
                  <c:v>out/21</c:v>
                </c:pt>
                <c:pt idx="10">
                  <c:v>nov/21</c:v>
                </c:pt>
                <c:pt idx="11">
                  <c:v>dez/21</c:v>
                </c:pt>
                <c:pt idx="12">
                  <c:v>jan/22</c:v>
                </c:pt>
                <c:pt idx="13">
                  <c:v>fev/22</c:v>
                </c:pt>
                <c:pt idx="14">
                  <c:v>mar/22</c:v>
                </c:pt>
                <c:pt idx="15">
                  <c:v>abr/22</c:v>
                </c:pt>
                <c:pt idx="16">
                  <c:v>mai/22</c:v>
                </c:pt>
                <c:pt idx="17">
                  <c:v>jun/22</c:v>
                </c:pt>
                <c:pt idx="18">
                  <c:v>jul/22</c:v>
                </c:pt>
                <c:pt idx="19">
                  <c:v>ago/22</c:v>
                </c:pt>
                <c:pt idx="20">
                  <c:v>set/22</c:v>
                </c:pt>
                <c:pt idx="21">
                  <c:v>out/22</c:v>
                </c:pt>
                <c:pt idx="22">
                  <c:v>nov/22</c:v>
                </c:pt>
                <c:pt idx="23">
                  <c:v>dez/22</c:v>
                </c:pt>
                <c:pt idx="24">
                  <c:v>jan/23</c:v>
                </c:pt>
                <c:pt idx="25">
                  <c:v>fev/23</c:v>
                </c:pt>
                <c:pt idx="26">
                  <c:v>mar/23</c:v>
                </c:pt>
                <c:pt idx="27">
                  <c:v>abr/23</c:v>
                </c:pt>
                <c:pt idx="28">
                  <c:v>mai/23</c:v>
                </c:pt>
                <c:pt idx="29">
                  <c:v>jun/23</c:v>
                </c:pt>
                <c:pt idx="30">
                  <c:v>jul/23</c:v>
                </c:pt>
                <c:pt idx="31">
                  <c:v>ago/23</c:v>
                </c:pt>
                <c:pt idx="32">
                  <c:v>set/23</c:v>
                </c:pt>
                <c:pt idx="33">
                  <c:v>out/23</c:v>
                </c:pt>
                <c:pt idx="34">
                  <c:v>nov/23</c:v>
                </c:pt>
                <c:pt idx="35">
                  <c:v>dez/23</c:v>
                </c:pt>
                <c:pt idx="36">
                  <c:v>jan/24</c:v>
                </c:pt>
                <c:pt idx="37">
                  <c:v>fev/24</c:v>
                </c:pt>
                <c:pt idx="38">
                  <c:v>mar/24</c:v>
                </c:pt>
                <c:pt idx="39">
                  <c:v>abr/24</c:v>
                </c:pt>
                <c:pt idx="40">
                  <c:v>mai/24</c:v>
                </c:pt>
                <c:pt idx="41">
                  <c:v>jun/24</c:v>
                </c:pt>
                <c:pt idx="42">
                  <c:v>jul/24</c:v>
                </c:pt>
                <c:pt idx="43">
                  <c:v>ago/24</c:v>
                </c:pt>
                <c:pt idx="44">
                  <c:v>set/24</c:v>
                </c:pt>
                <c:pt idx="45">
                  <c:v>out/24</c:v>
                </c:pt>
                <c:pt idx="46">
                  <c:v>nov/24</c:v>
                </c:pt>
                <c:pt idx="47">
                  <c:v>dez/24</c:v>
                </c:pt>
                <c:pt idx="48">
                  <c:v>jan/25</c:v>
                </c:pt>
                <c:pt idx="49">
                  <c:v>fev/25</c:v>
                </c:pt>
                <c:pt idx="50">
                  <c:v>mar/25</c:v>
                </c:pt>
                <c:pt idx="51">
                  <c:v>abr/25</c:v>
                </c:pt>
                <c:pt idx="52">
                  <c:v>mai/25</c:v>
                </c:pt>
                <c:pt idx="53">
                  <c:v>jun/25</c:v>
                </c:pt>
                <c:pt idx="54">
                  <c:v>jul/25</c:v>
                </c:pt>
                <c:pt idx="55">
                  <c:v>ago/25</c:v>
                </c:pt>
                <c:pt idx="56">
                  <c:v>set/25</c:v>
                </c:pt>
                <c:pt idx="57">
                  <c:v>out/25</c:v>
                </c:pt>
                <c:pt idx="58">
                  <c:v>nov/25</c:v>
                </c:pt>
                <c:pt idx="59">
                  <c:v>dez/25</c:v>
                </c:pt>
                <c:pt idx="60">
                  <c:v>jan/26</c:v>
                </c:pt>
                <c:pt idx="61">
                  <c:v>fev/26</c:v>
                </c:pt>
                <c:pt idx="62">
                  <c:v>mar/26</c:v>
                </c:pt>
                <c:pt idx="63">
                  <c:v>abr/26</c:v>
                </c:pt>
                <c:pt idx="64">
                  <c:v>mai/26</c:v>
                </c:pt>
                <c:pt idx="65">
                  <c:v>jun/26</c:v>
                </c:pt>
                <c:pt idx="66">
                  <c:v>jul/26</c:v>
                </c:pt>
                <c:pt idx="67">
                  <c:v>ago/26</c:v>
                </c:pt>
                <c:pt idx="68">
                  <c:v>set/26</c:v>
                </c:pt>
              </c:strCache>
            </c:strRef>
          </c:cat>
          <c:val>
            <c:numRef>
              <c:f>Sheet1!$C$2:$C$70</c:f>
              <c:numCache>
                <c:formatCode>0.0</c:formatCode>
                <c:ptCount val="69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3</c:v>
                </c:pt>
                <c:pt idx="18">
                  <c:v>3</c:v>
                </c:pt>
                <c:pt idx="19">
                  <c:v>3</c:v>
                </c:pt>
                <c:pt idx="20">
                  <c:v>3</c:v>
                </c:pt>
                <c:pt idx="21">
                  <c:v>3</c:v>
                </c:pt>
                <c:pt idx="22">
                  <c:v>3</c:v>
                </c:pt>
                <c:pt idx="23">
                  <c:v>3</c:v>
                </c:pt>
                <c:pt idx="24">
                  <c:v>3</c:v>
                </c:pt>
                <c:pt idx="25">
                  <c:v>3</c:v>
                </c:pt>
                <c:pt idx="26">
                  <c:v>3</c:v>
                </c:pt>
                <c:pt idx="27">
                  <c:v>3</c:v>
                </c:pt>
                <c:pt idx="28">
                  <c:v>3</c:v>
                </c:pt>
                <c:pt idx="29">
                  <c:v>3</c:v>
                </c:pt>
                <c:pt idx="30">
                  <c:v>3</c:v>
                </c:pt>
                <c:pt idx="31">
                  <c:v>3</c:v>
                </c:pt>
                <c:pt idx="32">
                  <c:v>3</c:v>
                </c:pt>
                <c:pt idx="33">
                  <c:v>3</c:v>
                </c:pt>
                <c:pt idx="34">
                  <c:v>3</c:v>
                </c:pt>
                <c:pt idx="35">
                  <c:v>3</c:v>
                </c:pt>
                <c:pt idx="36">
                  <c:v>3</c:v>
                </c:pt>
                <c:pt idx="37">
                  <c:v>3</c:v>
                </c:pt>
                <c:pt idx="38">
                  <c:v>3</c:v>
                </c:pt>
                <c:pt idx="39">
                  <c:v>3</c:v>
                </c:pt>
                <c:pt idx="40">
                  <c:v>3</c:v>
                </c:pt>
                <c:pt idx="41">
                  <c:v>3</c:v>
                </c:pt>
                <c:pt idx="42">
                  <c:v>3</c:v>
                </c:pt>
                <c:pt idx="43">
                  <c:v>3</c:v>
                </c:pt>
                <c:pt idx="44">
                  <c:v>3</c:v>
                </c:pt>
                <c:pt idx="45">
                  <c:v>3</c:v>
                </c:pt>
                <c:pt idx="46">
                  <c:v>3</c:v>
                </c:pt>
                <c:pt idx="47">
                  <c:v>3</c:v>
                </c:pt>
                <c:pt idx="48">
                  <c:v>3</c:v>
                </c:pt>
                <c:pt idx="49">
                  <c:v>3</c:v>
                </c:pt>
                <c:pt idx="50">
                  <c:v>3</c:v>
                </c:pt>
                <c:pt idx="51">
                  <c:v>3</c:v>
                </c:pt>
                <c:pt idx="52">
                  <c:v>3</c:v>
                </c:pt>
                <c:pt idx="53">
                  <c:v>3</c:v>
                </c:pt>
                <c:pt idx="54">
                  <c:v>3</c:v>
                </c:pt>
                <c:pt idx="55">
                  <c:v>3</c:v>
                </c:pt>
                <c:pt idx="56">
                  <c:v>3</c:v>
                </c:pt>
                <c:pt idx="57">
                  <c:v>3</c:v>
                </c:pt>
                <c:pt idx="58">
                  <c:v>3</c:v>
                </c:pt>
                <c:pt idx="59">
                  <c:v>3</c:v>
                </c:pt>
                <c:pt idx="60">
                  <c:v>3</c:v>
                </c:pt>
                <c:pt idx="61">
                  <c:v>3</c:v>
                </c:pt>
                <c:pt idx="62">
                  <c:v>3</c:v>
                </c:pt>
                <c:pt idx="63">
                  <c:v>3</c:v>
                </c:pt>
                <c:pt idx="64">
                  <c:v>3</c:v>
                </c:pt>
                <c:pt idx="65">
                  <c:v>3</c:v>
                </c:pt>
                <c:pt idx="66">
                  <c:v>3</c:v>
                </c:pt>
                <c:pt idx="67">
                  <c:v>3</c:v>
                </c:pt>
                <c:pt idx="68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3F9-4389-8C70-4F5EDC3E6F6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Limite superior</c:v>
                </c:pt>
              </c:strCache>
            </c:strRef>
          </c:tx>
          <c:spPr>
            <a:ln w="15875">
              <a:solidFill>
                <a:srgbClr val="A6A6A6"/>
              </a:solidFill>
              <a:prstDash val="sysDot"/>
            </a:ln>
          </c:spPr>
          <c:marker>
            <c:symbol val="none"/>
          </c:marker>
          <c:cat>
            <c:strRef>
              <c:f>Sheet1!$A$2:$A$70</c:f>
              <c:strCache>
                <c:ptCount val="69"/>
                <c:pt idx="0">
                  <c:v>jan/21</c:v>
                </c:pt>
                <c:pt idx="1">
                  <c:v>fev/21</c:v>
                </c:pt>
                <c:pt idx="2">
                  <c:v>mar/21</c:v>
                </c:pt>
                <c:pt idx="3">
                  <c:v>abr/21</c:v>
                </c:pt>
                <c:pt idx="4">
                  <c:v>mai/21</c:v>
                </c:pt>
                <c:pt idx="5">
                  <c:v>jun/21</c:v>
                </c:pt>
                <c:pt idx="6">
                  <c:v>jul/21</c:v>
                </c:pt>
                <c:pt idx="7">
                  <c:v>ago/21</c:v>
                </c:pt>
                <c:pt idx="8">
                  <c:v>set/21</c:v>
                </c:pt>
                <c:pt idx="9">
                  <c:v>out/21</c:v>
                </c:pt>
                <c:pt idx="10">
                  <c:v>nov/21</c:v>
                </c:pt>
                <c:pt idx="11">
                  <c:v>dez/21</c:v>
                </c:pt>
                <c:pt idx="12">
                  <c:v>jan/22</c:v>
                </c:pt>
                <c:pt idx="13">
                  <c:v>fev/22</c:v>
                </c:pt>
                <c:pt idx="14">
                  <c:v>mar/22</c:v>
                </c:pt>
                <c:pt idx="15">
                  <c:v>abr/22</c:v>
                </c:pt>
                <c:pt idx="16">
                  <c:v>mai/22</c:v>
                </c:pt>
                <c:pt idx="17">
                  <c:v>jun/22</c:v>
                </c:pt>
                <c:pt idx="18">
                  <c:v>jul/22</c:v>
                </c:pt>
                <c:pt idx="19">
                  <c:v>ago/22</c:v>
                </c:pt>
                <c:pt idx="20">
                  <c:v>set/22</c:v>
                </c:pt>
                <c:pt idx="21">
                  <c:v>out/22</c:v>
                </c:pt>
                <c:pt idx="22">
                  <c:v>nov/22</c:v>
                </c:pt>
                <c:pt idx="23">
                  <c:v>dez/22</c:v>
                </c:pt>
                <c:pt idx="24">
                  <c:v>jan/23</c:v>
                </c:pt>
                <c:pt idx="25">
                  <c:v>fev/23</c:v>
                </c:pt>
                <c:pt idx="26">
                  <c:v>mar/23</c:v>
                </c:pt>
                <c:pt idx="27">
                  <c:v>abr/23</c:v>
                </c:pt>
                <c:pt idx="28">
                  <c:v>mai/23</c:v>
                </c:pt>
                <c:pt idx="29">
                  <c:v>jun/23</c:v>
                </c:pt>
                <c:pt idx="30">
                  <c:v>jul/23</c:v>
                </c:pt>
                <c:pt idx="31">
                  <c:v>ago/23</c:v>
                </c:pt>
                <c:pt idx="32">
                  <c:v>set/23</c:v>
                </c:pt>
                <c:pt idx="33">
                  <c:v>out/23</c:v>
                </c:pt>
                <c:pt idx="34">
                  <c:v>nov/23</c:v>
                </c:pt>
                <c:pt idx="35">
                  <c:v>dez/23</c:v>
                </c:pt>
                <c:pt idx="36">
                  <c:v>jan/24</c:v>
                </c:pt>
                <c:pt idx="37">
                  <c:v>fev/24</c:v>
                </c:pt>
                <c:pt idx="38">
                  <c:v>mar/24</c:v>
                </c:pt>
                <c:pt idx="39">
                  <c:v>abr/24</c:v>
                </c:pt>
                <c:pt idx="40">
                  <c:v>mai/24</c:v>
                </c:pt>
                <c:pt idx="41">
                  <c:v>jun/24</c:v>
                </c:pt>
                <c:pt idx="42">
                  <c:v>jul/24</c:v>
                </c:pt>
                <c:pt idx="43">
                  <c:v>ago/24</c:v>
                </c:pt>
                <c:pt idx="44">
                  <c:v>set/24</c:v>
                </c:pt>
                <c:pt idx="45">
                  <c:v>out/24</c:v>
                </c:pt>
                <c:pt idx="46">
                  <c:v>nov/24</c:v>
                </c:pt>
                <c:pt idx="47">
                  <c:v>dez/24</c:v>
                </c:pt>
                <c:pt idx="48">
                  <c:v>jan/25</c:v>
                </c:pt>
                <c:pt idx="49">
                  <c:v>fev/25</c:v>
                </c:pt>
                <c:pt idx="50">
                  <c:v>mar/25</c:v>
                </c:pt>
                <c:pt idx="51">
                  <c:v>abr/25</c:v>
                </c:pt>
                <c:pt idx="52">
                  <c:v>mai/25</c:v>
                </c:pt>
                <c:pt idx="53">
                  <c:v>jun/25</c:v>
                </c:pt>
                <c:pt idx="54">
                  <c:v>jul/25</c:v>
                </c:pt>
                <c:pt idx="55">
                  <c:v>ago/25</c:v>
                </c:pt>
                <c:pt idx="56">
                  <c:v>set/25</c:v>
                </c:pt>
                <c:pt idx="57">
                  <c:v>out/25</c:v>
                </c:pt>
                <c:pt idx="58">
                  <c:v>nov/25</c:v>
                </c:pt>
                <c:pt idx="59">
                  <c:v>dez/25</c:v>
                </c:pt>
                <c:pt idx="60">
                  <c:v>jan/26</c:v>
                </c:pt>
                <c:pt idx="61">
                  <c:v>fev/26</c:v>
                </c:pt>
                <c:pt idx="62">
                  <c:v>mar/26</c:v>
                </c:pt>
                <c:pt idx="63">
                  <c:v>abr/26</c:v>
                </c:pt>
                <c:pt idx="64">
                  <c:v>mai/26</c:v>
                </c:pt>
                <c:pt idx="65">
                  <c:v>jun/26</c:v>
                </c:pt>
                <c:pt idx="66">
                  <c:v>jul/26</c:v>
                </c:pt>
                <c:pt idx="67">
                  <c:v>ago/26</c:v>
                </c:pt>
                <c:pt idx="68">
                  <c:v>set/26</c:v>
                </c:pt>
              </c:strCache>
            </c:strRef>
          </c:cat>
          <c:val>
            <c:numRef>
              <c:f>Sheet1!$D$2:$D$70</c:f>
              <c:numCache>
                <c:formatCode>0.0</c:formatCode>
                <c:ptCount val="69"/>
                <c:pt idx="0">
                  <c:v>4.5</c:v>
                </c:pt>
                <c:pt idx="1">
                  <c:v>4.5</c:v>
                </c:pt>
                <c:pt idx="2">
                  <c:v>4.5</c:v>
                </c:pt>
                <c:pt idx="3">
                  <c:v>4.5</c:v>
                </c:pt>
                <c:pt idx="4">
                  <c:v>4.5</c:v>
                </c:pt>
                <c:pt idx="5">
                  <c:v>4.5</c:v>
                </c:pt>
                <c:pt idx="6">
                  <c:v>4.5</c:v>
                </c:pt>
                <c:pt idx="7">
                  <c:v>4.5</c:v>
                </c:pt>
                <c:pt idx="8">
                  <c:v>4.5</c:v>
                </c:pt>
                <c:pt idx="9">
                  <c:v>4.5</c:v>
                </c:pt>
                <c:pt idx="10">
                  <c:v>4.5</c:v>
                </c:pt>
                <c:pt idx="11">
                  <c:v>4.5</c:v>
                </c:pt>
                <c:pt idx="12">
                  <c:v>4.5</c:v>
                </c:pt>
                <c:pt idx="13">
                  <c:v>4.5</c:v>
                </c:pt>
                <c:pt idx="14">
                  <c:v>4.5</c:v>
                </c:pt>
                <c:pt idx="15">
                  <c:v>4.5</c:v>
                </c:pt>
                <c:pt idx="16">
                  <c:v>4.5</c:v>
                </c:pt>
                <c:pt idx="17">
                  <c:v>4.5</c:v>
                </c:pt>
                <c:pt idx="18">
                  <c:v>4.5</c:v>
                </c:pt>
                <c:pt idx="19">
                  <c:v>4.5</c:v>
                </c:pt>
                <c:pt idx="20">
                  <c:v>4.5</c:v>
                </c:pt>
                <c:pt idx="21">
                  <c:v>4.5</c:v>
                </c:pt>
                <c:pt idx="22">
                  <c:v>4.5</c:v>
                </c:pt>
                <c:pt idx="23">
                  <c:v>4.5</c:v>
                </c:pt>
                <c:pt idx="24">
                  <c:v>4.5</c:v>
                </c:pt>
                <c:pt idx="25">
                  <c:v>4.5</c:v>
                </c:pt>
                <c:pt idx="26">
                  <c:v>4.5</c:v>
                </c:pt>
                <c:pt idx="27">
                  <c:v>4.5</c:v>
                </c:pt>
                <c:pt idx="28">
                  <c:v>4.5</c:v>
                </c:pt>
                <c:pt idx="29">
                  <c:v>4.5</c:v>
                </c:pt>
                <c:pt idx="30">
                  <c:v>4.5</c:v>
                </c:pt>
                <c:pt idx="31">
                  <c:v>4.5</c:v>
                </c:pt>
                <c:pt idx="32">
                  <c:v>4.5</c:v>
                </c:pt>
                <c:pt idx="33">
                  <c:v>4.5</c:v>
                </c:pt>
                <c:pt idx="34">
                  <c:v>4.5</c:v>
                </c:pt>
                <c:pt idx="35">
                  <c:v>4.5</c:v>
                </c:pt>
                <c:pt idx="36">
                  <c:v>4.5</c:v>
                </c:pt>
                <c:pt idx="37">
                  <c:v>4.5</c:v>
                </c:pt>
                <c:pt idx="38">
                  <c:v>4.5</c:v>
                </c:pt>
                <c:pt idx="39">
                  <c:v>4.5</c:v>
                </c:pt>
                <c:pt idx="40">
                  <c:v>4.5</c:v>
                </c:pt>
                <c:pt idx="41">
                  <c:v>4.5</c:v>
                </c:pt>
                <c:pt idx="42">
                  <c:v>4.5</c:v>
                </c:pt>
                <c:pt idx="43">
                  <c:v>4.5</c:v>
                </c:pt>
                <c:pt idx="44">
                  <c:v>4.5</c:v>
                </c:pt>
                <c:pt idx="45">
                  <c:v>4.5</c:v>
                </c:pt>
                <c:pt idx="46">
                  <c:v>4.5</c:v>
                </c:pt>
                <c:pt idx="47">
                  <c:v>4.5</c:v>
                </c:pt>
                <c:pt idx="48">
                  <c:v>4.5</c:v>
                </c:pt>
                <c:pt idx="49">
                  <c:v>4.5</c:v>
                </c:pt>
                <c:pt idx="50">
                  <c:v>4.5</c:v>
                </c:pt>
                <c:pt idx="51">
                  <c:v>4.5</c:v>
                </c:pt>
                <c:pt idx="52">
                  <c:v>4.5</c:v>
                </c:pt>
                <c:pt idx="53">
                  <c:v>4.5</c:v>
                </c:pt>
                <c:pt idx="54">
                  <c:v>4.5</c:v>
                </c:pt>
                <c:pt idx="55">
                  <c:v>4.5</c:v>
                </c:pt>
                <c:pt idx="56">
                  <c:v>4.5</c:v>
                </c:pt>
                <c:pt idx="57">
                  <c:v>4.5</c:v>
                </c:pt>
                <c:pt idx="58">
                  <c:v>4.5</c:v>
                </c:pt>
                <c:pt idx="59">
                  <c:v>4.5</c:v>
                </c:pt>
                <c:pt idx="60">
                  <c:v>4.5</c:v>
                </c:pt>
                <c:pt idx="61">
                  <c:v>4.5</c:v>
                </c:pt>
                <c:pt idx="62">
                  <c:v>4.5</c:v>
                </c:pt>
                <c:pt idx="63">
                  <c:v>4.5</c:v>
                </c:pt>
                <c:pt idx="64">
                  <c:v>4.5</c:v>
                </c:pt>
                <c:pt idx="65">
                  <c:v>4.5</c:v>
                </c:pt>
                <c:pt idx="66">
                  <c:v>4.5</c:v>
                </c:pt>
                <c:pt idx="67">
                  <c:v>4.5</c:v>
                </c:pt>
                <c:pt idx="68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3F9-4389-8C70-4F5EDC3E6F6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Limite inferior</c:v>
                </c:pt>
              </c:strCache>
            </c:strRef>
          </c:tx>
          <c:spPr>
            <a:ln w="15875">
              <a:solidFill>
                <a:srgbClr val="A6A6A6"/>
              </a:solidFill>
              <a:prstDash val="sysDot"/>
            </a:ln>
          </c:spPr>
          <c:marker>
            <c:symbol val="none"/>
          </c:marker>
          <c:cat>
            <c:strRef>
              <c:f>Sheet1!$A$2:$A$70</c:f>
              <c:strCache>
                <c:ptCount val="69"/>
                <c:pt idx="0">
                  <c:v>jan/21</c:v>
                </c:pt>
                <c:pt idx="1">
                  <c:v>fev/21</c:v>
                </c:pt>
                <c:pt idx="2">
                  <c:v>mar/21</c:v>
                </c:pt>
                <c:pt idx="3">
                  <c:v>abr/21</c:v>
                </c:pt>
                <c:pt idx="4">
                  <c:v>mai/21</c:v>
                </c:pt>
                <c:pt idx="5">
                  <c:v>jun/21</c:v>
                </c:pt>
                <c:pt idx="6">
                  <c:v>jul/21</c:v>
                </c:pt>
                <c:pt idx="7">
                  <c:v>ago/21</c:v>
                </c:pt>
                <c:pt idx="8">
                  <c:v>set/21</c:v>
                </c:pt>
                <c:pt idx="9">
                  <c:v>out/21</c:v>
                </c:pt>
                <c:pt idx="10">
                  <c:v>nov/21</c:v>
                </c:pt>
                <c:pt idx="11">
                  <c:v>dez/21</c:v>
                </c:pt>
                <c:pt idx="12">
                  <c:v>jan/22</c:v>
                </c:pt>
                <c:pt idx="13">
                  <c:v>fev/22</c:v>
                </c:pt>
                <c:pt idx="14">
                  <c:v>mar/22</c:v>
                </c:pt>
                <c:pt idx="15">
                  <c:v>abr/22</c:v>
                </c:pt>
                <c:pt idx="16">
                  <c:v>mai/22</c:v>
                </c:pt>
                <c:pt idx="17">
                  <c:v>jun/22</c:v>
                </c:pt>
                <c:pt idx="18">
                  <c:v>jul/22</c:v>
                </c:pt>
                <c:pt idx="19">
                  <c:v>ago/22</c:v>
                </c:pt>
                <c:pt idx="20">
                  <c:v>set/22</c:v>
                </c:pt>
                <c:pt idx="21">
                  <c:v>out/22</c:v>
                </c:pt>
                <c:pt idx="22">
                  <c:v>nov/22</c:v>
                </c:pt>
                <c:pt idx="23">
                  <c:v>dez/22</c:v>
                </c:pt>
                <c:pt idx="24">
                  <c:v>jan/23</c:v>
                </c:pt>
                <c:pt idx="25">
                  <c:v>fev/23</c:v>
                </c:pt>
                <c:pt idx="26">
                  <c:v>mar/23</c:v>
                </c:pt>
                <c:pt idx="27">
                  <c:v>abr/23</c:v>
                </c:pt>
                <c:pt idx="28">
                  <c:v>mai/23</c:v>
                </c:pt>
                <c:pt idx="29">
                  <c:v>jun/23</c:v>
                </c:pt>
                <c:pt idx="30">
                  <c:v>jul/23</c:v>
                </c:pt>
                <c:pt idx="31">
                  <c:v>ago/23</c:v>
                </c:pt>
                <c:pt idx="32">
                  <c:v>set/23</c:v>
                </c:pt>
                <c:pt idx="33">
                  <c:v>out/23</c:v>
                </c:pt>
                <c:pt idx="34">
                  <c:v>nov/23</c:v>
                </c:pt>
                <c:pt idx="35">
                  <c:v>dez/23</c:v>
                </c:pt>
                <c:pt idx="36">
                  <c:v>jan/24</c:v>
                </c:pt>
                <c:pt idx="37">
                  <c:v>fev/24</c:v>
                </c:pt>
                <c:pt idx="38">
                  <c:v>mar/24</c:v>
                </c:pt>
                <c:pt idx="39">
                  <c:v>abr/24</c:v>
                </c:pt>
                <c:pt idx="40">
                  <c:v>mai/24</c:v>
                </c:pt>
                <c:pt idx="41">
                  <c:v>jun/24</c:v>
                </c:pt>
                <c:pt idx="42">
                  <c:v>jul/24</c:v>
                </c:pt>
                <c:pt idx="43">
                  <c:v>ago/24</c:v>
                </c:pt>
                <c:pt idx="44">
                  <c:v>set/24</c:v>
                </c:pt>
                <c:pt idx="45">
                  <c:v>out/24</c:v>
                </c:pt>
                <c:pt idx="46">
                  <c:v>nov/24</c:v>
                </c:pt>
                <c:pt idx="47">
                  <c:v>dez/24</c:v>
                </c:pt>
                <c:pt idx="48">
                  <c:v>jan/25</c:v>
                </c:pt>
                <c:pt idx="49">
                  <c:v>fev/25</c:v>
                </c:pt>
                <c:pt idx="50">
                  <c:v>mar/25</c:v>
                </c:pt>
                <c:pt idx="51">
                  <c:v>abr/25</c:v>
                </c:pt>
                <c:pt idx="52">
                  <c:v>mai/25</c:v>
                </c:pt>
                <c:pt idx="53">
                  <c:v>jun/25</c:v>
                </c:pt>
                <c:pt idx="54">
                  <c:v>jul/25</c:v>
                </c:pt>
                <c:pt idx="55">
                  <c:v>ago/25</c:v>
                </c:pt>
                <c:pt idx="56">
                  <c:v>set/25</c:v>
                </c:pt>
                <c:pt idx="57">
                  <c:v>out/25</c:v>
                </c:pt>
                <c:pt idx="58">
                  <c:v>nov/25</c:v>
                </c:pt>
                <c:pt idx="59">
                  <c:v>dez/25</c:v>
                </c:pt>
                <c:pt idx="60">
                  <c:v>jan/26</c:v>
                </c:pt>
                <c:pt idx="61">
                  <c:v>fev/26</c:v>
                </c:pt>
                <c:pt idx="62">
                  <c:v>mar/26</c:v>
                </c:pt>
                <c:pt idx="63">
                  <c:v>abr/26</c:v>
                </c:pt>
                <c:pt idx="64">
                  <c:v>mai/26</c:v>
                </c:pt>
                <c:pt idx="65">
                  <c:v>jun/26</c:v>
                </c:pt>
                <c:pt idx="66">
                  <c:v>jul/26</c:v>
                </c:pt>
                <c:pt idx="67">
                  <c:v>ago/26</c:v>
                </c:pt>
                <c:pt idx="68">
                  <c:v>set/26</c:v>
                </c:pt>
              </c:strCache>
            </c:strRef>
          </c:cat>
          <c:val>
            <c:numRef>
              <c:f>Sheet1!$E$2:$E$70</c:f>
              <c:numCache>
                <c:formatCode>0.0</c:formatCode>
                <c:ptCount val="69"/>
                <c:pt idx="0">
                  <c:v>1.5</c:v>
                </c:pt>
                <c:pt idx="1">
                  <c:v>1.5</c:v>
                </c:pt>
                <c:pt idx="2">
                  <c:v>1.5</c:v>
                </c:pt>
                <c:pt idx="3">
                  <c:v>1.5</c:v>
                </c:pt>
                <c:pt idx="4">
                  <c:v>1.5</c:v>
                </c:pt>
                <c:pt idx="5">
                  <c:v>1.5</c:v>
                </c:pt>
                <c:pt idx="6">
                  <c:v>1.5</c:v>
                </c:pt>
                <c:pt idx="7">
                  <c:v>1.5</c:v>
                </c:pt>
                <c:pt idx="8">
                  <c:v>1.5</c:v>
                </c:pt>
                <c:pt idx="9">
                  <c:v>1.5</c:v>
                </c:pt>
                <c:pt idx="10">
                  <c:v>1.5</c:v>
                </c:pt>
                <c:pt idx="11">
                  <c:v>1.5</c:v>
                </c:pt>
                <c:pt idx="12">
                  <c:v>1.5</c:v>
                </c:pt>
                <c:pt idx="13">
                  <c:v>1.5</c:v>
                </c:pt>
                <c:pt idx="14">
                  <c:v>1.5</c:v>
                </c:pt>
                <c:pt idx="15">
                  <c:v>1.5</c:v>
                </c:pt>
                <c:pt idx="16">
                  <c:v>1.5</c:v>
                </c:pt>
                <c:pt idx="17">
                  <c:v>1.5</c:v>
                </c:pt>
                <c:pt idx="18">
                  <c:v>1.5</c:v>
                </c:pt>
                <c:pt idx="19">
                  <c:v>1.5</c:v>
                </c:pt>
                <c:pt idx="20">
                  <c:v>1.5</c:v>
                </c:pt>
                <c:pt idx="21">
                  <c:v>1.5</c:v>
                </c:pt>
                <c:pt idx="22">
                  <c:v>1.5</c:v>
                </c:pt>
                <c:pt idx="23">
                  <c:v>1.5</c:v>
                </c:pt>
                <c:pt idx="24">
                  <c:v>1.5</c:v>
                </c:pt>
                <c:pt idx="25">
                  <c:v>1.5</c:v>
                </c:pt>
                <c:pt idx="26">
                  <c:v>1.5</c:v>
                </c:pt>
                <c:pt idx="27">
                  <c:v>1.5</c:v>
                </c:pt>
                <c:pt idx="28">
                  <c:v>1.5</c:v>
                </c:pt>
                <c:pt idx="29">
                  <c:v>1.5</c:v>
                </c:pt>
                <c:pt idx="30">
                  <c:v>1.5</c:v>
                </c:pt>
                <c:pt idx="31">
                  <c:v>1.5</c:v>
                </c:pt>
                <c:pt idx="32">
                  <c:v>1.5</c:v>
                </c:pt>
                <c:pt idx="33">
                  <c:v>1.5</c:v>
                </c:pt>
                <c:pt idx="34">
                  <c:v>1.5</c:v>
                </c:pt>
                <c:pt idx="35">
                  <c:v>1.5</c:v>
                </c:pt>
                <c:pt idx="36">
                  <c:v>1.5</c:v>
                </c:pt>
                <c:pt idx="37">
                  <c:v>1.5</c:v>
                </c:pt>
                <c:pt idx="38">
                  <c:v>1.5</c:v>
                </c:pt>
                <c:pt idx="39">
                  <c:v>1.5</c:v>
                </c:pt>
                <c:pt idx="40">
                  <c:v>1.5</c:v>
                </c:pt>
                <c:pt idx="41">
                  <c:v>1.5</c:v>
                </c:pt>
                <c:pt idx="42">
                  <c:v>1.5</c:v>
                </c:pt>
                <c:pt idx="43">
                  <c:v>1.5</c:v>
                </c:pt>
                <c:pt idx="44">
                  <c:v>1.5</c:v>
                </c:pt>
                <c:pt idx="45">
                  <c:v>1.5</c:v>
                </c:pt>
                <c:pt idx="46">
                  <c:v>1.5</c:v>
                </c:pt>
                <c:pt idx="47">
                  <c:v>1.5</c:v>
                </c:pt>
                <c:pt idx="48">
                  <c:v>1.5</c:v>
                </c:pt>
                <c:pt idx="49">
                  <c:v>1.5</c:v>
                </c:pt>
                <c:pt idx="50">
                  <c:v>1.5</c:v>
                </c:pt>
                <c:pt idx="51">
                  <c:v>1.5</c:v>
                </c:pt>
                <c:pt idx="52">
                  <c:v>1.5</c:v>
                </c:pt>
                <c:pt idx="53">
                  <c:v>1.5</c:v>
                </c:pt>
                <c:pt idx="54">
                  <c:v>1.5</c:v>
                </c:pt>
                <c:pt idx="55">
                  <c:v>1.5</c:v>
                </c:pt>
                <c:pt idx="56">
                  <c:v>1.5</c:v>
                </c:pt>
                <c:pt idx="57">
                  <c:v>1.5</c:v>
                </c:pt>
                <c:pt idx="58">
                  <c:v>1.5</c:v>
                </c:pt>
                <c:pt idx="59">
                  <c:v>1.5</c:v>
                </c:pt>
                <c:pt idx="60">
                  <c:v>1.5</c:v>
                </c:pt>
                <c:pt idx="61">
                  <c:v>1.5</c:v>
                </c:pt>
                <c:pt idx="62">
                  <c:v>1.5</c:v>
                </c:pt>
                <c:pt idx="63">
                  <c:v>1.5</c:v>
                </c:pt>
                <c:pt idx="64">
                  <c:v>1.5</c:v>
                </c:pt>
                <c:pt idx="65">
                  <c:v>1.5</c:v>
                </c:pt>
                <c:pt idx="66">
                  <c:v>1.5</c:v>
                </c:pt>
                <c:pt idx="67">
                  <c:v>1.5</c:v>
                </c:pt>
                <c:pt idx="68">
                  <c:v>1.5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33F9-4389-8C70-4F5EDC3E6F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0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6"/>
        <c:tickMarkSkip val="6"/>
        <c:noMultiLvlLbl val="0"/>
      </c:catAx>
      <c:valAx>
        <c:axId val="2140495176"/>
        <c:scaling>
          <c:orientation val="minMax"/>
          <c:max val="13"/>
          <c:min val="0"/>
        </c:scaling>
        <c:delete val="0"/>
        <c:axPos val="l"/>
        <c:majorGridlines>
          <c:spPr>
            <a:ln w="9525">
              <a:solidFill>
                <a:srgbClr val="DDDDD8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crossAx val="2118791784"/>
        <c:crosses val="autoZero"/>
        <c:crossBetween val="between"/>
        <c:majorUnit val="2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3C3C3C"/>
              </a:solidFill>
            </a:defRPr>
          </a:pPr>
          <a:endParaRPr lang="pt-BR"/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6B6B6B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Selic</c:v>
                </c:pt>
              </c:strCache>
            </c:strRef>
          </c:tx>
          <c:spPr>
            <a:ln w="28575">
              <a:solidFill>
                <a:srgbClr val="F28C00"/>
              </a:solidFill>
            </a:ln>
          </c:spPr>
          <c:marker>
            <c:symbol val="none"/>
          </c:marker>
          <c:dLbls>
            <c:dLbl>
              <c:idx val="81"/>
              <c:numFmt formatCode="0.00" sourceLinked="0"/>
              <c:spPr/>
              <c:txPr>
                <a:bodyPr/>
                <a:lstStyle/>
                <a:p>
                  <a:pPr>
                    <a:defRPr sz="1200" b="1">
                      <a:solidFill>
                        <a:srgbClr val="F28C00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F7D-4574-B1CF-CA0105E9E54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Sheet1!$A$2:$A$83</c:f>
              <c:strCache>
                <c:ptCount val="82"/>
                <c:pt idx="0">
                  <c:v>jan/20</c:v>
                </c:pt>
                <c:pt idx="1">
                  <c:v>fev/20</c:v>
                </c:pt>
                <c:pt idx="2">
                  <c:v>mar/20</c:v>
                </c:pt>
                <c:pt idx="3">
                  <c:v>abr/20</c:v>
                </c:pt>
                <c:pt idx="4">
                  <c:v>mai/20</c:v>
                </c:pt>
                <c:pt idx="5">
                  <c:v>jun/20</c:v>
                </c:pt>
                <c:pt idx="6">
                  <c:v>jul/20</c:v>
                </c:pt>
                <c:pt idx="7">
                  <c:v>ago/20</c:v>
                </c:pt>
                <c:pt idx="8">
                  <c:v>set/20</c:v>
                </c:pt>
                <c:pt idx="9">
                  <c:v>out/20</c:v>
                </c:pt>
                <c:pt idx="10">
                  <c:v>nov/20</c:v>
                </c:pt>
                <c:pt idx="11">
                  <c:v>dez/20</c:v>
                </c:pt>
                <c:pt idx="12">
                  <c:v>jan/21</c:v>
                </c:pt>
                <c:pt idx="13">
                  <c:v>fev/21</c:v>
                </c:pt>
                <c:pt idx="14">
                  <c:v>mar/21</c:v>
                </c:pt>
                <c:pt idx="15">
                  <c:v>abr/21</c:v>
                </c:pt>
                <c:pt idx="16">
                  <c:v>mai/21</c:v>
                </c:pt>
                <c:pt idx="17">
                  <c:v>jun/21</c:v>
                </c:pt>
                <c:pt idx="18">
                  <c:v>jul/21</c:v>
                </c:pt>
                <c:pt idx="19">
                  <c:v>ago/21</c:v>
                </c:pt>
                <c:pt idx="20">
                  <c:v>set/21</c:v>
                </c:pt>
                <c:pt idx="21">
                  <c:v>out/21</c:v>
                </c:pt>
                <c:pt idx="22">
                  <c:v>nov/21</c:v>
                </c:pt>
                <c:pt idx="23">
                  <c:v>dez/21</c:v>
                </c:pt>
                <c:pt idx="24">
                  <c:v>jan/22</c:v>
                </c:pt>
                <c:pt idx="25">
                  <c:v>fev/22</c:v>
                </c:pt>
                <c:pt idx="26">
                  <c:v>mar/22</c:v>
                </c:pt>
                <c:pt idx="27">
                  <c:v>abr/22</c:v>
                </c:pt>
                <c:pt idx="28">
                  <c:v>mai/22</c:v>
                </c:pt>
                <c:pt idx="29">
                  <c:v>jun/22</c:v>
                </c:pt>
                <c:pt idx="30">
                  <c:v>jul/22</c:v>
                </c:pt>
                <c:pt idx="31">
                  <c:v>ago/22</c:v>
                </c:pt>
                <c:pt idx="32">
                  <c:v>set/22</c:v>
                </c:pt>
                <c:pt idx="33">
                  <c:v>out/22</c:v>
                </c:pt>
                <c:pt idx="34">
                  <c:v>nov/22</c:v>
                </c:pt>
                <c:pt idx="35">
                  <c:v>dez/22</c:v>
                </c:pt>
                <c:pt idx="36">
                  <c:v>jan/23</c:v>
                </c:pt>
                <c:pt idx="37">
                  <c:v>fev/23</c:v>
                </c:pt>
                <c:pt idx="38">
                  <c:v>mar/23</c:v>
                </c:pt>
                <c:pt idx="39">
                  <c:v>abr/23</c:v>
                </c:pt>
                <c:pt idx="40">
                  <c:v>mai/23</c:v>
                </c:pt>
                <c:pt idx="41">
                  <c:v>jun/23</c:v>
                </c:pt>
                <c:pt idx="42">
                  <c:v>jul/23</c:v>
                </c:pt>
                <c:pt idx="43">
                  <c:v>ago/23</c:v>
                </c:pt>
                <c:pt idx="44">
                  <c:v>set/23</c:v>
                </c:pt>
                <c:pt idx="45">
                  <c:v>out/23</c:v>
                </c:pt>
                <c:pt idx="46">
                  <c:v>nov/23</c:v>
                </c:pt>
                <c:pt idx="47">
                  <c:v>dez/23</c:v>
                </c:pt>
                <c:pt idx="48">
                  <c:v>jan/24</c:v>
                </c:pt>
                <c:pt idx="49">
                  <c:v>fev/24</c:v>
                </c:pt>
                <c:pt idx="50">
                  <c:v>mar/24</c:v>
                </c:pt>
                <c:pt idx="51">
                  <c:v>abr/24</c:v>
                </c:pt>
                <c:pt idx="52">
                  <c:v>mai/24</c:v>
                </c:pt>
                <c:pt idx="53">
                  <c:v>jun/24</c:v>
                </c:pt>
                <c:pt idx="54">
                  <c:v>jul/24</c:v>
                </c:pt>
                <c:pt idx="55">
                  <c:v>ago/24</c:v>
                </c:pt>
                <c:pt idx="56">
                  <c:v>set/24</c:v>
                </c:pt>
                <c:pt idx="57">
                  <c:v>out/24</c:v>
                </c:pt>
                <c:pt idx="58">
                  <c:v>nov/24</c:v>
                </c:pt>
                <c:pt idx="59">
                  <c:v>dez/24</c:v>
                </c:pt>
                <c:pt idx="60">
                  <c:v>jan/25</c:v>
                </c:pt>
                <c:pt idx="61">
                  <c:v>fev/25</c:v>
                </c:pt>
                <c:pt idx="62">
                  <c:v>mar/25</c:v>
                </c:pt>
                <c:pt idx="63">
                  <c:v>abr/25</c:v>
                </c:pt>
                <c:pt idx="64">
                  <c:v>mai/25</c:v>
                </c:pt>
                <c:pt idx="65">
                  <c:v>jun/25</c:v>
                </c:pt>
                <c:pt idx="66">
                  <c:v>jul/25</c:v>
                </c:pt>
                <c:pt idx="67">
                  <c:v>ago/25</c:v>
                </c:pt>
                <c:pt idx="68">
                  <c:v>set/25</c:v>
                </c:pt>
                <c:pt idx="69">
                  <c:v>out/25</c:v>
                </c:pt>
                <c:pt idx="70">
                  <c:v>nov/25</c:v>
                </c:pt>
                <c:pt idx="71">
                  <c:v>dez/25</c:v>
                </c:pt>
                <c:pt idx="72">
                  <c:v>jan/26</c:v>
                </c:pt>
                <c:pt idx="73">
                  <c:v>fev/26</c:v>
                </c:pt>
                <c:pt idx="74">
                  <c:v>mar/26</c:v>
                </c:pt>
                <c:pt idx="75">
                  <c:v>abr/26</c:v>
                </c:pt>
                <c:pt idx="76">
                  <c:v>mai/26</c:v>
                </c:pt>
                <c:pt idx="77">
                  <c:v>jun/26</c:v>
                </c:pt>
                <c:pt idx="78">
                  <c:v>jul/26</c:v>
                </c:pt>
                <c:pt idx="79">
                  <c:v>ago/26</c:v>
                </c:pt>
                <c:pt idx="80">
                  <c:v>set/26</c:v>
                </c:pt>
                <c:pt idx="81">
                  <c:v>out/26</c:v>
                </c:pt>
              </c:strCache>
            </c:strRef>
          </c:cat>
          <c:val>
            <c:numRef>
              <c:f>Sheet1!$B$2:$B$83</c:f>
              <c:numCache>
                <c:formatCode>0.0</c:formatCode>
                <c:ptCount val="82"/>
                <c:pt idx="0">
                  <c:v>4.5</c:v>
                </c:pt>
                <c:pt idx="1">
                  <c:v>4.25</c:v>
                </c:pt>
                <c:pt idx="2">
                  <c:v>3.75</c:v>
                </c:pt>
                <c:pt idx="3">
                  <c:v>3.75</c:v>
                </c:pt>
                <c:pt idx="4">
                  <c:v>3</c:v>
                </c:pt>
                <c:pt idx="5">
                  <c:v>2.25</c:v>
                </c:pt>
                <c:pt idx="6">
                  <c:v>2.25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2.75</c:v>
                </c:pt>
                <c:pt idx="15">
                  <c:v>2.75</c:v>
                </c:pt>
                <c:pt idx="16">
                  <c:v>3.5</c:v>
                </c:pt>
                <c:pt idx="17">
                  <c:v>4.25</c:v>
                </c:pt>
                <c:pt idx="18">
                  <c:v>4.25</c:v>
                </c:pt>
                <c:pt idx="19">
                  <c:v>5.25</c:v>
                </c:pt>
                <c:pt idx="20">
                  <c:v>6.25</c:v>
                </c:pt>
                <c:pt idx="21">
                  <c:v>7.75</c:v>
                </c:pt>
                <c:pt idx="22">
                  <c:v>7.75</c:v>
                </c:pt>
                <c:pt idx="23">
                  <c:v>9.25</c:v>
                </c:pt>
                <c:pt idx="24">
                  <c:v>9.25</c:v>
                </c:pt>
                <c:pt idx="25">
                  <c:v>10.75</c:v>
                </c:pt>
                <c:pt idx="26">
                  <c:v>11.75</c:v>
                </c:pt>
                <c:pt idx="27">
                  <c:v>11.75</c:v>
                </c:pt>
                <c:pt idx="28">
                  <c:v>12.75</c:v>
                </c:pt>
                <c:pt idx="29">
                  <c:v>13.25</c:v>
                </c:pt>
                <c:pt idx="30">
                  <c:v>13.25</c:v>
                </c:pt>
                <c:pt idx="31">
                  <c:v>13.75</c:v>
                </c:pt>
                <c:pt idx="32">
                  <c:v>13.75</c:v>
                </c:pt>
                <c:pt idx="33">
                  <c:v>13.75</c:v>
                </c:pt>
                <c:pt idx="34">
                  <c:v>13.75</c:v>
                </c:pt>
                <c:pt idx="35">
                  <c:v>13.75</c:v>
                </c:pt>
                <c:pt idx="36">
                  <c:v>13.75</c:v>
                </c:pt>
                <c:pt idx="37">
                  <c:v>13.75</c:v>
                </c:pt>
                <c:pt idx="38">
                  <c:v>13.75</c:v>
                </c:pt>
                <c:pt idx="39">
                  <c:v>13.75</c:v>
                </c:pt>
                <c:pt idx="40">
                  <c:v>13.75</c:v>
                </c:pt>
                <c:pt idx="41">
                  <c:v>13.75</c:v>
                </c:pt>
                <c:pt idx="42">
                  <c:v>13.75</c:v>
                </c:pt>
                <c:pt idx="43">
                  <c:v>13.25</c:v>
                </c:pt>
                <c:pt idx="44">
                  <c:v>12.75</c:v>
                </c:pt>
                <c:pt idx="45">
                  <c:v>12.75</c:v>
                </c:pt>
                <c:pt idx="46">
                  <c:v>12.25</c:v>
                </c:pt>
                <c:pt idx="47">
                  <c:v>11.75</c:v>
                </c:pt>
                <c:pt idx="48">
                  <c:v>11.75</c:v>
                </c:pt>
                <c:pt idx="49">
                  <c:v>11.25</c:v>
                </c:pt>
                <c:pt idx="50">
                  <c:v>10.75</c:v>
                </c:pt>
                <c:pt idx="51">
                  <c:v>10.75</c:v>
                </c:pt>
                <c:pt idx="52">
                  <c:v>10.5</c:v>
                </c:pt>
                <c:pt idx="53">
                  <c:v>10.5</c:v>
                </c:pt>
                <c:pt idx="54">
                  <c:v>10.5</c:v>
                </c:pt>
                <c:pt idx="55">
                  <c:v>10.5</c:v>
                </c:pt>
                <c:pt idx="56">
                  <c:v>10.75</c:v>
                </c:pt>
                <c:pt idx="57">
                  <c:v>10.75</c:v>
                </c:pt>
                <c:pt idx="58">
                  <c:v>11.25</c:v>
                </c:pt>
                <c:pt idx="59">
                  <c:v>12.25</c:v>
                </c:pt>
                <c:pt idx="60">
                  <c:v>13.25</c:v>
                </c:pt>
                <c:pt idx="61">
                  <c:v>13.25</c:v>
                </c:pt>
                <c:pt idx="62">
                  <c:v>14.25</c:v>
                </c:pt>
                <c:pt idx="63">
                  <c:v>14.25</c:v>
                </c:pt>
                <c:pt idx="64">
                  <c:v>14.75</c:v>
                </c:pt>
                <c:pt idx="65">
                  <c:v>15</c:v>
                </c:pt>
                <c:pt idx="66">
                  <c:v>15</c:v>
                </c:pt>
                <c:pt idx="67">
                  <c:v>15</c:v>
                </c:pt>
                <c:pt idx="68">
                  <c:v>15</c:v>
                </c:pt>
                <c:pt idx="69">
                  <c:v>15</c:v>
                </c:pt>
                <c:pt idx="70">
                  <c:v>15</c:v>
                </c:pt>
                <c:pt idx="71">
                  <c:v>15</c:v>
                </c:pt>
                <c:pt idx="72">
                  <c:v>15</c:v>
                </c:pt>
                <c:pt idx="73">
                  <c:v>15</c:v>
                </c:pt>
                <c:pt idx="74">
                  <c:v>14.75</c:v>
                </c:pt>
                <c:pt idx="75">
                  <c:v>14.5</c:v>
                </c:pt>
                <c:pt idx="76">
                  <c:v>14.5</c:v>
                </c:pt>
                <c:pt idx="77">
                  <c:v>14.25</c:v>
                </c:pt>
                <c:pt idx="78">
                  <c:v>14.25</c:v>
                </c:pt>
                <c:pt idx="79">
                  <c:v>14</c:v>
                </c:pt>
                <c:pt idx="80">
                  <c:v>13.75</c:v>
                </c:pt>
                <c:pt idx="81">
                  <c:v>13.75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F7D-4574-B1CF-CA0105E9E5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0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12"/>
        <c:tickMarkSkip val="12"/>
        <c:noMultiLvlLbl val="0"/>
      </c:catAx>
      <c:valAx>
        <c:axId val="2140495176"/>
        <c:scaling>
          <c:orientation val="minMax"/>
          <c:max val="16"/>
          <c:min val="0"/>
        </c:scaling>
        <c:delete val="0"/>
        <c:axPos val="l"/>
        <c:majorGridlines>
          <c:spPr>
            <a:ln w="9525">
              <a:solidFill>
                <a:srgbClr val="DDDDD8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crossAx val="2118791784"/>
        <c:crosses val="autoZero"/>
        <c:crossBetween val="between"/>
        <c:majorUnit val="2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6B6B6B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ln w="28575">
              <a:solidFill>
                <a:srgbClr val="1A1A1A"/>
              </a:solidFill>
            </a:ln>
          </c:spPr>
          <c:marker>
            <c:symbol val="none"/>
          </c:marker>
          <c:dLbls>
            <c:dLbl>
              <c:idx val="57"/>
              <c:numFmt formatCode="0.0" sourceLinked="0"/>
              <c:spPr/>
              <c:txPr>
                <a:bodyPr/>
                <a:lstStyle/>
                <a:p>
                  <a:pPr>
                    <a:defRPr sz="1200" b="1">
                      <a:solidFill>
                        <a:srgbClr val="1A1A1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587-4ABA-BC6C-FA40A8281F2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1T12</c:v>
                </c:pt>
                <c:pt idx="1">
                  <c:v>2T12</c:v>
                </c:pt>
                <c:pt idx="2">
                  <c:v>3T12</c:v>
                </c:pt>
                <c:pt idx="3">
                  <c:v>4T12</c:v>
                </c:pt>
                <c:pt idx="4">
                  <c:v>1T13</c:v>
                </c:pt>
                <c:pt idx="5">
                  <c:v>2T13</c:v>
                </c:pt>
                <c:pt idx="6">
                  <c:v>3T13</c:v>
                </c:pt>
                <c:pt idx="7">
                  <c:v>4T13</c:v>
                </c:pt>
                <c:pt idx="8">
                  <c:v>1T14</c:v>
                </c:pt>
                <c:pt idx="9">
                  <c:v>2T14</c:v>
                </c:pt>
                <c:pt idx="10">
                  <c:v>3T14</c:v>
                </c:pt>
                <c:pt idx="11">
                  <c:v>4T14</c:v>
                </c:pt>
                <c:pt idx="12">
                  <c:v>1T15</c:v>
                </c:pt>
                <c:pt idx="13">
                  <c:v>2T15</c:v>
                </c:pt>
                <c:pt idx="14">
                  <c:v>3T15</c:v>
                </c:pt>
                <c:pt idx="15">
                  <c:v>4T15</c:v>
                </c:pt>
                <c:pt idx="16">
                  <c:v>1T16</c:v>
                </c:pt>
                <c:pt idx="17">
                  <c:v>2T16</c:v>
                </c:pt>
                <c:pt idx="18">
                  <c:v>3T16</c:v>
                </c:pt>
                <c:pt idx="19">
                  <c:v>4T16</c:v>
                </c:pt>
                <c:pt idx="20">
                  <c:v>1T17</c:v>
                </c:pt>
                <c:pt idx="21">
                  <c:v>2T17</c:v>
                </c:pt>
                <c:pt idx="22">
                  <c:v>3T17</c:v>
                </c:pt>
                <c:pt idx="23">
                  <c:v>4T17</c:v>
                </c:pt>
                <c:pt idx="24">
                  <c:v>1T18</c:v>
                </c:pt>
                <c:pt idx="25">
                  <c:v>2T18</c:v>
                </c:pt>
                <c:pt idx="26">
                  <c:v>3T18</c:v>
                </c:pt>
                <c:pt idx="27">
                  <c:v>4T18</c:v>
                </c:pt>
                <c:pt idx="28">
                  <c:v>1T19</c:v>
                </c:pt>
                <c:pt idx="29">
                  <c:v>2T19</c:v>
                </c:pt>
                <c:pt idx="30">
                  <c:v>3T19</c:v>
                </c:pt>
                <c:pt idx="31">
                  <c:v>4T19</c:v>
                </c:pt>
                <c:pt idx="32">
                  <c:v>1T20</c:v>
                </c:pt>
                <c:pt idx="33">
                  <c:v>2T20</c:v>
                </c:pt>
                <c:pt idx="34">
                  <c:v>3T20</c:v>
                </c:pt>
                <c:pt idx="35">
                  <c:v>4T20</c:v>
                </c:pt>
                <c:pt idx="36">
                  <c:v>1T21</c:v>
                </c:pt>
                <c:pt idx="37">
                  <c:v>2T21</c:v>
                </c:pt>
                <c:pt idx="38">
                  <c:v>3T21</c:v>
                </c:pt>
                <c:pt idx="39">
                  <c:v>4T21</c:v>
                </c:pt>
                <c:pt idx="40">
                  <c:v>1T22</c:v>
                </c:pt>
                <c:pt idx="41">
                  <c:v>2T22</c:v>
                </c:pt>
                <c:pt idx="42">
                  <c:v>3T22</c:v>
                </c:pt>
                <c:pt idx="43">
                  <c:v>4T22</c:v>
                </c:pt>
                <c:pt idx="44">
                  <c:v>1T23</c:v>
                </c:pt>
                <c:pt idx="45">
                  <c:v>2T23</c:v>
                </c:pt>
                <c:pt idx="46">
                  <c:v>3T23</c:v>
                </c:pt>
                <c:pt idx="47">
                  <c:v>4T23</c:v>
                </c:pt>
                <c:pt idx="48">
                  <c:v>1T24</c:v>
                </c:pt>
                <c:pt idx="49">
                  <c:v>2T24</c:v>
                </c:pt>
                <c:pt idx="50">
                  <c:v>3T24</c:v>
                </c:pt>
                <c:pt idx="51">
                  <c:v>4T24</c:v>
                </c:pt>
                <c:pt idx="52">
                  <c:v>1T25</c:v>
                </c:pt>
                <c:pt idx="53">
                  <c:v>2T25</c:v>
                </c:pt>
                <c:pt idx="54">
                  <c:v>3T25</c:v>
                </c:pt>
                <c:pt idx="55">
                  <c:v>4T25</c:v>
                </c:pt>
                <c:pt idx="56">
                  <c:v>1T26</c:v>
                </c:pt>
                <c:pt idx="57">
                  <c:v>2T26</c:v>
                </c:pt>
              </c:strCache>
            </c:strRef>
          </c:cat>
          <c:val>
            <c:numRef>
              <c:f>Sheet1!$B$2:$B$59</c:f>
              <c:numCache>
                <c:formatCode>0.0</c:formatCode>
                <c:ptCount val="58"/>
                <c:pt idx="0">
                  <c:v>8</c:v>
                </c:pt>
                <c:pt idx="1">
                  <c:v>7.6</c:v>
                </c:pt>
                <c:pt idx="2">
                  <c:v>7.1</c:v>
                </c:pt>
                <c:pt idx="3">
                  <c:v>6.9</c:v>
                </c:pt>
                <c:pt idx="4">
                  <c:v>8</c:v>
                </c:pt>
                <c:pt idx="5">
                  <c:v>7.5</c:v>
                </c:pt>
                <c:pt idx="6">
                  <c:v>7</c:v>
                </c:pt>
                <c:pt idx="7">
                  <c:v>6.2</c:v>
                </c:pt>
                <c:pt idx="8">
                  <c:v>7.2</c:v>
                </c:pt>
                <c:pt idx="9">
                  <c:v>6.9</c:v>
                </c:pt>
                <c:pt idx="10">
                  <c:v>6.8</c:v>
                </c:pt>
                <c:pt idx="11">
                  <c:v>6.6</c:v>
                </c:pt>
                <c:pt idx="12">
                  <c:v>8</c:v>
                </c:pt>
                <c:pt idx="13">
                  <c:v>8.4</c:v>
                </c:pt>
                <c:pt idx="14">
                  <c:v>9</c:v>
                </c:pt>
                <c:pt idx="15">
                  <c:v>9.1</c:v>
                </c:pt>
                <c:pt idx="16">
                  <c:v>11</c:v>
                </c:pt>
                <c:pt idx="17">
                  <c:v>11.4</c:v>
                </c:pt>
                <c:pt idx="18">
                  <c:v>11.9</c:v>
                </c:pt>
                <c:pt idx="19">
                  <c:v>12.1</c:v>
                </c:pt>
                <c:pt idx="20">
                  <c:v>13.9</c:v>
                </c:pt>
                <c:pt idx="21">
                  <c:v>13.1</c:v>
                </c:pt>
                <c:pt idx="22">
                  <c:v>12.5</c:v>
                </c:pt>
                <c:pt idx="23">
                  <c:v>11.9</c:v>
                </c:pt>
                <c:pt idx="24">
                  <c:v>13.2</c:v>
                </c:pt>
                <c:pt idx="25">
                  <c:v>12.6</c:v>
                </c:pt>
                <c:pt idx="26">
                  <c:v>12</c:v>
                </c:pt>
                <c:pt idx="27">
                  <c:v>11.7</c:v>
                </c:pt>
                <c:pt idx="28">
                  <c:v>12.8</c:v>
                </c:pt>
                <c:pt idx="29">
                  <c:v>12.1</c:v>
                </c:pt>
                <c:pt idx="30">
                  <c:v>11.9</c:v>
                </c:pt>
                <c:pt idx="31">
                  <c:v>11.1</c:v>
                </c:pt>
                <c:pt idx="32">
                  <c:v>12.4</c:v>
                </c:pt>
                <c:pt idx="33">
                  <c:v>13.6</c:v>
                </c:pt>
                <c:pt idx="34">
                  <c:v>14.9</c:v>
                </c:pt>
                <c:pt idx="35">
                  <c:v>14.2</c:v>
                </c:pt>
                <c:pt idx="36">
                  <c:v>14.9</c:v>
                </c:pt>
                <c:pt idx="37">
                  <c:v>14.2</c:v>
                </c:pt>
                <c:pt idx="38">
                  <c:v>12.7</c:v>
                </c:pt>
                <c:pt idx="39">
                  <c:v>11.1</c:v>
                </c:pt>
                <c:pt idx="40">
                  <c:v>11.1</c:v>
                </c:pt>
                <c:pt idx="41">
                  <c:v>9.3000000000000007</c:v>
                </c:pt>
                <c:pt idx="42">
                  <c:v>8.6999999999999993</c:v>
                </c:pt>
                <c:pt idx="43">
                  <c:v>7.9</c:v>
                </c:pt>
                <c:pt idx="44">
                  <c:v>8.8000000000000007</c:v>
                </c:pt>
                <c:pt idx="45">
                  <c:v>8</c:v>
                </c:pt>
                <c:pt idx="46">
                  <c:v>7.7</c:v>
                </c:pt>
                <c:pt idx="47">
                  <c:v>7.4</c:v>
                </c:pt>
                <c:pt idx="48">
                  <c:v>7.9</c:v>
                </c:pt>
                <c:pt idx="49">
                  <c:v>6.9</c:v>
                </c:pt>
                <c:pt idx="50">
                  <c:v>6.4</c:v>
                </c:pt>
                <c:pt idx="51">
                  <c:v>6.2</c:v>
                </c:pt>
                <c:pt idx="52">
                  <c:v>7</c:v>
                </c:pt>
                <c:pt idx="53">
                  <c:v>5.8</c:v>
                </c:pt>
                <c:pt idx="54">
                  <c:v>5.6</c:v>
                </c:pt>
                <c:pt idx="55">
                  <c:v>5.0999999999999996</c:v>
                </c:pt>
                <c:pt idx="56">
                  <c:v>6.1</c:v>
                </c:pt>
                <c:pt idx="57">
                  <c:v>5.4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587-4ABA-BC6C-FA40A8281F2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28575">
              <a:solidFill>
                <a:srgbClr val="1A6FE0"/>
              </a:solidFill>
            </a:ln>
          </c:spPr>
          <c:marker>
            <c:symbol val="none"/>
          </c:marker>
          <c:dLbls>
            <c:dLbl>
              <c:idx val="57"/>
              <c:numFmt formatCode="0.0" sourceLinked="0"/>
              <c:spPr/>
              <c:txPr>
                <a:bodyPr/>
                <a:lstStyle/>
                <a:p>
                  <a:pPr>
                    <a:defRPr sz="1200" b="1">
                      <a:solidFill>
                        <a:srgbClr val="1A6FE0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587-4ABA-BC6C-FA40A8281F2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1T12</c:v>
                </c:pt>
                <c:pt idx="1">
                  <c:v>2T12</c:v>
                </c:pt>
                <c:pt idx="2">
                  <c:v>3T12</c:v>
                </c:pt>
                <c:pt idx="3">
                  <c:v>4T12</c:v>
                </c:pt>
                <c:pt idx="4">
                  <c:v>1T13</c:v>
                </c:pt>
                <c:pt idx="5">
                  <c:v>2T13</c:v>
                </c:pt>
                <c:pt idx="6">
                  <c:v>3T13</c:v>
                </c:pt>
                <c:pt idx="7">
                  <c:v>4T13</c:v>
                </c:pt>
                <c:pt idx="8">
                  <c:v>1T14</c:v>
                </c:pt>
                <c:pt idx="9">
                  <c:v>2T14</c:v>
                </c:pt>
                <c:pt idx="10">
                  <c:v>3T14</c:v>
                </c:pt>
                <c:pt idx="11">
                  <c:v>4T14</c:v>
                </c:pt>
                <c:pt idx="12">
                  <c:v>1T15</c:v>
                </c:pt>
                <c:pt idx="13">
                  <c:v>2T15</c:v>
                </c:pt>
                <c:pt idx="14">
                  <c:v>3T15</c:v>
                </c:pt>
                <c:pt idx="15">
                  <c:v>4T15</c:v>
                </c:pt>
                <c:pt idx="16">
                  <c:v>1T16</c:v>
                </c:pt>
                <c:pt idx="17">
                  <c:v>2T16</c:v>
                </c:pt>
                <c:pt idx="18">
                  <c:v>3T16</c:v>
                </c:pt>
                <c:pt idx="19">
                  <c:v>4T16</c:v>
                </c:pt>
                <c:pt idx="20">
                  <c:v>1T17</c:v>
                </c:pt>
                <c:pt idx="21">
                  <c:v>2T17</c:v>
                </c:pt>
                <c:pt idx="22">
                  <c:v>3T17</c:v>
                </c:pt>
                <c:pt idx="23">
                  <c:v>4T17</c:v>
                </c:pt>
                <c:pt idx="24">
                  <c:v>1T18</c:v>
                </c:pt>
                <c:pt idx="25">
                  <c:v>2T18</c:v>
                </c:pt>
                <c:pt idx="26">
                  <c:v>3T18</c:v>
                </c:pt>
                <c:pt idx="27">
                  <c:v>4T18</c:v>
                </c:pt>
                <c:pt idx="28">
                  <c:v>1T19</c:v>
                </c:pt>
                <c:pt idx="29">
                  <c:v>2T19</c:v>
                </c:pt>
                <c:pt idx="30">
                  <c:v>3T19</c:v>
                </c:pt>
                <c:pt idx="31">
                  <c:v>4T19</c:v>
                </c:pt>
                <c:pt idx="32">
                  <c:v>1T20</c:v>
                </c:pt>
                <c:pt idx="33">
                  <c:v>2T20</c:v>
                </c:pt>
                <c:pt idx="34">
                  <c:v>3T20</c:v>
                </c:pt>
                <c:pt idx="35">
                  <c:v>4T20</c:v>
                </c:pt>
                <c:pt idx="36">
                  <c:v>1T21</c:v>
                </c:pt>
                <c:pt idx="37">
                  <c:v>2T21</c:v>
                </c:pt>
                <c:pt idx="38">
                  <c:v>3T21</c:v>
                </c:pt>
                <c:pt idx="39">
                  <c:v>4T21</c:v>
                </c:pt>
                <c:pt idx="40">
                  <c:v>1T22</c:v>
                </c:pt>
                <c:pt idx="41">
                  <c:v>2T22</c:v>
                </c:pt>
                <c:pt idx="42">
                  <c:v>3T22</c:v>
                </c:pt>
                <c:pt idx="43">
                  <c:v>4T22</c:v>
                </c:pt>
                <c:pt idx="44">
                  <c:v>1T23</c:v>
                </c:pt>
                <c:pt idx="45">
                  <c:v>2T23</c:v>
                </c:pt>
                <c:pt idx="46">
                  <c:v>3T23</c:v>
                </c:pt>
                <c:pt idx="47">
                  <c:v>4T23</c:v>
                </c:pt>
                <c:pt idx="48">
                  <c:v>1T24</c:v>
                </c:pt>
                <c:pt idx="49">
                  <c:v>2T24</c:v>
                </c:pt>
                <c:pt idx="50">
                  <c:v>3T24</c:v>
                </c:pt>
                <c:pt idx="51">
                  <c:v>4T24</c:v>
                </c:pt>
                <c:pt idx="52">
                  <c:v>1T25</c:v>
                </c:pt>
                <c:pt idx="53">
                  <c:v>2T25</c:v>
                </c:pt>
                <c:pt idx="54">
                  <c:v>3T25</c:v>
                </c:pt>
                <c:pt idx="55">
                  <c:v>4T25</c:v>
                </c:pt>
                <c:pt idx="56">
                  <c:v>1T26</c:v>
                </c:pt>
                <c:pt idx="57">
                  <c:v>2T26</c:v>
                </c:pt>
              </c:strCache>
            </c:strRef>
          </c:cat>
          <c:val>
            <c:numRef>
              <c:f>Sheet1!$C$2:$C$59</c:f>
              <c:numCache>
                <c:formatCode>0.0</c:formatCode>
                <c:ptCount val="58"/>
                <c:pt idx="0">
                  <c:v>4.0999999999999996</c:v>
                </c:pt>
                <c:pt idx="1">
                  <c:v>3.8</c:v>
                </c:pt>
                <c:pt idx="2">
                  <c:v>3.2</c:v>
                </c:pt>
                <c:pt idx="3">
                  <c:v>2.7</c:v>
                </c:pt>
                <c:pt idx="4">
                  <c:v>3.7</c:v>
                </c:pt>
                <c:pt idx="5">
                  <c:v>3.5</c:v>
                </c:pt>
                <c:pt idx="6">
                  <c:v>2.8</c:v>
                </c:pt>
                <c:pt idx="7">
                  <c:v>2.6</c:v>
                </c:pt>
                <c:pt idx="8">
                  <c:v>3.1</c:v>
                </c:pt>
                <c:pt idx="9">
                  <c:v>2.8</c:v>
                </c:pt>
                <c:pt idx="10">
                  <c:v>3</c:v>
                </c:pt>
                <c:pt idx="11">
                  <c:v>2.7</c:v>
                </c:pt>
                <c:pt idx="12">
                  <c:v>3.9</c:v>
                </c:pt>
                <c:pt idx="13">
                  <c:v>4</c:v>
                </c:pt>
                <c:pt idx="14">
                  <c:v>4.4000000000000004</c:v>
                </c:pt>
                <c:pt idx="15">
                  <c:v>4.3</c:v>
                </c:pt>
                <c:pt idx="16">
                  <c:v>6.1</c:v>
                </c:pt>
                <c:pt idx="17">
                  <c:v>6.8</c:v>
                </c:pt>
                <c:pt idx="18">
                  <c:v>6.4</c:v>
                </c:pt>
                <c:pt idx="19">
                  <c:v>6.2</c:v>
                </c:pt>
                <c:pt idx="20">
                  <c:v>7.9</c:v>
                </c:pt>
                <c:pt idx="21">
                  <c:v>7.5</c:v>
                </c:pt>
                <c:pt idx="22">
                  <c:v>6.8</c:v>
                </c:pt>
                <c:pt idx="23">
                  <c:v>6.4</c:v>
                </c:pt>
                <c:pt idx="24">
                  <c:v>6.6</c:v>
                </c:pt>
                <c:pt idx="25">
                  <c:v>6.6</c:v>
                </c:pt>
                <c:pt idx="26">
                  <c:v>6.2</c:v>
                </c:pt>
                <c:pt idx="27">
                  <c:v>6.4</c:v>
                </c:pt>
                <c:pt idx="28">
                  <c:v>7.3</c:v>
                </c:pt>
                <c:pt idx="29">
                  <c:v>6.1</c:v>
                </c:pt>
                <c:pt idx="30">
                  <c:v>5.8</c:v>
                </c:pt>
                <c:pt idx="31">
                  <c:v>5.5</c:v>
                </c:pt>
                <c:pt idx="32">
                  <c:v>5.8</c:v>
                </c:pt>
                <c:pt idx="33">
                  <c:v>7.2</c:v>
                </c:pt>
                <c:pt idx="34">
                  <c:v>6.7</c:v>
                </c:pt>
                <c:pt idx="35">
                  <c:v>5.4</c:v>
                </c:pt>
                <c:pt idx="36">
                  <c:v>6.4</c:v>
                </c:pt>
                <c:pt idx="37">
                  <c:v>5.9</c:v>
                </c:pt>
                <c:pt idx="38">
                  <c:v>5.3</c:v>
                </c:pt>
                <c:pt idx="39">
                  <c:v>4.4000000000000004</c:v>
                </c:pt>
                <c:pt idx="40">
                  <c:v>4.5999999999999996</c:v>
                </c:pt>
                <c:pt idx="41">
                  <c:v>4</c:v>
                </c:pt>
                <c:pt idx="42">
                  <c:v>3.8</c:v>
                </c:pt>
                <c:pt idx="43">
                  <c:v>3.3</c:v>
                </c:pt>
                <c:pt idx="44">
                  <c:v>3.9</c:v>
                </c:pt>
                <c:pt idx="45">
                  <c:v>3.5</c:v>
                </c:pt>
                <c:pt idx="46">
                  <c:v>3.6</c:v>
                </c:pt>
                <c:pt idx="47">
                  <c:v>3.2</c:v>
                </c:pt>
                <c:pt idx="48">
                  <c:v>3.9</c:v>
                </c:pt>
                <c:pt idx="49">
                  <c:v>3.2</c:v>
                </c:pt>
                <c:pt idx="50">
                  <c:v>2.8</c:v>
                </c:pt>
                <c:pt idx="51">
                  <c:v>2.7</c:v>
                </c:pt>
                <c:pt idx="52">
                  <c:v>3</c:v>
                </c:pt>
                <c:pt idx="53">
                  <c:v>2.2000000000000002</c:v>
                </c:pt>
                <c:pt idx="54">
                  <c:v>2.2999999999999998</c:v>
                </c:pt>
                <c:pt idx="55">
                  <c:v>2.2000000000000002</c:v>
                </c:pt>
                <c:pt idx="56">
                  <c:v>2.7</c:v>
                </c:pt>
                <c:pt idx="57">
                  <c:v>2.1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587-4ABA-BC6C-FA40A8281F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0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8"/>
        <c:tickMarkSkip val="8"/>
        <c:noMultiLvlLbl val="0"/>
      </c:catAx>
      <c:valAx>
        <c:axId val="2140495176"/>
        <c:scaling>
          <c:orientation val="minMax"/>
          <c:max val="16"/>
          <c:min val="0"/>
        </c:scaling>
        <c:delete val="0"/>
        <c:axPos val="l"/>
        <c:majorGridlines>
          <c:spPr>
            <a:ln w="9525">
              <a:solidFill>
                <a:srgbClr val="DDDDD8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crossAx val="2118791784"/>
        <c:crosses val="autoZero"/>
        <c:crossBetween val="between"/>
        <c:majorUnit val="2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3C3C3C"/>
              </a:solidFill>
            </a:defRPr>
          </a:pPr>
          <a:endParaRPr lang="pt-BR"/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6B6B6B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Consumo</c:v>
                </c:pt>
              </c:strCache>
            </c:strRef>
          </c:tx>
          <c:spPr>
            <a:solidFill>
              <a:srgbClr val="1A6FE0"/>
            </a:solidFill>
          </c:spPr>
          <c:invertIfNegative val="0"/>
          <c:dLbls>
            <c:dLbl>
              <c:idx val="29"/>
              <c:numFmt formatCode="0.0" sourceLinked="0"/>
              <c:spPr/>
              <c:txPr>
                <a:bodyPr/>
                <a:lstStyle/>
                <a:p>
                  <a:pPr>
                    <a:defRPr sz="1200" b="1">
                      <a:solidFill>
                        <a:srgbClr val="1A6FE0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490-45E1-A72E-2E3D1F30A60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Sheet1!$A$2:$A$31</c:f>
              <c:strCache>
                <c:ptCount val="30"/>
                <c:pt idx="0">
                  <c:v>1T19</c:v>
                </c:pt>
                <c:pt idx="1">
                  <c:v>2T19</c:v>
                </c:pt>
                <c:pt idx="2">
                  <c:v>3T19</c:v>
                </c:pt>
                <c:pt idx="3">
                  <c:v>4T19</c:v>
                </c:pt>
                <c:pt idx="4">
                  <c:v>1T20</c:v>
                </c:pt>
                <c:pt idx="5">
                  <c:v>2T20</c:v>
                </c:pt>
                <c:pt idx="6">
                  <c:v>3T20</c:v>
                </c:pt>
                <c:pt idx="7">
                  <c:v>4T20</c:v>
                </c:pt>
                <c:pt idx="8">
                  <c:v>1T21</c:v>
                </c:pt>
                <c:pt idx="9">
                  <c:v>2T21</c:v>
                </c:pt>
                <c:pt idx="10">
                  <c:v>3T21</c:v>
                </c:pt>
                <c:pt idx="11">
                  <c:v>4T21</c:v>
                </c:pt>
                <c:pt idx="12">
                  <c:v>1T22</c:v>
                </c:pt>
                <c:pt idx="13">
                  <c:v>2T22</c:v>
                </c:pt>
                <c:pt idx="14">
                  <c:v>3T22</c:v>
                </c:pt>
                <c:pt idx="15">
                  <c:v>4T22</c:v>
                </c:pt>
                <c:pt idx="16">
                  <c:v>1T23</c:v>
                </c:pt>
                <c:pt idx="17">
                  <c:v>2T23</c:v>
                </c:pt>
                <c:pt idx="18">
                  <c:v>3T23</c:v>
                </c:pt>
                <c:pt idx="19">
                  <c:v>4T23</c:v>
                </c:pt>
                <c:pt idx="20">
                  <c:v>1T24</c:v>
                </c:pt>
                <c:pt idx="21">
                  <c:v>2T24</c:v>
                </c:pt>
                <c:pt idx="22">
                  <c:v>3T24</c:v>
                </c:pt>
                <c:pt idx="23">
                  <c:v>4T24</c:v>
                </c:pt>
                <c:pt idx="24">
                  <c:v>1T25</c:v>
                </c:pt>
                <c:pt idx="25">
                  <c:v>2T25</c:v>
                </c:pt>
                <c:pt idx="26">
                  <c:v>3T25</c:v>
                </c:pt>
                <c:pt idx="27">
                  <c:v>4T25</c:v>
                </c:pt>
                <c:pt idx="28">
                  <c:v>1T26</c:v>
                </c:pt>
                <c:pt idx="29">
                  <c:v>2T26</c:v>
                </c:pt>
              </c:strCache>
            </c:strRef>
          </c:cat>
          <c:val>
            <c:numRef>
              <c:f>Sheet1!$B$2:$B$31</c:f>
              <c:numCache>
                <c:formatCode>0.0</c:formatCode>
                <c:ptCount val="30"/>
                <c:pt idx="0">
                  <c:v>2</c:v>
                </c:pt>
                <c:pt idx="1">
                  <c:v>2.1</c:v>
                </c:pt>
                <c:pt idx="2">
                  <c:v>2.2999999999999998</c:v>
                </c:pt>
                <c:pt idx="3">
                  <c:v>2.6</c:v>
                </c:pt>
                <c:pt idx="4">
                  <c:v>2.1</c:v>
                </c:pt>
                <c:pt idx="5">
                  <c:v>-1.2</c:v>
                </c:pt>
                <c:pt idx="6">
                  <c:v>-3.2</c:v>
                </c:pt>
                <c:pt idx="7">
                  <c:v>-4.5999999999999996</c:v>
                </c:pt>
                <c:pt idx="8">
                  <c:v>-5</c:v>
                </c:pt>
                <c:pt idx="9">
                  <c:v>-0.2</c:v>
                </c:pt>
                <c:pt idx="10">
                  <c:v>2.1</c:v>
                </c:pt>
                <c:pt idx="11">
                  <c:v>3</c:v>
                </c:pt>
                <c:pt idx="12">
                  <c:v>3.8</c:v>
                </c:pt>
                <c:pt idx="13">
                  <c:v>2.9</c:v>
                </c:pt>
                <c:pt idx="14">
                  <c:v>3.1</c:v>
                </c:pt>
                <c:pt idx="15">
                  <c:v>4.0999999999999996</c:v>
                </c:pt>
                <c:pt idx="16">
                  <c:v>4.7</c:v>
                </c:pt>
                <c:pt idx="17">
                  <c:v>4.0999999999999996</c:v>
                </c:pt>
                <c:pt idx="18">
                  <c:v>3.7</c:v>
                </c:pt>
                <c:pt idx="19">
                  <c:v>3.2</c:v>
                </c:pt>
                <c:pt idx="20">
                  <c:v>3.5</c:v>
                </c:pt>
                <c:pt idx="21">
                  <c:v>4.0999999999999996</c:v>
                </c:pt>
                <c:pt idx="22">
                  <c:v>4.8</c:v>
                </c:pt>
                <c:pt idx="23">
                  <c:v>5.0999999999999996</c:v>
                </c:pt>
                <c:pt idx="24">
                  <c:v>4.4000000000000004</c:v>
                </c:pt>
                <c:pt idx="25">
                  <c:v>3.5</c:v>
                </c:pt>
                <c:pt idx="26">
                  <c:v>2.1</c:v>
                </c:pt>
                <c:pt idx="27">
                  <c:v>1.3</c:v>
                </c:pt>
                <c:pt idx="28">
                  <c:v>1.2</c:v>
                </c:pt>
                <c:pt idx="29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490-45E1-A72E-2E3D1F30A6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000"/>
            </a:pPr>
            <a:endParaRPr lang="pt-BR"/>
          </a:p>
        </c:txPr>
        <c:crossAx val="-2113994440"/>
        <c:crosses val="autoZero"/>
        <c:auto val="1"/>
        <c:lblAlgn val="ctr"/>
        <c:lblOffset val="100"/>
        <c:tickLblSkip val="2"/>
        <c:tickMarkSkip val="2"/>
        <c:noMultiLvlLbl val="0"/>
      </c:catAx>
      <c:valAx>
        <c:axId val="-2113994440"/>
        <c:scaling>
          <c:orientation val="minMax"/>
          <c:max val="8"/>
          <c:min val="-6"/>
        </c:scaling>
        <c:delete val="0"/>
        <c:axPos val="l"/>
        <c:majorGridlines>
          <c:spPr>
            <a:ln w="9525">
              <a:solidFill>
                <a:srgbClr val="DDDDD8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  <c:crossBetween val="between"/>
        <c:majorUnit val="2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6B6B6B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Comprometimento da renda</c:v>
                </c:pt>
              </c:strCache>
            </c:strRef>
          </c:tx>
          <c:spPr>
            <a:ln w="28575">
              <a:solidFill>
                <a:srgbClr val="1A6FE0"/>
              </a:solidFill>
            </a:ln>
          </c:spPr>
          <c:marker>
            <c:symbol val="none"/>
          </c:marker>
          <c:dLbls>
            <c:dLbl>
              <c:idx val="256"/>
              <c:numFmt formatCode="0.0" sourceLinked="0"/>
              <c:spPr/>
              <c:txPr>
                <a:bodyPr/>
                <a:lstStyle/>
                <a:p>
                  <a:pPr>
                    <a:defRPr sz="1200" b="1">
                      <a:solidFill>
                        <a:srgbClr val="1A6FE0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EA0-420D-B281-BEC98C995B5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Sheet1!$A$2:$A$258</c:f>
              <c:strCache>
                <c:ptCount val="257"/>
                <c:pt idx="0">
                  <c:v>mar/05</c:v>
                </c:pt>
                <c:pt idx="1">
                  <c:v>abr/05</c:v>
                </c:pt>
                <c:pt idx="2">
                  <c:v>mai/05</c:v>
                </c:pt>
                <c:pt idx="3">
                  <c:v>jun/05</c:v>
                </c:pt>
                <c:pt idx="4">
                  <c:v>jul/05</c:v>
                </c:pt>
                <c:pt idx="5">
                  <c:v>ago/05</c:v>
                </c:pt>
                <c:pt idx="6">
                  <c:v>set/05</c:v>
                </c:pt>
                <c:pt idx="7">
                  <c:v>out/05</c:v>
                </c:pt>
                <c:pt idx="8">
                  <c:v>nov/05</c:v>
                </c:pt>
                <c:pt idx="9">
                  <c:v>dez/05</c:v>
                </c:pt>
                <c:pt idx="10">
                  <c:v>jan/06</c:v>
                </c:pt>
                <c:pt idx="11">
                  <c:v>fev/06</c:v>
                </c:pt>
                <c:pt idx="12">
                  <c:v>mar/06</c:v>
                </c:pt>
                <c:pt idx="13">
                  <c:v>abr/06</c:v>
                </c:pt>
                <c:pt idx="14">
                  <c:v>mai/06</c:v>
                </c:pt>
                <c:pt idx="15">
                  <c:v>jun/06</c:v>
                </c:pt>
                <c:pt idx="16">
                  <c:v>jul/06</c:v>
                </c:pt>
                <c:pt idx="17">
                  <c:v>ago/06</c:v>
                </c:pt>
                <c:pt idx="18">
                  <c:v>set/06</c:v>
                </c:pt>
                <c:pt idx="19">
                  <c:v>out/06</c:v>
                </c:pt>
                <c:pt idx="20">
                  <c:v>nov/06</c:v>
                </c:pt>
                <c:pt idx="21">
                  <c:v>dez/06</c:v>
                </c:pt>
                <c:pt idx="22">
                  <c:v>jan/07</c:v>
                </c:pt>
                <c:pt idx="23">
                  <c:v>fev/07</c:v>
                </c:pt>
                <c:pt idx="24">
                  <c:v>mar/07</c:v>
                </c:pt>
                <c:pt idx="25">
                  <c:v>abr/07</c:v>
                </c:pt>
                <c:pt idx="26">
                  <c:v>mai/07</c:v>
                </c:pt>
                <c:pt idx="27">
                  <c:v>jun/07</c:v>
                </c:pt>
                <c:pt idx="28">
                  <c:v>jul/07</c:v>
                </c:pt>
                <c:pt idx="29">
                  <c:v>ago/07</c:v>
                </c:pt>
                <c:pt idx="30">
                  <c:v>set/07</c:v>
                </c:pt>
                <c:pt idx="31">
                  <c:v>out/07</c:v>
                </c:pt>
                <c:pt idx="32">
                  <c:v>nov/07</c:v>
                </c:pt>
                <c:pt idx="33">
                  <c:v>dez/07</c:v>
                </c:pt>
                <c:pt idx="34">
                  <c:v>jan/08</c:v>
                </c:pt>
                <c:pt idx="35">
                  <c:v>fev/08</c:v>
                </c:pt>
                <c:pt idx="36">
                  <c:v>mar/08</c:v>
                </c:pt>
                <c:pt idx="37">
                  <c:v>abr/08</c:v>
                </c:pt>
                <c:pt idx="38">
                  <c:v>mai/08</c:v>
                </c:pt>
                <c:pt idx="39">
                  <c:v>jun/08</c:v>
                </c:pt>
                <c:pt idx="40">
                  <c:v>jul/08</c:v>
                </c:pt>
                <c:pt idx="41">
                  <c:v>ago/08</c:v>
                </c:pt>
                <c:pt idx="42">
                  <c:v>set/08</c:v>
                </c:pt>
                <c:pt idx="43">
                  <c:v>out/08</c:v>
                </c:pt>
                <c:pt idx="44">
                  <c:v>nov/08</c:v>
                </c:pt>
                <c:pt idx="45">
                  <c:v>dez/08</c:v>
                </c:pt>
                <c:pt idx="46">
                  <c:v>jan/09</c:v>
                </c:pt>
                <c:pt idx="47">
                  <c:v>fev/09</c:v>
                </c:pt>
                <c:pt idx="48">
                  <c:v>mar/09</c:v>
                </c:pt>
                <c:pt idx="49">
                  <c:v>abr/09</c:v>
                </c:pt>
                <c:pt idx="50">
                  <c:v>mai/09</c:v>
                </c:pt>
                <c:pt idx="51">
                  <c:v>jun/09</c:v>
                </c:pt>
                <c:pt idx="52">
                  <c:v>jul/09</c:v>
                </c:pt>
                <c:pt idx="53">
                  <c:v>ago/09</c:v>
                </c:pt>
                <c:pt idx="54">
                  <c:v>set/09</c:v>
                </c:pt>
                <c:pt idx="55">
                  <c:v>out/09</c:v>
                </c:pt>
                <c:pt idx="56">
                  <c:v>nov/09</c:v>
                </c:pt>
                <c:pt idx="57">
                  <c:v>dez/09</c:v>
                </c:pt>
                <c:pt idx="58">
                  <c:v>jan/10</c:v>
                </c:pt>
                <c:pt idx="59">
                  <c:v>fev/10</c:v>
                </c:pt>
                <c:pt idx="60">
                  <c:v>mar/10</c:v>
                </c:pt>
                <c:pt idx="61">
                  <c:v>abr/10</c:v>
                </c:pt>
                <c:pt idx="62">
                  <c:v>mai/10</c:v>
                </c:pt>
                <c:pt idx="63">
                  <c:v>jun/10</c:v>
                </c:pt>
                <c:pt idx="64">
                  <c:v>jul/10</c:v>
                </c:pt>
                <c:pt idx="65">
                  <c:v>ago/10</c:v>
                </c:pt>
                <c:pt idx="66">
                  <c:v>set/10</c:v>
                </c:pt>
                <c:pt idx="67">
                  <c:v>out/10</c:v>
                </c:pt>
                <c:pt idx="68">
                  <c:v>nov/10</c:v>
                </c:pt>
                <c:pt idx="69">
                  <c:v>dez/10</c:v>
                </c:pt>
                <c:pt idx="70">
                  <c:v>jan/11</c:v>
                </c:pt>
                <c:pt idx="71">
                  <c:v>fev/11</c:v>
                </c:pt>
                <c:pt idx="72">
                  <c:v>mar/11</c:v>
                </c:pt>
                <c:pt idx="73">
                  <c:v>abr/11</c:v>
                </c:pt>
                <c:pt idx="74">
                  <c:v>mai/11</c:v>
                </c:pt>
                <c:pt idx="75">
                  <c:v>jun/11</c:v>
                </c:pt>
                <c:pt idx="76">
                  <c:v>jul/11</c:v>
                </c:pt>
                <c:pt idx="77">
                  <c:v>ago/11</c:v>
                </c:pt>
                <c:pt idx="78">
                  <c:v>set/11</c:v>
                </c:pt>
                <c:pt idx="79">
                  <c:v>out/11</c:v>
                </c:pt>
                <c:pt idx="80">
                  <c:v>nov/11</c:v>
                </c:pt>
                <c:pt idx="81">
                  <c:v>dez/11</c:v>
                </c:pt>
                <c:pt idx="82">
                  <c:v>jan/12</c:v>
                </c:pt>
                <c:pt idx="83">
                  <c:v>fev/12</c:v>
                </c:pt>
                <c:pt idx="84">
                  <c:v>mar/12</c:v>
                </c:pt>
                <c:pt idx="85">
                  <c:v>abr/12</c:v>
                </c:pt>
                <c:pt idx="86">
                  <c:v>mai/12</c:v>
                </c:pt>
                <c:pt idx="87">
                  <c:v>jun/12</c:v>
                </c:pt>
                <c:pt idx="88">
                  <c:v>jul/12</c:v>
                </c:pt>
                <c:pt idx="89">
                  <c:v>ago/12</c:v>
                </c:pt>
                <c:pt idx="90">
                  <c:v>set/12</c:v>
                </c:pt>
                <c:pt idx="91">
                  <c:v>out/12</c:v>
                </c:pt>
                <c:pt idx="92">
                  <c:v>nov/12</c:v>
                </c:pt>
                <c:pt idx="93">
                  <c:v>dez/12</c:v>
                </c:pt>
                <c:pt idx="94">
                  <c:v>jan/13</c:v>
                </c:pt>
                <c:pt idx="95">
                  <c:v>fev/13</c:v>
                </c:pt>
                <c:pt idx="96">
                  <c:v>mar/13</c:v>
                </c:pt>
                <c:pt idx="97">
                  <c:v>abr/13</c:v>
                </c:pt>
                <c:pt idx="98">
                  <c:v>mai/13</c:v>
                </c:pt>
                <c:pt idx="99">
                  <c:v>jun/13</c:v>
                </c:pt>
                <c:pt idx="100">
                  <c:v>jul/13</c:v>
                </c:pt>
                <c:pt idx="101">
                  <c:v>ago/13</c:v>
                </c:pt>
                <c:pt idx="102">
                  <c:v>set/13</c:v>
                </c:pt>
                <c:pt idx="103">
                  <c:v>out/13</c:v>
                </c:pt>
                <c:pt idx="104">
                  <c:v>nov/13</c:v>
                </c:pt>
                <c:pt idx="105">
                  <c:v>dez/13</c:v>
                </c:pt>
                <c:pt idx="106">
                  <c:v>jan/14</c:v>
                </c:pt>
                <c:pt idx="107">
                  <c:v>fev/14</c:v>
                </c:pt>
                <c:pt idx="108">
                  <c:v>mar/14</c:v>
                </c:pt>
                <c:pt idx="109">
                  <c:v>abr/14</c:v>
                </c:pt>
                <c:pt idx="110">
                  <c:v>mai/14</c:v>
                </c:pt>
                <c:pt idx="111">
                  <c:v>jun/14</c:v>
                </c:pt>
                <c:pt idx="112">
                  <c:v>jul/14</c:v>
                </c:pt>
                <c:pt idx="113">
                  <c:v>ago/14</c:v>
                </c:pt>
                <c:pt idx="114">
                  <c:v>set/14</c:v>
                </c:pt>
                <c:pt idx="115">
                  <c:v>out/14</c:v>
                </c:pt>
                <c:pt idx="116">
                  <c:v>nov/14</c:v>
                </c:pt>
                <c:pt idx="117">
                  <c:v>dez/14</c:v>
                </c:pt>
                <c:pt idx="118">
                  <c:v>jan/15</c:v>
                </c:pt>
                <c:pt idx="119">
                  <c:v>fev/15</c:v>
                </c:pt>
                <c:pt idx="120">
                  <c:v>mar/15</c:v>
                </c:pt>
                <c:pt idx="121">
                  <c:v>abr/15</c:v>
                </c:pt>
                <c:pt idx="122">
                  <c:v>mai/15</c:v>
                </c:pt>
                <c:pt idx="123">
                  <c:v>jun/15</c:v>
                </c:pt>
                <c:pt idx="124">
                  <c:v>jul/15</c:v>
                </c:pt>
                <c:pt idx="125">
                  <c:v>ago/15</c:v>
                </c:pt>
                <c:pt idx="126">
                  <c:v>set/15</c:v>
                </c:pt>
                <c:pt idx="127">
                  <c:v>out/15</c:v>
                </c:pt>
                <c:pt idx="128">
                  <c:v>nov/15</c:v>
                </c:pt>
                <c:pt idx="129">
                  <c:v>dez/15</c:v>
                </c:pt>
                <c:pt idx="130">
                  <c:v>jan/16</c:v>
                </c:pt>
                <c:pt idx="131">
                  <c:v>fev/16</c:v>
                </c:pt>
                <c:pt idx="132">
                  <c:v>mar/16</c:v>
                </c:pt>
                <c:pt idx="133">
                  <c:v>abr/16</c:v>
                </c:pt>
                <c:pt idx="134">
                  <c:v>mai/16</c:v>
                </c:pt>
                <c:pt idx="135">
                  <c:v>jun/16</c:v>
                </c:pt>
                <c:pt idx="136">
                  <c:v>jul/16</c:v>
                </c:pt>
                <c:pt idx="137">
                  <c:v>ago/16</c:v>
                </c:pt>
                <c:pt idx="138">
                  <c:v>set/16</c:v>
                </c:pt>
                <c:pt idx="139">
                  <c:v>out/16</c:v>
                </c:pt>
                <c:pt idx="140">
                  <c:v>nov/16</c:v>
                </c:pt>
                <c:pt idx="141">
                  <c:v>dez/16</c:v>
                </c:pt>
                <c:pt idx="142">
                  <c:v>jan/17</c:v>
                </c:pt>
                <c:pt idx="143">
                  <c:v>fev/17</c:v>
                </c:pt>
                <c:pt idx="144">
                  <c:v>mar/17</c:v>
                </c:pt>
                <c:pt idx="145">
                  <c:v>abr/17</c:v>
                </c:pt>
                <c:pt idx="146">
                  <c:v>mai/17</c:v>
                </c:pt>
                <c:pt idx="147">
                  <c:v>jun/17</c:v>
                </c:pt>
                <c:pt idx="148">
                  <c:v>jul/17</c:v>
                </c:pt>
                <c:pt idx="149">
                  <c:v>ago/17</c:v>
                </c:pt>
                <c:pt idx="150">
                  <c:v>set/17</c:v>
                </c:pt>
                <c:pt idx="151">
                  <c:v>out/17</c:v>
                </c:pt>
                <c:pt idx="152">
                  <c:v>nov/17</c:v>
                </c:pt>
                <c:pt idx="153">
                  <c:v>dez/17</c:v>
                </c:pt>
                <c:pt idx="154">
                  <c:v>jan/18</c:v>
                </c:pt>
                <c:pt idx="155">
                  <c:v>fev/18</c:v>
                </c:pt>
                <c:pt idx="156">
                  <c:v>mar/18</c:v>
                </c:pt>
                <c:pt idx="157">
                  <c:v>abr/18</c:v>
                </c:pt>
                <c:pt idx="158">
                  <c:v>mai/18</c:v>
                </c:pt>
                <c:pt idx="159">
                  <c:v>jun/18</c:v>
                </c:pt>
                <c:pt idx="160">
                  <c:v>jul/18</c:v>
                </c:pt>
                <c:pt idx="161">
                  <c:v>ago/18</c:v>
                </c:pt>
                <c:pt idx="162">
                  <c:v>set/18</c:v>
                </c:pt>
                <c:pt idx="163">
                  <c:v>out/18</c:v>
                </c:pt>
                <c:pt idx="164">
                  <c:v>nov/18</c:v>
                </c:pt>
                <c:pt idx="165">
                  <c:v>dez/18</c:v>
                </c:pt>
                <c:pt idx="166">
                  <c:v>jan/19</c:v>
                </c:pt>
                <c:pt idx="167">
                  <c:v>fev/19</c:v>
                </c:pt>
                <c:pt idx="168">
                  <c:v>mar/19</c:v>
                </c:pt>
                <c:pt idx="169">
                  <c:v>abr/19</c:v>
                </c:pt>
                <c:pt idx="170">
                  <c:v>mai/19</c:v>
                </c:pt>
                <c:pt idx="171">
                  <c:v>jun/19</c:v>
                </c:pt>
                <c:pt idx="172">
                  <c:v>jul/19</c:v>
                </c:pt>
                <c:pt idx="173">
                  <c:v>ago/19</c:v>
                </c:pt>
                <c:pt idx="174">
                  <c:v>set/19</c:v>
                </c:pt>
                <c:pt idx="175">
                  <c:v>out/19</c:v>
                </c:pt>
                <c:pt idx="176">
                  <c:v>nov/19</c:v>
                </c:pt>
                <c:pt idx="177">
                  <c:v>dez/19</c:v>
                </c:pt>
                <c:pt idx="178">
                  <c:v>jan/20</c:v>
                </c:pt>
                <c:pt idx="179">
                  <c:v>fev/20</c:v>
                </c:pt>
                <c:pt idx="180">
                  <c:v>mar/20</c:v>
                </c:pt>
                <c:pt idx="181">
                  <c:v>abr/20</c:v>
                </c:pt>
                <c:pt idx="182">
                  <c:v>mai/20</c:v>
                </c:pt>
                <c:pt idx="183">
                  <c:v>jun/20</c:v>
                </c:pt>
                <c:pt idx="184">
                  <c:v>jul/20</c:v>
                </c:pt>
                <c:pt idx="185">
                  <c:v>ago/20</c:v>
                </c:pt>
                <c:pt idx="186">
                  <c:v>set/20</c:v>
                </c:pt>
                <c:pt idx="187">
                  <c:v>out/20</c:v>
                </c:pt>
                <c:pt idx="188">
                  <c:v>nov/20</c:v>
                </c:pt>
                <c:pt idx="189">
                  <c:v>dez/20</c:v>
                </c:pt>
                <c:pt idx="190">
                  <c:v>jan/21</c:v>
                </c:pt>
                <c:pt idx="191">
                  <c:v>fev/21</c:v>
                </c:pt>
                <c:pt idx="192">
                  <c:v>mar/21</c:v>
                </c:pt>
                <c:pt idx="193">
                  <c:v>abr/21</c:v>
                </c:pt>
                <c:pt idx="194">
                  <c:v>mai/21</c:v>
                </c:pt>
                <c:pt idx="195">
                  <c:v>jun/21</c:v>
                </c:pt>
                <c:pt idx="196">
                  <c:v>jul/21</c:v>
                </c:pt>
                <c:pt idx="197">
                  <c:v>ago/21</c:v>
                </c:pt>
                <c:pt idx="198">
                  <c:v>set/21</c:v>
                </c:pt>
                <c:pt idx="199">
                  <c:v>out/21</c:v>
                </c:pt>
                <c:pt idx="200">
                  <c:v>nov/21</c:v>
                </c:pt>
                <c:pt idx="201">
                  <c:v>dez/21</c:v>
                </c:pt>
                <c:pt idx="202">
                  <c:v>jan/22</c:v>
                </c:pt>
                <c:pt idx="203">
                  <c:v>fev/22</c:v>
                </c:pt>
                <c:pt idx="204">
                  <c:v>mar/22</c:v>
                </c:pt>
                <c:pt idx="205">
                  <c:v>abr/22</c:v>
                </c:pt>
                <c:pt idx="206">
                  <c:v>mai/22</c:v>
                </c:pt>
                <c:pt idx="207">
                  <c:v>jun/22</c:v>
                </c:pt>
                <c:pt idx="208">
                  <c:v>jul/22</c:v>
                </c:pt>
                <c:pt idx="209">
                  <c:v>ago/22</c:v>
                </c:pt>
                <c:pt idx="210">
                  <c:v>set/22</c:v>
                </c:pt>
                <c:pt idx="211">
                  <c:v>out/22</c:v>
                </c:pt>
                <c:pt idx="212">
                  <c:v>nov/22</c:v>
                </c:pt>
                <c:pt idx="213">
                  <c:v>dez/22</c:v>
                </c:pt>
                <c:pt idx="214">
                  <c:v>jan/23</c:v>
                </c:pt>
                <c:pt idx="215">
                  <c:v>fev/23</c:v>
                </c:pt>
                <c:pt idx="216">
                  <c:v>mar/23</c:v>
                </c:pt>
                <c:pt idx="217">
                  <c:v>abr/23</c:v>
                </c:pt>
                <c:pt idx="218">
                  <c:v>mai/23</c:v>
                </c:pt>
                <c:pt idx="219">
                  <c:v>jun/23</c:v>
                </c:pt>
                <c:pt idx="220">
                  <c:v>jul/23</c:v>
                </c:pt>
                <c:pt idx="221">
                  <c:v>ago/23</c:v>
                </c:pt>
                <c:pt idx="222">
                  <c:v>set/23</c:v>
                </c:pt>
                <c:pt idx="223">
                  <c:v>out/23</c:v>
                </c:pt>
                <c:pt idx="224">
                  <c:v>nov/23</c:v>
                </c:pt>
                <c:pt idx="225">
                  <c:v>dez/23</c:v>
                </c:pt>
                <c:pt idx="226">
                  <c:v>jan/24</c:v>
                </c:pt>
                <c:pt idx="227">
                  <c:v>fev/24</c:v>
                </c:pt>
                <c:pt idx="228">
                  <c:v>mar/24</c:v>
                </c:pt>
                <c:pt idx="229">
                  <c:v>abr/24</c:v>
                </c:pt>
                <c:pt idx="230">
                  <c:v>mai/24</c:v>
                </c:pt>
                <c:pt idx="231">
                  <c:v>jun/24</c:v>
                </c:pt>
                <c:pt idx="232">
                  <c:v>jul/24</c:v>
                </c:pt>
                <c:pt idx="233">
                  <c:v>ago/24</c:v>
                </c:pt>
                <c:pt idx="234">
                  <c:v>set/24</c:v>
                </c:pt>
                <c:pt idx="235">
                  <c:v>out/24</c:v>
                </c:pt>
                <c:pt idx="236">
                  <c:v>nov/24</c:v>
                </c:pt>
                <c:pt idx="237">
                  <c:v>dez/24</c:v>
                </c:pt>
                <c:pt idx="238">
                  <c:v>jan/25</c:v>
                </c:pt>
                <c:pt idx="239">
                  <c:v>fev/25</c:v>
                </c:pt>
                <c:pt idx="240">
                  <c:v>mar/25</c:v>
                </c:pt>
                <c:pt idx="241">
                  <c:v>abr/25</c:v>
                </c:pt>
                <c:pt idx="242">
                  <c:v>mai/25</c:v>
                </c:pt>
                <c:pt idx="243">
                  <c:v>jun/25</c:v>
                </c:pt>
                <c:pt idx="244">
                  <c:v>jul/25</c:v>
                </c:pt>
                <c:pt idx="245">
                  <c:v>ago/25</c:v>
                </c:pt>
                <c:pt idx="246">
                  <c:v>set/25</c:v>
                </c:pt>
                <c:pt idx="247">
                  <c:v>out/25</c:v>
                </c:pt>
                <c:pt idx="248">
                  <c:v>nov/25</c:v>
                </c:pt>
                <c:pt idx="249">
                  <c:v>dez/25</c:v>
                </c:pt>
                <c:pt idx="250">
                  <c:v>jan/26</c:v>
                </c:pt>
                <c:pt idx="251">
                  <c:v>fev/26</c:v>
                </c:pt>
                <c:pt idx="252">
                  <c:v>mar/26</c:v>
                </c:pt>
                <c:pt idx="253">
                  <c:v>abr/26</c:v>
                </c:pt>
                <c:pt idx="254">
                  <c:v>mai/26</c:v>
                </c:pt>
                <c:pt idx="255">
                  <c:v>jun/26</c:v>
                </c:pt>
                <c:pt idx="256">
                  <c:v>jul/26</c:v>
                </c:pt>
              </c:strCache>
            </c:strRef>
          </c:cat>
          <c:val>
            <c:numRef>
              <c:f>Sheet1!$B$2:$B$258</c:f>
              <c:numCache>
                <c:formatCode>0.0</c:formatCode>
                <c:ptCount val="257"/>
                <c:pt idx="0">
                  <c:v>16.61</c:v>
                </c:pt>
                <c:pt idx="1">
                  <c:v>16.850000000000001</c:v>
                </c:pt>
                <c:pt idx="2">
                  <c:v>17.09</c:v>
                </c:pt>
                <c:pt idx="3">
                  <c:v>17.21</c:v>
                </c:pt>
                <c:pt idx="4">
                  <c:v>17.329999999999998</c:v>
                </c:pt>
                <c:pt idx="5">
                  <c:v>17.54</c:v>
                </c:pt>
                <c:pt idx="6">
                  <c:v>18.010000000000002</c:v>
                </c:pt>
                <c:pt idx="7">
                  <c:v>18.2</c:v>
                </c:pt>
                <c:pt idx="8">
                  <c:v>18.29</c:v>
                </c:pt>
                <c:pt idx="9">
                  <c:v>18.309999999999999</c:v>
                </c:pt>
                <c:pt idx="10">
                  <c:v>18.36</c:v>
                </c:pt>
                <c:pt idx="11">
                  <c:v>18.53</c:v>
                </c:pt>
                <c:pt idx="12">
                  <c:v>18.87</c:v>
                </c:pt>
                <c:pt idx="13">
                  <c:v>19.16</c:v>
                </c:pt>
                <c:pt idx="14">
                  <c:v>19.190000000000001</c:v>
                </c:pt>
                <c:pt idx="15">
                  <c:v>19.16</c:v>
                </c:pt>
                <c:pt idx="16">
                  <c:v>19.100000000000001</c:v>
                </c:pt>
                <c:pt idx="17">
                  <c:v>19.22</c:v>
                </c:pt>
                <c:pt idx="18">
                  <c:v>19.14</c:v>
                </c:pt>
                <c:pt idx="19">
                  <c:v>19.059999999999999</c:v>
                </c:pt>
                <c:pt idx="20">
                  <c:v>18.899999999999999</c:v>
                </c:pt>
                <c:pt idx="21">
                  <c:v>19.079999999999998</c:v>
                </c:pt>
                <c:pt idx="22">
                  <c:v>18.98</c:v>
                </c:pt>
                <c:pt idx="23">
                  <c:v>18.829999999999998</c:v>
                </c:pt>
                <c:pt idx="24">
                  <c:v>18.52</c:v>
                </c:pt>
                <c:pt idx="25">
                  <c:v>18.36</c:v>
                </c:pt>
                <c:pt idx="26">
                  <c:v>18.170000000000002</c:v>
                </c:pt>
                <c:pt idx="27">
                  <c:v>18.47</c:v>
                </c:pt>
                <c:pt idx="28">
                  <c:v>18.829999999999998</c:v>
                </c:pt>
                <c:pt idx="29">
                  <c:v>18.97</c:v>
                </c:pt>
                <c:pt idx="30">
                  <c:v>18.93</c:v>
                </c:pt>
                <c:pt idx="31">
                  <c:v>18.899999999999999</c:v>
                </c:pt>
                <c:pt idx="32">
                  <c:v>19.04</c:v>
                </c:pt>
                <c:pt idx="33">
                  <c:v>18.95</c:v>
                </c:pt>
                <c:pt idx="34">
                  <c:v>19.190000000000001</c:v>
                </c:pt>
                <c:pt idx="35">
                  <c:v>19.47</c:v>
                </c:pt>
                <c:pt idx="36">
                  <c:v>19.8</c:v>
                </c:pt>
                <c:pt idx="37">
                  <c:v>19.97</c:v>
                </c:pt>
                <c:pt idx="38">
                  <c:v>20.010000000000002</c:v>
                </c:pt>
                <c:pt idx="39">
                  <c:v>20</c:v>
                </c:pt>
                <c:pt idx="40">
                  <c:v>20.03</c:v>
                </c:pt>
                <c:pt idx="41">
                  <c:v>20.12</c:v>
                </c:pt>
                <c:pt idx="42">
                  <c:v>20.22</c:v>
                </c:pt>
                <c:pt idx="43">
                  <c:v>20.309999999999999</c:v>
                </c:pt>
                <c:pt idx="44">
                  <c:v>20.32</c:v>
                </c:pt>
                <c:pt idx="45">
                  <c:v>20.36</c:v>
                </c:pt>
                <c:pt idx="46">
                  <c:v>20.38</c:v>
                </c:pt>
                <c:pt idx="47">
                  <c:v>20.47</c:v>
                </c:pt>
                <c:pt idx="48">
                  <c:v>20.56</c:v>
                </c:pt>
                <c:pt idx="49">
                  <c:v>20.64</c:v>
                </c:pt>
                <c:pt idx="50">
                  <c:v>20.86</c:v>
                </c:pt>
                <c:pt idx="51">
                  <c:v>21.18</c:v>
                </c:pt>
                <c:pt idx="52">
                  <c:v>21.29</c:v>
                </c:pt>
                <c:pt idx="53">
                  <c:v>21.35</c:v>
                </c:pt>
                <c:pt idx="54">
                  <c:v>21.44</c:v>
                </c:pt>
                <c:pt idx="55">
                  <c:v>21.62</c:v>
                </c:pt>
                <c:pt idx="56">
                  <c:v>21.67</c:v>
                </c:pt>
                <c:pt idx="57">
                  <c:v>21.59</c:v>
                </c:pt>
                <c:pt idx="58">
                  <c:v>21.67</c:v>
                </c:pt>
                <c:pt idx="59">
                  <c:v>21.61</c:v>
                </c:pt>
                <c:pt idx="60">
                  <c:v>21.69</c:v>
                </c:pt>
                <c:pt idx="61">
                  <c:v>21.91</c:v>
                </c:pt>
                <c:pt idx="62">
                  <c:v>22.11</c:v>
                </c:pt>
                <c:pt idx="63">
                  <c:v>22.39</c:v>
                </c:pt>
                <c:pt idx="64">
                  <c:v>22.47</c:v>
                </c:pt>
                <c:pt idx="65">
                  <c:v>22.43</c:v>
                </c:pt>
                <c:pt idx="66">
                  <c:v>22.54</c:v>
                </c:pt>
                <c:pt idx="67">
                  <c:v>22.49</c:v>
                </c:pt>
                <c:pt idx="68">
                  <c:v>22.82</c:v>
                </c:pt>
                <c:pt idx="69">
                  <c:v>23.17</c:v>
                </c:pt>
                <c:pt idx="70">
                  <c:v>23.4</c:v>
                </c:pt>
                <c:pt idx="71">
                  <c:v>23.16</c:v>
                </c:pt>
                <c:pt idx="72">
                  <c:v>23.03</c:v>
                </c:pt>
                <c:pt idx="73">
                  <c:v>22.82</c:v>
                </c:pt>
                <c:pt idx="74">
                  <c:v>22.68</c:v>
                </c:pt>
                <c:pt idx="75">
                  <c:v>22.45</c:v>
                </c:pt>
                <c:pt idx="76">
                  <c:v>22.38</c:v>
                </c:pt>
                <c:pt idx="77">
                  <c:v>22.46</c:v>
                </c:pt>
                <c:pt idx="78">
                  <c:v>22.99</c:v>
                </c:pt>
                <c:pt idx="79">
                  <c:v>23.44</c:v>
                </c:pt>
                <c:pt idx="80">
                  <c:v>23.35</c:v>
                </c:pt>
                <c:pt idx="81">
                  <c:v>23.27</c:v>
                </c:pt>
                <c:pt idx="82">
                  <c:v>23.2</c:v>
                </c:pt>
                <c:pt idx="83">
                  <c:v>23.15</c:v>
                </c:pt>
                <c:pt idx="84">
                  <c:v>23.22</c:v>
                </c:pt>
                <c:pt idx="85">
                  <c:v>23.12</c:v>
                </c:pt>
                <c:pt idx="86">
                  <c:v>23.19</c:v>
                </c:pt>
                <c:pt idx="87">
                  <c:v>23.05</c:v>
                </c:pt>
                <c:pt idx="88">
                  <c:v>22.78</c:v>
                </c:pt>
                <c:pt idx="89">
                  <c:v>22.36</c:v>
                </c:pt>
                <c:pt idx="90">
                  <c:v>22.22</c:v>
                </c:pt>
                <c:pt idx="91">
                  <c:v>22.07</c:v>
                </c:pt>
                <c:pt idx="92">
                  <c:v>22.04</c:v>
                </c:pt>
                <c:pt idx="93">
                  <c:v>22.02</c:v>
                </c:pt>
                <c:pt idx="94">
                  <c:v>21.73</c:v>
                </c:pt>
                <c:pt idx="95">
                  <c:v>21.61</c:v>
                </c:pt>
                <c:pt idx="96">
                  <c:v>21.4</c:v>
                </c:pt>
                <c:pt idx="97">
                  <c:v>21.26</c:v>
                </c:pt>
                <c:pt idx="98">
                  <c:v>20.9</c:v>
                </c:pt>
                <c:pt idx="99">
                  <c:v>20.76</c:v>
                </c:pt>
                <c:pt idx="100">
                  <c:v>20.72</c:v>
                </c:pt>
                <c:pt idx="101">
                  <c:v>20.76</c:v>
                </c:pt>
                <c:pt idx="102">
                  <c:v>20.8</c:v>
                </c:pt>
                <c:pt idx="103">
                  <c:v>20.76</c:v>
                </c:pt>
                <c:pt idx="104">
                  <c:v>20.87</c:v>
                </c:pt>
                <c:pt idx="105">
                  <c:v>21.05</c:v>
                </c:pt>
                <c:pt idx="106">
                  <c:v>20.97</c:v>
                </c:pt>
                <c:pt idx="107">
                  <c:v>20.92</c:v>
                </c:pt>
                <c:pt idx="108">
                  <c:v>20.85</c:v>
                </c:pt>
                <c:pt idx="109">
                  <c:v>20.94</c:v>
                </c:pt>
                <c:pt idx="110">
                  <c:v>21.03</c:v>
                </c:pt>
                <c:pt idx="111">
                  <c:v>21.08</c:v>
                </c:pt>
                <c:pt idx="112">
                  <c:v>21.11</c:v>
                </c:pt>
                <c:pt idx="113">
                  <c:v>20.95</c:v>
                </c:pt>
                <c:pt idx="114">
                  <c:v>20.92</c:v>
                </c:pt>
                <c:pt idx="115">
                  <c:v>20.93</c:v>
                </c:pt>
                <c:pt idx="116">
                  <c:v>21.27</c:v>
                </c:pt>
                <c:pt idx="117">
                  <c:v>21.57</c:v>
                </c:pt>
                <c:pt idx="118">
                  <c:v>21.96</c:v>
                </c:pt>
                <c:pt idx="119">
                  <c:v>22.07</c:v>
                </c:pt>
                <c:pt idx="120">
                  <c:v>22.02</c:v>
                </c:pt>
                <c:pt idx="121">
                  <c:v>22.15</c:v>
                </c:pt>
                <c:pt idx="122">
                  <c:v>22.14</c:v>
                </c:pt>
                <c:pt idx="123">
                  <c:v>22.24</c:v>
                </c:pt>
                <c:pt idx="124">
                  <c:v>22.27</c:v>
                </c:pt>
                <c:pt idx="125">
                  <c:v>22.33</c:v>
                </c:pt>
                <c:pt idx="126">
                  <c:v>22.49</c:v>
                </c:pt>
                <c:pt idx="127">
                  <c:v>22.12</c:v>
                </c:pt>
                <c:pt idx="128">
                  <c:v>21.68</c:v>
                </c:pt>
                <c:pt idx="129">
                  <c:v>20.98</c:v>
                </c:pt>
                <c:pt idx="130">
                  <c:v>21.24</c:v>
                </c:pt>
                <c:pt idx="131">
                  <c:v>21.35</c:v>
                </c:pt>
                <c:pt idx="132">
                  <c:v>21.56</c:v>
                </c:pt>
                <c:pt idx="133">
                  <c:v>21.58</c:v>
                </c:pt>
                <c:pt idx="134">
                  <c:v>21.86</c:v>
                </c:pt>
                <c:pt idx="135">
                  <c:v>21.9</c:v>
                </c:pt>
                <c:pt idx="136">
                  <c:v>21.8</c:v>
                </c:pt>
                <c:pt idx="137">
                  <c:v>21.75</c:v>
                </c:pt>
                <c:pt idx="138">
                  <c:v>21.66</c:v>
                </c:pt>
                <c:pt idx="139">
                  <c:v>21.62</c:v>
                </c:pt>
                <c:pt idx="140">
                  <c:v>21.46</c:v>
                </c:pt>
                <c:pt idx="141">
                  <c:v>21.13</c:v>
                </c:pt>
                <c:pt idx="142">
                  <c:v>21.06</c:v>
                </c:pt>
                <c:pt idx="143">
                  <c:v>20.83</c:v>
                </c:pt>
                <c:pt idx="144">
                  <c:v>20.81</c:v>
                </c:pt>
                <c:pt idx="145">
                  <c:v>20.46</c:v>
                </c:pt>
                <c:pt idx="146">
                  <c:v>20.13</c:v>
                </c:pt>
                <c:pt idx="147">
                  <c:v>20.079999999999998</c:v>
                </c:pt>
                <c:pt idx="148">
                  <c:v>20.41</c:v>
                </c:pt>
                <c:pt idx="149">
                  <c:v>20.69</c:v>
                </c:pt>
                <c:pt idx="150">
                  <c:v>20.59</c:v>
                </c:pt>
                <c:pt idx="151">
                  <c:v>20.420000000000002</c:v>
                </c:pt>
                <c:pt idx="152">
                  <c:v>20.23</c:v>
                </c:pt>
                <c:pt idx="153">
                  <c:v>19.989999999999998</c:v>
                </c:pt>
                <c:pt idx="154">
                  <c:v>19.86</c:v>
                </c:pt>
                <c:pt idx="155">
                  <c:v>19.77</c:v>
                </c:pt>
                <c:pt idx="156">
                  <c:v>19.87</c:v>
                </c:pt>
                <c:pt idx="157">
                  <c:v>20.11</c:v>
                </c:pt>
                <c:pt idx="158">
                  <c:v>20.37</c:v>
                </c:pt>
                <c:pt idx="159">
                  <c:v>20.71</c:v>
                </c:pt>
                <c:pt idx="160">
                  <c:v>20.5</c:v>
                </c:pt>
                <c:pt idx="161">
                  <c:v>20.21</c:v>
                </c:pt>
                <c:pt idx="162">
                  <c:v>20.03</c:v>
                </c:pt>
                <c:pt idx="163">
                  <c:v>20.05</c:v>
                </c:pt>
                <c:pt idx="164">
                  <c:v>20.21</c:v>
                </c:pt>
                <c:pt idx="165">
                  <c:v>20.52</c:v>
                </c:pt>
                <c:pt idx="166">
                  <c:v>20.67</c:v>
                </c:pt>
                <c:pt idx="167">
                  <c:v>20.85</c:v>
                </c:pt>
                <c:pt idx="168">
                  <c:v>20.89</c:v>
                </c:pt>
                <c:pt idx="169">
                  <c:v>21.34</c:v>
                </c:pt>
                <c:pt idx="170">
                  <c:v>21.74</c:v>
                </c:pt>
                <c:pt idx="171">
                  <c:v>22.97</c:v>
                </c:pt>
                <c:pt idx="172">
                  <c:v>22.78</c:v>
                </c:pt>
                <c:pt idx="173">
                  <c:v>22.8</c:v>
                </c:pt>
                <c:pt idx="174">
                  <c:v>21.79</c:v>
                </c:pt>
                <c:pt idx="175">
                  <c:v>21.46</c:v>
                </c:pt>
                <c:pt idx="176">
                  <c:v>20.99</c:v>
                </c:pt>
                <c:pt idx="177">
                  <c:v>20.74</c:v>
                </c:pt>
                <c:pt idx="178">
                  <c:v>20.63</c:v>
                </c:pt>
                <c:pt idx="179">
                  <c:v>20.76</c:v>
                </c:pt>
                <c:pt idx="180">
                  <c:v>21.72</c:v>
                </c:pt>
                <c:pt idx="181">
                  <c:v>21.17</c:v>
                </c:pt>
                <c:pt idx="182">
                  <c:v>19.91</c:v>
                </c:pt>
                <c:pt idx="183">
                  <c:v>18.739999999999998</c:v>
                </c:pt>
                <c:pt idx="184">
                  <c:v>18.22</c:v>
                </c:pt>
                <c:pt idx="185">
                  <c:v>18.09</c:v>
                </c:pt>
                <c:pt idx="186">
                  <c:v>18.11</c:v>
                </c:pt>
                <c:pt idx="187">
                  <c:v>18.48</c:v>
                </c:pt>
                <c:pt idx="188">
                  <c:v>19.25</c:v>
                </c:pt>
                <c:pt idx="189">
                  <c:v>19.91</c:v>
                </c:pt>
                <c:pt idx="190">
                  <c:v>20.12</c:v>
                </c:pt>
                <c:pt idx="191">
                  <c:v>19.97</c:v>
                </c:pt>
                <c:pt idx="192">
                  <c:v>20.29</c:v>
                </c:pt>
                <c:pt idx="193">
                  <c:v>20.260000000000002</c:v>
                </c:pt>
                <c:pt idx="194">
                  <c:v>20.74</c:v>
                </c:pt>
                <c:pt idx="195">
                  <c:v>20.98</c:v>
                </c:pt>
                <c:pt idx="196">
                  <c:v>21.34</c:v>
                </c:pt>
                <c:pt idx="197">
                  <c:v>21.73</c:v>
                </c:pt>
                <c:pt idx="198">
                  <c:v>22.39</c:v>
                </c:pt>
                <c:pt idx="199">
                  <c:v>22.98</c:v>
                </c:pt>
                <c:pt idx="200">
                  <c:v>23.32</c:v>
                </c:pt>
                <c:pt idx="201">
                  <c:v>23.53</c:v>
                </c:pt>
                <c:pt idx="202">
                  <c:v>23.87</c:v>
                </c:pt>
                <c:pt idx="203">
                  <c:v>23.61</c:v>
                </c:pt>
                <c:pt idx="204">
                  <c:v>23.4</c:v>
                </c:pt>
                <c:pt idx="205">
                  <c:v>23.54</c:v>
                </c:pt>
                <c:pt idx="206">
                  <c:v>23.49</c:v>
                </c:pt>
                <c:pt idx="207">
                  <c:v>24.05</c:v>
                </c:pt>
                <c:pt idx="208">
                  <c:v>24.55</c:v>
                </c:pt>
                <c:pt idx="209">
                  <c:v>24.98</c:v>
                </c:pt>
                <c:pt idx="210">
                  <c:v>25.15</c:v>
                </c:pt>
                <c:pt idx="211">
                  <c:v>25.18</c:v>
                </c:pt>
                <c:pt idx="212">
                  <c:v>25.31</c:v>
                </c:pt>
                <c:pt idx="213">
                  <c:v>25.48</c:v>
                </c:pt>
                <c:pt idx="214">
                  <c:v>25.56</c:v>
                </c:pt>
                <c:pt idx="215">
                  <c:v>25.63</c:v>
                </c:pt>
                <c:pt idx="216">
                  <c:v>25.64</c:v>
                </c:pt>
                <c:pt idx="217">
                  <c:v>25.71</c:v>
                </c:pt>
                <c:pt idx="218">
                  <c:v>25.85</c:v>
                </c:pt>
                <c:pt idx="219">
                  <c:v>25.73</c:v>
                </c:pt>
                <c:pt idx="220">
                  <c:v>25.3</c:v>
                </c:pt>
                <c:pt idx="221">
                  <c:v>24.89</c:v>
                </c:pt>
                <c:pt idx="222">
                  <c:v>24.72</c:v>
                </c:pt>
                <c:pt idx="223">
                  <c:v>24.7</c:v>
                </c:pt>
                <c:pt idx="224">
                  <c:v>24.42</c:v>
                </c:pt>
                <c:pt idx="225">
                  <c:v>23.66</c:v>
                </c:pt>
                <c:pt idx="226">
                  <c:v>23.6</c:v>
                </c:pt>
                <c:pt idx="227">
                  <c:v>23.78</c:v>
                </c:pt>
                <c:pt idx="228">
                  <c:v>24.01</c:v>
                </c:pt>
                <c:pt idx="229">
                  <c:v>24.01</c:v>
                </c:pt>
                <c:pt idx="230">
                  <c:v>23.91</c:v>
                </c:pt>
                <c:pt idx="231">
                  <c:v>24.34</c:v>
                </c:pt>
                <c:pt idx="232">
                  <c:v>24.47</c:v>
                </c:pt>
                <c:pt idx="233">
                  <c:v>24.64</c:v>
                </c:pt>
                <c:pt idx="234">
                  <c:v>24.39</c:v>
                </c:pt>
                <c:pt idx="235">
                  <c:v>24.28</c:v>
                </c:pt>
                <c:pt idx="236">
                  <c:v>24.28</c:v>
                </c:pt>
                <c:pt idx="237">
                  <c:v>24.49</c:v>
                </c:pt>
                <c:pt idx="238">
                  <c:v>24.49</c:v>
                </c:pt>
                <c:pt idx="239">
                  <c:v>24.62</c:v>
                </c:pt>
                <c:pt idx="240">
                  <c:v>24.76</c:v>
                </c:pt>
                <c:pt idx="241">
                  <c:v>24.91</c:v>
                </c:pt>
                <c:pt idx="242">
                  <c:v>24.99</c:v>
                </c:pt>
                <c:pt idx="243">
                  <c:v>25.09</c:v>
                </c:pt>
                <c:pt idx="244">
                  <c:v>25.19</c:v>
                </c:pt>
                <c:pt idx="245">
                  <c:v>25.41</c:v>
                </c:pt>
                <c:pt idx="246">
                  <c:v>25.55</c:v>
                </c:pt>
                <c:pt idx="247">
                  <c:v>25.68</c:v>
                </c:pt>
                <c:pt idx="248">
                  <c:v>25.66</c:v>
                </c:pt>
                <c:pt idx="249">
                  <c:v>25.73</c:v>
                </c:pt>
                <c:pt idx="250">
                  <c:v>25.9</c:v>
                </c:pt>
                <c:pt idx="251">
                  <c:v>25.97</c:v>
                </c:pt>
                <c:pt idx="252">
                  <c:v>25.95</c:v>
                </c:pt>
                <c:pt idx="253">
                  <c:v>26.09</c:v>
                </c:pt>
                <c:pt idx="254">
                  <c:v>26.16</c:v>
                </c:pt>
                <c:pt idx="255">
                  <c:v>26.43</c:v>
                </c:pt>
                <c:pt idx="256">
                  <c:v>26.43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EA0-420D-B281-BEC98C995B5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Endividamento</c:v>
                </c:pt>
              </c:strCache>
            </c:strRef>
          </c:tx>
          <c:spPr>
            <a:ln w="28575">
              <a:solidFill>
                <a:srgbClr val="F28C00"/>
              </a:solidFill>
            </a:ln>
          </c:spPr>
          <c:marker>
            <c:symbol val="none"/>
          </c:marker>
          <c:dLbls>
            <c:dLbl>
              <c:idx val="256"/>
              <c:numFmt formatCode="0.0" sourceLinked="0"/>
              <c:spPr/>
              <c:txPr>
                <a:bodyPr/>
                <a:lstStyle/>
                <a:p>
                  <a:pPr>
                    <a:defRPr sz="1200" b="1">
                      <a:solidFill>
                        <a:srgbClr val="F28C00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EA0-420D-B281-BEC98C995B5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Sheet1!$A$2:$A$258</c:f>
              <c:strCache>
                <c:ptCount val="257"/>
                <c:pt idx="0">
                  <c:v>mar/05</c:v>
                </c:pt>
                <c:pt idx="1">
                  <c:v>abr/05</c:v>
                </c:pt>
                <c:pt idx="2">
                  <c:v>mai/05</c:v>
                </c:pt>
                <c:pt idx="3">
                  <c:v>jun/05</c:v>
                </c:pt>
                <c:pt idx="4">
                  <c:v>jul/05</c:v>
                </c:pt>
                <c:pt idx="5">
                  <c:v>ago/05</c:v>
                </c:pt>
                <c:pt idx="6">
                  <c:v>set/05</c:v>
                </c:pt>
                <c:pt idx="7">
                  <c:v>out/05</c:v>
                </c:pt>
                <c:pt idx="8">
                  <c:v>nov/05</c:v>
                </c:pt>
                <c:pt idx="9">
                  <c:v>dez/05</c:v>
                </c:pt>
                <c:pt idx="10">
                  <c:v>jan/06</c:v>
                </c:pt>
                <c:pt idx="11">
                  <c:v>fev/06</c:v>
                </c:pt>
                <c:pt idx="12">
                  <c:v>mar/06</c:v>
                </c:pt>
                <c:pt idx="13">
                  <c:v>abr/06</c:v>
                </c:pt>
                <c:pt idx="14">
                  <c:v>mai/06</c:v>
                </c:pt>
                <c:pt idx="15">
                  <c:v>jun/06</c:v>
                </c:pt>
                <c:pt idx="16">
                  <c:v>jul/06</c:v>
                </c:pt>
                <c:pt idx="17">
                  <c:v>ago/06</c:v>
                </c:pt>
                <c:pt idx="18">
                  <c:v>set/06</c:v>
                </c:pt>
                <c:pt idx="19">
                  <c:v>out/06</c:v>
                </c:pt>
                <c:pt idx="20">
                  <c:v>nov/06</c:v>
                </c:pt>
                <c:pt idx="21">
                  <c:v>dez/06</c:v>
                </c:pt>
                <c:pt idx="22">
                  <c:v>jan/07</c:v>
                </c:pt>
                <c:pt idx="23">
                  <c:v>fev/07</c:v>
                </c:pt>
                <c:pt idx="24">
                  <c:v>mar/07</c:v>
                </c:pt>
                <c:pt idx="25">
                  <c:v>abr/07</c:v>
                </c:pt>
                <c:pt idx="26">
                  <c:v>mai/07</c:v>
                </c:pt>
                <c:pt idx="27">
                  <c:v>jun/07</c:v>
                </c:pt>
                <c:pt idx="28">
                  <c:v>jul/07</c:v>
                </c:pt>
                <c:pt idx="29">
                  <c:v>ago/07</c:v>
                </c:pt>
                <c:pt idx="30">
                  <c:v>set/07</c:v>
                </c:pt>
                <c:pt idx="31">
                  <c:v>out/07</c:v>
                </c:pt>
                <c:pt idx="32">
                  <c:v>nov/07</c:v>
                </c:pt>
                <c:pt idx="33">
                  <c:v>dez/07</c:v>
                </c:pt>
                <c:pt idx="34">
                  <c:v>jan/08</c:v>
                </c:pt>
                <c:pt idx="35">
                  <c:v>fev/08</c:v>
                </c:pt>
                <c:pt idx="36">
                  <c:v>mar/08</c:v>
                </c:pt>
                <c:pt idx="37">
                  <c:v>abr/08</c:v>
                </c:pt>
                <c:pt idx="38">
                  <c:v>mai/08</c:v>
                </c:pt>
                <c:pt idx="39">
                  <c:v>jun/08</c:v>
                </c:pt>
                <c:pt idx="40">
                  <c:v>jul/08</c:v>
                </c:pt>
                <c:pt idx="41">
                  <c:v>ago/08</c:v>
                </c:pt>
                <c:pt idx="42">
                  <c:v>set/08</c:v>
                </c:pt>
                <c:pt idx="43">
                  <c:v>out/08</c:v>
                </c:pt>
                <c:pt idx="44">
                  <c:v>nov/08</c:v>
                </c:pt>
                <c:pt idx="45">
                  <c:v>dez/08</c:v>
                </c:pt>
                <c:pt idx="46">
                  <c:v>jan/09</c:v>
                </c:pt>
                <c:pt idx="47">
                  <c:v>fev/09</c:v>
                </c:pt>
                <c:pt idx="48">
                  <c:v>mar/09</c:v>
                </c:pt>
                <c:pt idx="49">
                  <c:v>abr/09</c:v>
                </c:pt>
                <c:pt idx="50">
                  <c:v>mai/09</c:v>
                </c:pt>
                <c:pt idx="51">
                  <c:v>jun/09</c:v>
                </c:pt>
                <c:pt idx="52">
                  <c:v>jul/09</c:v>
                </c:pt>
                <c:pt idx="53">
                  <c:v>ago/09</c:v>
                </c:pt>
                <c:pt idx="54">
                  <c:v>set/09</c:v>
                </c:pt>
                <c:pt idx="55">
                  <c:v>out/09</c:v>
                </c:pt>
                <c:pt idx="56">
                  <c:v>nov/09</c:v>
                </c:pt>
                <c:pt idx="57">
                  <c:v>dez/09</c:v>
                </c:pt>
                <c:pt idx="58">
                  <c:v>jan/10</c:v>
                </c:pt>
                <c:pt idx="59">
                  <c:v>fev/10</c:v>
                </c:pt>
                <c:pt idx="60">
                  <c:v>mar/10</c:v>
                </c:pt>
                <c:pt idx="61">
                  <c:v>abr/10</c:v>
                </c:pt>
                <c:pt idx="62">
                  <c:v>mai/10</c:v>
                </c:pt>
                <c:pt idx="63">
                  <c:v>jun/10</c:v>
                </c:pt>
                <c:pt idx="64">
                  <c:v>jul/10</c:v>
                </c:pt>
                <c:pt idx="65">
                  <c:v>ago/10</c:v>
                </c:pt>
                <c:pt idx="66">
                  <c:v>set/10</c:v>
                </c:pt>
                <c:pt idx="67">
                  <c:v>out/10</c:v>
                </c:pt>
                <c:pt idx="68">
                  <c:v>nov/10</c:v>
                </c:pt>
                <c:pt idx="69">
                  <c:v>dez/10</c:v>
                </c:pt>
                <c:pt idx="70">
                  <c:v>jan/11</c:v>
                </c:pt>
                <c:pt idx="71">
                  <c:v>fev/11</c:v>
                </c:pt>
                <c:pt idx="72">
                  <c:v>mar/11</c:v>
                </c:pt>
                <c:pt idx="73">
                  <c:v>abr/11</c:v>
                </c:pt>
                <c:pt idx="74">
                  <c:v>mai/11</c:v>
                </c:pt>
                <c:pt idx="75">
                  <c:v>jun/11</c:v>
                </c:pt>
                <c:pt idx="76">
                  <c:v>jul/11</c:v>
                </c:pt>
                <c:pt idx="77">
                  <c:v>ago/11</c:v>
                </c:pt>
                <c:pt idx="78">
                  <c:v>set/11</c:v>
                </c:pt>
                <c:pt idx="79">
                  <c:v>out/11</c:v>
                </c:pt>
                <c:pt idx="80">
                  <c:v>nov/11</c:v>
                </c:pt>
                <c:pt idx="81">
                  <c:v>dez/11</c:v>
                </c:pt>
                <c:pt idx="82">
                  <c:v>jan/12</c:v>
                </c:pt>
                <c:pt idx="83">
                  <c:v>fev/12</c:v>
                </c:pt>
                <c:pt idx="84">
                  <c:v>mar/12</c:v>
                </c:pt>
                <c:pt idx="85">
                  <c:v>abr/12</c:v>
                </c:pt>
                <c:pt idx="86">
                  <c:v>mai/12</c:v>
                </c:pt>
                <c:pt idx="87">
                  <c:v>jun/12</c:v>
                </c:pt>
                <c:pt idx="88">
                  <c:v>jul/12</c:v>
                </c:pt>
                <c:pt idx="89">
                  <c:v>ago/12</c:v>
                </c:pt>
                <c:pt idx="90">
                  <c:v>set/12</c:v>
                </c:pt>
                <c:pt idx="91">
                  <c:v>out/12</c:v>
                </c:pt>
                <c:pt idx="92">
                  <c:v>nov/12</c:v>
                </c:pt>
                <c:pt idx="93">
                  <c:v>dez/12</c:v>
                </c:pt>
                <c:pt idx="94">
                  <c:v>jan/13</c:v>
                </c:pt>
                <c:pt idx="95">
                  <c:v>fev/13</c:v>
                </c:pt>
                <c:pt idx="96">
                  <c:v>mar/13</c:v>
                </c:pt>
                <c:pt idx="97">
                  <c:v>abr/13</c:v>
                </c:pt>
                <c:pt idx="98">
                  <c:v>mai/13</c:v>
                </c:pt>
                <c:pt idx="99">
                  <c:v>jun/13</c:v>
                </c:pt>
                <c:pt idx="100">
                  <c:v>jul/13</c:v>
                </c:pt>
                <c:pt idx="101">
                  <c:v>ago/13</c:v>
                </c:pt>
                <c:pt idx="102">
                  <c:v>set/13</c:v>
                </c:pt>
                <c:pt idx="103">
                  <c:v>out/13</c:v>
                </c:pt>
                <c:pt idx="104">
                  <c:v>nov/13</c:v>
                </c:pt>
                <c:pt idx="105">
                  <c:v>dez/13</c:v>
                </c:pt>
                <c:pt idx="106">
                  <c:v>jan/14</c:v>
                </c:pt>
                <c:pt idx="107">
                  <c:v>fev/14</c:v>
                </c:pt>
                <c:pt idx="108">
                  <c:v>mar/14</c:v>
                </c:pt>
                <c:pt idx="109">
                  <c:v>abr/14</c:v>
                </c:pt>
                <c:pt idx="110">
                  <c:v>mai/14</c:v>
                </c:pt>
                <c:pt idx="111">
                  <c:v>jun/14</c:v>
                </c:pt>
                <c:pt idx="112">
                  <c:v>jul/14</c:v>
                </c:pt>
                <c:pt idx="113">
                  <c:v>ago/14</c:v>
                </c:pt>
                <c:pt idx="114">
                  <c:v>set/14</c:v>
                </c:pt>
                <c:pt idx="115">
                  <c:v>out/14</c:v>
                </c:pt>
                <c:pt idx="116">
                  <c:v>nov/14</c:v>
                </c:pt>
                <c:pt idx="117">
                  <c:v>dez/14</c:v>
                </c:pt>
                <c:pt idx="118">
                  <c:v>jan/15</c:v>
                </c:pt>
                <c:pt idx="119">
                  <c:v>fev/15</c:v>
                </c:pt>
                <c:pt idx="120">
                  <c:v>mar/15</c:v>
                </c:pt>
                <c:pt idx="121">
                  <c:v>abr/15</c:v>
                </c:pt>
                <c:pt idx="122">
                  <c:v>mai/15</c:v>
                </c:pt>
                <c:pt idx="123">
                  <c:v>jun/15</c:v>
                </c:pt>
                <c:pt idx="124">
                  <c:v>jul/15</c:v>
                </c:pt>
                <c:pt idx="125">
                  <c:v>ago/15</c:v>
                </c:pt>
                <c:pt idx="126">
                  <c:v>set/15</c:v>
                </c:pt>
                <c:pt idx="127">
                  <c:v>out/15</c:v>
                </c:pt>
                <c:pt idx="128">
                  <c:v>nov/15</c:v>
                </c:pt>
                <c:pt idx="129">
                  <c:v>dez/15</c:v>
                </c:pt>
                <c:pt idx="130">
                  <c:v>jan/16</c:v>
                </c:pt>
                <c:pt idx="131">
                  <c:v>fev/16</c:v>
                </c:pt>
                <c:pt idx="132">
                  <c:v>mar/16</c:v>
                </c:pt>
                <c:pt idx="133">
                  <c:v>abr/16</c:v>
                </c:pt>
                <c:pt idx="134">
                  <c:v>mai/16</c:v>
                </c:pt>
                <c:pt idx="135">
                  <c:v>jun/16</c:v>
                </c:pt>
                <c:pt idx="136">
                  <c:v>jul/16</c:v>
                </c:pt>
                <c:pt idx="137">
                  <c:v>ago/16</c:v>
                </c:pt>
                <c:pt idx="138">
                  <c:v>set/16</c:v>
                </c:pt>
                <c:pt idx="139">
                  <c:v>out/16</c:v>
                </c:pt>
                <c:pt idx="140">
                  <c:v>nov/16</c:v>
                </c:pt>
                <c:pt idx="141">
                  <c:v>dez/16</c:v>
                </c:pt>
                <c:pt idx="142">
                  <c:v>jan/17</c:v>
                </c:pt>
                <c:pt idx="143">
                  <c:v>fev/17</c:v>
                </c:pt>
                <c:pt idx="144">
                  <c:v>mar/17</c:v>
                </c:pt>
                <c:pt idx="145">
                  <c:v>abr/17</c:v>
                </c:pt>
                <c:pt idx="146">
                  <c:v>mai/17</c:v>
                </c:pt>
                <c:pt idx="147">
                  <c:v>jun/17</c:v>
                </c:pt>
                <c:pt idx="148">
                  <c:v>jul/17</c:v>
                </c:pt>
                <c:pt idx="149">
                  <c:v>ago/17</c:v>
                </c:pt>
                <c:pt idx="150">
                  <c:v>set/17</c:v>
                </c:pt>
                <c:pt idx="151">
                  <c:v>out/17</c:v>
                </c:pt>
                <c:pt idx="152">
                  <c:v>nov/17</c:v>
                </c:pt>
                <c:pt idx="153">
                  <c:v>dez/17</c:v>
                </c:pt>
                <c:pt idx="154">
                  <c:v>jan/18</c:v>
                </c:pt>
                <c:pt idx="155">
                  <c:v>fev/18</c:v>
                </c:pt>
                <c:pt idx="156">
                  <c:v>mar/18</c:v>
                </c:pt>
                <c:pt idx="157">
                  <c:v>abr/18</c:v>
                </c:pt>
                <c:pt idx="158">
                  <c:v>mai/18</c:v>
                </c:pt>
                <c:pt idx="159">
                  <c:v>jun/18</c:v>
                </c:pt>
                <c:pt idx="160">
                  <c:v>jul/18</c:v>
                </c:pt>
                <c:pt idx="161">
                  <c:v>ago/18</c:v>
                </c:pt>
                <c:pt idx="162">
                  <c:v>set/18</c:v>
                </c:pt>
                <c:pt idx="163">
                  <c:v>out/18</c:v>
                </c:pt>
                <c:pt idx="164">
                  <c:v>nov/18</c:v>
                </c:pt>
                <c:pt idx="165">
                  <c:v>dez/18</c:v>
                </c:pt>
                <c:pt idx="166">
                  <c:v>jan/19</c:v>
                </c:pt>
                <c:pt idx="167">
                  <c:v>fev/19</c:v>
                </c:pt>
                <c:pt idx="168">
                  <c:v>mar/19</c:v>
                </c:pt>
                <c:pt idx="169">
                  <c:v>abr/19</c:v>
                </c:pt>
                <c:pt idx="170">
                  <c:v>mai/19</c:v>
                </c:pt>
                <c:pt idx="171">
                  <c:v>jun/19</c:v>
                </c:pt>
                <c:pt idx="172">
                  <c:v>jul/19</c:v>
                </c:pt>
                <c:pt idx="173">
                  <c:v>ago/19</c:v>
                </c:pt>
                <c:pt idx="174">
                  <c:v>set/19</c:v>
                </c:pt>
                <c:pt idx="175">
                  <c:v>out/19</c:v>
                </c:pt>
                <c:pt idx="176">
                  <c:v>nov/19</c:v>
                </c:pt>
                <c:pt idx="177">
                  <c:v>dez/19</c:v>
                </c:pt>
                <c:pt idx="178">
                  <c:v>jan/20</c:v>
                </c:pt>
                <c:pt idx="179">
                  <c:v>fev/20</c:v>
                </c:pt>
                <c:pt idx="180">
                  <c:v>mar/20</c:v>
                </c:pt>
                <c:pt idx="181">
                  <c:v>abr/20</c:v>
                </c:pt>
                <c:pt idx="182">
                  <c:v>mai/20</c:v>
                </c:pt>
                <c:pt idx="183">
                  <c:v>jun/20</c:v>
                </c:pt>
                <c:pt idx="184">
                  <c:v>jul/20</c:v>
                </c:pt>
                <c:pt idx="185">
                  <c:v>ago/20</c:v>
                </c:pt>
                <c:pt idx="186">
                  <c:v>set/20</c:v>
                </c:pt>
                <c:pt idx="187">
                  <c:v>out/20</c:v>
                </c:pt>
                <c:pt idx="188">
                  <c:v>nov/20</c:v>
                </c:pt>
                <c:pt idx="189">
                  <c:v>dez/20</c:v>
                </c:pt>
                <c:pt idx="190">
                  <c:v>jan/21</c:v>
                </c:pt>
                <c:pt idx="191">
                  <c:v>fev/21</c:v>
                </c:pt>
                <c:pt idx="192">
                  <c:v>mar/21</c:v>
                </c:pt>
                <c:pt idx="193">
                  <c:v>abr/21</c:v>
                </c:pt>
                <c:pt idx="194">
                  <c:v>mai/21</c:v>
                </c:pt>
                <c:pt idx="195">
                  <c:v>jun/21</c:v>
                </c:pt>
                <c:pt idx="196">
                  <c:v>jul/21</c:v>
                </c:pt>
                <c:pt idx="197">
                  <c:v>ago/21</c:v>
                </c:pt>
                <c:pt idx="198">
                  <c:v>set/21</c:v>
                </c:pt>
                <c:pt idx="199">
                  <c:v>out/21</c:v>
                </c:pt>
                <c:pt idx="200">
                  <c:v>nov/21</c:v>
                </c:pt>
                <c:pt idx="201">
                  <c:v>dez/21</c:v>
                </c:pt>
                <c:pt idx="202">
                  <c:v>jan/22</c:v>
                </c:pt>
                <c:pt idx="203">
                  <c:v>fev/22</c:v>
                </c:pt>
                <c:pt idx="204">
                  <c:v>mar/22</c:v>
                </c:pt>
                <c:pt idx="205">
                  <c:v>abr/22</c:v>
                </c:pt>
                <c:pt idx="206">
                  <c:v>mai/22</c:v>
                </c:pt>
                <c:pt idx="207">
                  <c:v>jun/22</c:v>
                </c:pt>
                <c:pt idx="208">
                  <c:v>jul/22</c:v>
                </c:pt>
                <c:pt idx="209">
                  <c:v>ago/22</c:v>
                </c:pt>
                <c:pt idx="210">
                  <c:v>set/22</c:v>
                </c:pt>
                <c:pt idx="211">
                  <c:v>out/22</c:v>
                </c:pt>
                <c:pt idx="212">
                  <c:v>nov/22</c:v>
                </c:pt>
                <c:pt idx="213">
                  <c:v>dez/22</c:v>
                </c:pt>
                <c:pt idx="214">
                  <c:v>jan/23</c:v>
                </c:pt>
                <c:pt idx="215">
                  <c:v>fev/23</c:v>
                </c:pt>
                <c:pt idx="216">
                  <c:v>mar/23</c:v>
                </c:pt>
                <c:pt idx="217">
                  <c:v>abr/23</c:v>
                </c:pt>
                <c:pt idx="218">
                  <c:v>mai/23</c:v>
                </c:pt>
                <c:pt idx="219">
                  <c:v>jun/23</c:v>
                </c:pt>
                <c:pt idx="220">
                  <c:v>jul/23</c:v>
                </c:pt>
                <c:pt idx="221">
                  <c:v>ago/23</c:v>
                </c:pt>
                <c:pt idx="222">
                  <c:v>set/23</c:v>
                </c:pt>
                <c:pt idx="223">
                  <c:v>out/23</c:v>
                </c:pt>
                <c:pt idx="224">
                  <c:v>nov/23</c:v>
                </c:pt>
                <c:pt idx="225">
                  <c:v>dez/23</c:v>
                </c:pt>
                <c:pt idx="226">
                  <c:v>jan/24</c:v>
                </c:pt>
                <c:pt idx="227">
                  <c:v>fev/24</c:v>
                </c:pt>
                <c:pt idx="228">
                  <c:v>mar/24</c:v>
                </c:pt>
                <c:pt idx="229">
                  <c:v>abr/24</c:v>
                </c:pt>
                <c:pt idx="230">
                  <c:v>mai/24</c:v>
                </c:pt>
                <c:pt idx="231">
                  <c:v>jun/24</c:v>
                </c:pt>
                <c:pt idx="232">
                  <c:v>jul/24</c:v>
                </c:pt>
                <c:pt idx="233">
                  <c:v>ago/24</c:v>
                </c:pt>
                <c:pt idx="234">
                  <c:v>set/24</c:v>
                </c:pt>
                <c:pt idx="235">
                  <c:v>out/24</c:v>
                </c:pt>
                <c:pt idx="236">
                  <c:v>nov/24</c:v>
                </c:pt>
                <c:pt idx="237">
                  <c:v>dez/24</c:v>
                </c:pt>
                <c:pt idx="238">
                  <c:v>jan/25</c:v>
                </c:pt>
                <c:pt idx="239">
                  <c:v>fev/25</c:v>
                </c:pt>
                <c:pt idx="240">
                  <c:v>mar/25</c:v>
                </c:pt>
                <c:pt idx="241">
                  <c:v>abr/25</c:v>
                </c:pt>
                <c:pt idx="242">
                  <c:v>mai/25</c:v>
                </c:pt>
                <c:pt idx="243">
                  <c:v>jun/25</c:v>
                </c:pt>
                <c:pt idx="244">
                  <c:v>jul/25</c:v>
                </c:pt>
                <c:pt idx="245">
                  <c:v>ago/25</c:v>
                </c:pt>
                <c:pt idx="246">
                  <c:v>set/25</c:v>
                </c:pt>
                <c:pt idx="247">
                  <c:v>out/25</c:v>
                </c:pt>
                <c:pt idx="248">
                  <c:v>nov/25</c:v>
                </c:pt>
                <c:pt idx="249">
                  <c:v>dez/25</c:v>
                </c:pt>
                <c:pt idx="250">
                  <c:v>jan/26</c:v>
                </c:pt>
                <c:pt idx="251">
                  <c:v>fev/26</c:v>
                </c:pt>
                <c:pt idx="252">
                  <c:v>mar/26</c:v>
                </c:pt>
                <c:pt idx="253">
                  <c:v>abr/26</c:v>
                </c:pt>
                <c:pt idx="254">
                  <c:v>mai/26</c:v>
                </c:pt>
                <c:pt idx="255">
                  <c:v>jun/26</c:v>
                </c:pt>
                <c:pt idx="256">
                  <c:v>jul/26</c:v>
                </c:pt>
              </c:strCache>
            </c:strRef>
          </c:cat>
          <c:val>
            <c:numRef>
              <c:f>Sheet1!$C$2:$C$258</c:f>
              <c:numCache>
                <c:formatCode>0.0</c:formatCode>
                <c:ptCount val="257"/>
                <c:pt idx="0">
                  <c:v>14.56</c:v>
                </c:pt>
                <c:pt idx="1">
                  <c:v>14.96</c:v>
                </c:pt>
                <c:pt idx="2">
                  <c:v>15.32</c:v>
                </c:pt>
                <c:pt idx="3">
                  <c:v>15.48</c:v>
                </c:pt>
                <c:pt idx="4">
                  <c:v>15.74</c:v>
                </c:pt>
                <c:pt idx="5">
                  <c:v>16.190000000000001</c:v>
                </c:pt>
                <c:pt idx="6">
                  <c:v>16.43</c:v>
                </c:pt>
                <c:pt idx="7">
                  <c:v>16.68</c:v>
                </c:pt>
                <c:pt idx="8">
                  <c:v>16.920000000000002</c:v>
                </c:pt>
                <c:pt idx="9">
                  <c:v>16.84</c:v>
                </c:pt>
                <c:pt idx="10">
                  <c:v>17.14</c:v>
                </c:pt>
                <c:pt idx="11">
                  <c:v>17.36</c:v>
                </c:pt>
                <c:pt idx="12">
                  <c:v>17.66</c:v>
                </c:pt>
                <c:pt idx="13">
                  <c:v>17.96</c:v>
                </c:pt>
                <c:pt idx="14">
                  <c:v>18.23</c:v>
                </c:pt>
                <c:pt idx="15">
                  <c:v>18.28</c:v>
                </c:pt>
                <c:pt idx="16">
                  <c:v>18.47</c:v>
                </c:pt>
                <c:pt idx="17">
                  <c:v>18.71</c:v>
                </c:pt>
                <c:pt idx="18">
                  <c:v>18.809999999999999</c:v>
                </c:pt>
                <c:pt idx="19">
                  <c:v>18.89</c:v>
                </c:pt>
                <c:pt idx="20">
                  <c:v>19.079999999999998</c:v>
                </c:pt>
                <c:pt idx="21">
                  <c:v>18.989999999999998</c:v>
                </c:pt>
                <c:pt idx="22">
                  <c:v>19.239999999999998</c:v>
                </c:pt>
                <c:pt idx="23">
                  <c:v>19.43</c:v>
                </c:pt>
                <c:pt idx="24">
                  <c:v>19.07</c:v>
                </c:pt>
                <c:pt idx="25">
                  <c:v>19.38</c:v>
                </c:pt>
                <c:pt idx="26">
                  <c:v>19.87</c:v>
                </c:pt>
                <c:pt idx="27">
                  <c:v>20.05</c:v>
                </c:pt>
                <c:pt idx="28">
                  <c:v>20.52</c:v>
                </c:pt>
                <c:pt idx="29">
                  <c:v>20.68</c:v>
                </c:pt>
                <c:pt idx="30">
                  <c:v>20.85</c:v>
                </c:pt>
                <c:pt idx="31">
                  <c:v>21.41</c:v>
                </c:pt>
                <c:pt idx="32">
                  <c:v>21.7</c:v>
                </c:pt>
                <c:pt idx="33">
                  <c:v>21.74</c:v>
                </c:pt>
                <c:pt idx="34">
                  <c:v>22.05</c:v>
                </c:pt>
                <c:pt idx="35">
                  <c:v>22.24</c:v>
                </c:pt>
                <c:pt idx="36">
                  <c:v>22.68</c:v>
                </c:pt>
                <c:pt idx="37">
                  <c:v>23.09</c:v>
                </c:pt>
                <c:pt idx="38">
                  <c:v>23.39</c:v>
                </c:pt>
                <c:pt idx="39">
                  <c:v>23.44</c:v>
                </c:pt>
                <c:pt idx="40">
                  <c:v>23.6</c:v>
                </c:pt>
                <c:pt idx="41">
                  <c:v>23.63</c:v>
                </c:pt>
                <c:pt idx="42">
                  <c:v>23.7</c:v>
                </c:pt>
                <c:pt idx="43">
                  <c:v>24.01</c:v>
                </c:pt>
                <c:pt idx="44">
                  <c:v>23.62</c:v>
                </c:pt>
                <c:pt idx="45">
                  <c:v>23.53</c:v>
                </c:pt>
                <c:pt idx="46">
                  <c:v>23.32</c:v>
                </c:pt>
                <c:pt idx="47">
                  <c:v>23.28</c:v>
                </c:pt>
                <c:pt idx="48">
                  <c:v>23.27</c:v>
                </c:pt>
                <c:pt idx="49">
                  <c:v>23.38</c:v>
                </c:pt>
                <c:pt idx="50">
                  <c:v>23.65</c:v>
                </c:pt>
                <c:pt idx="51">
                  <c:v>23.71</c:v>
                </c:pt>
                <c:pt idx="52">
                  <c:v>23.72</c:v>
                </c:pt>
                <c:pt idx="53">
                  <c:v>23.87</c:v>
                </c:pt>
                <c:pt idx="54">
                  <c:v>24.07</c:v>
                </c:pt>
                <c:pt idx="55">
                  <c:v>24.16</c:v>
                </c:pt>
                <c:pt idx="56">
                  <c:v>24.31</c:v>
                </c:pt>
                <c:pt idx="57">
                  <c:v>24.53</c:v>
                </c:pt>
                <c:pt idx="58">
                  <c:v>24.65</c:v>
                </c:pt>
                <c:pt idx="59">
                  <c:v>24.67</c:v>
                </c:pt>
                <c:pt idx="60">
                  <c:v>24.92</c:v>
                </c:pt>
                <c:pt idx="61">
                  <c:v>25.11</c:v>
                </c:pt>
                <c:pt idx="62">
                  <c:v>25.45</c:v>
                </c:pt>
                <c:pt idx="63">
                  <c:v>25.51</c:v>
                </c:pt>
                <c:pt idx="64">
                  <c:v>25.94</c:v>
                </c:pt>
                <c:pt idx="65">
                  <c:v>26.09</c:v>
                </c:pt>
                <c:pt idx="66">
                  <c:v>26.22</c:v>
                </c:pt>
                <c:pt idx="67">
                  <c:v>26.39</c:v>
                </c:pt>
                <c:pt idx="68">
                  <c:v>26.74</c:v>
                </c:pt>
                <c:pt idx="69">
                  <c:v>27.04</c:v>
                </c:pt>
                <c:pt idx="70">
                  <c:v>27.06</c:v>
                </c:pt>
                <c:pt idx="71">
                  <c:v>27.07</c:v>
                </c:pt>
                <c:pt idx="72">
                  <c:v>27.56</c:v>
                </c:pt>
                <c:pt idx="73">
                  <c:v>27.53</c:v>
                </c:pt>
                <c:pt idx="74">
                  <c:v>27.56</c:v>
                </c:pt>
                <c:pt idx="75">
                  <c:v>27.55</c:v>
                </c:pt>
                <c:pt idx="76">
                  <c:v>27.45</c:v>
                </c:pt>
                <c:pt idx="77">
                  <c:v>27.68</c:v>
                </c:pt>
                <c:pt idx="78">
                  <c:v>27.86</c:v>
                </c:pt>
                <c:pt idx="79">
                  <c:v>27.89</c:v>
                </c:pt>
                <c:pt idx="80">
                  <c:v>27.81</c:v>
                </c:pt>
                <c:pt idx="81">
                  <c:v>27.73</c:v>
                </c:pt>
                <c:pt idx="82">
                  <c:v>27.81</c:v>
                </c:pt>
                <c:pt idx="83">
                  <c:v>27.7</c:v>
                </c:pt>
                <c:pt idx="84">
                  <c:v>27.6</c:v>
                </c:pt>
                <c:pt idx="85">
                  <c:v>27.58</c:v>
                </c:pt>
                <c:pt idx="86">
                  <c:v>27.65</c:v>
                </c:pt>
                <c:pt idx="87">
                  <c:v>27.65</c:v>
                </c:pt>
                <c:pt idx="88">
                  <c:v>27.59</c:v>
                </c:pt>
                <c:pt idx="89">
                  <c:v>27.55</c:v>
                </c:pt>
                <c:pt idx="90">
                  <c:v>27.29</c:v>
                </c:pt>
                <c:pt idx="91">
                  <c:v>27.33</c:v>
                </c:pt>
                <c:pt idx="92">
                  <c:v>27.35</c:v>
                </c:pt>
                <c:pt idx="93">
                  <c:v>27.33</c:v>
                </c:pt>
                <c:pt idx="94">
                  <c:v>27.37</c:v>
                </c:pt>
                <c:pt idx="95">
                  <c:v>27.28</c:v>
                </c:pt>
                <c:pt idx="96">
                  <c:v>26.98</c:v>
                </c:pt>
                <c:pt idx="97">
                  <c:v>26.92</c:v>
                </c:pt>
                <c:pt idx="98">
                  <c:v>26.83</c:v>
                </c:pt>
                <c:pt idx="99">
                  <c:v>26.62</c:v>
                </c:pt>
                <c:pt idx="100">
                  <c:v>26.58</c:v>
                </c:pt>
                <c:pt idx="101">
                  <c:v>26.49</c:v>
                </c:pt>
                <c:pt idx="102">
                  <c:v>26.27</c:v>
                </c:pt>
                <c:pt idx="103">
                  <c:v>26.15</c:v>
                </c:pt>
                <c:pt idx="104">
                  <c:v>26</c:v>
                </c:pt>
                <c:pt idx="105">
                  <c:v>25.71</c:v>
                </c:pt>
                <c:pt idx="106">
                  <c:v>25.69</c:v>
                </c:pt>
                <c:pt idx="107">
                  <c:v>25.51</c:v>
                </c:pt>
                <c:pt idx="108">
                  <c:v>25.27</c:v>
                </c:pt>
                <c:pt idx="109">
                  <c:v>25.12</c:v>
                </c:pt>
                <c:pt idx="110">
                  <c:v>25.04</c:v>
                </c:pt>
                <c:pt idx="111">
                  <c:v>25</c:v>
                </c:pt>
                <c:pt idx="112">
                  <c:v>24.88</c:v>
                </c:pt>
                <c:pt idx="113">
                  <c:v>24.78</c:v>
                </c:pt>
                <c:pt idx="114">
                  <c:v>24.75</c:v>
                </c:pt>
                <c:pt idx="115">
                  <c:v>24.78</c:v>
                </c:pt>
                <c:pt idx="116">
                  <c:v>24.61</c:v>
                </c:pt>
                <c:pt idx="117">
                  <c:v>24.68</c:v>
                </c:pt>
                <c:pt idx="118">
                  <c:v>24.82</c:v>
                </c:pt>
                <c:pt idx="119">
                  <c:v>24.7</c:v>
                </c:pt>
                <c:pt idx="120">
                  <c:v>24.62</c:v>
                </c:pt>
                <c:pt idx="121">
                  <c:v>24.62</c:v>
                </c:pt>
                <c:pt idx="122">
                  <c:v>24.53</c:v>
                </c:pt>
                <c:pt idx="123">
                  <c:v>24.48</c:v>
                </c:pt>
                <c:pt idx="124">
                  <c:v>24.56</c:v>
                </c:pt>
                <c:pt idx="125">
                  <c:v>24.58</c:v>
                </c:pt>
                <c:pt idx="126">
                  <c:v>24.65</c:v>
                </c:pt>
                <c:pt idx="127">
                  <c:v>24.57</c:v>
                </c:pt>
                <c:pt idx="128">
                  <c:v>24.36</c:v>
                </c:pt>
                <c:pt idx="129">
                  <c:v>23.96</c:v>
                </c:pt>
                <c:pt idx="130">
                  <c:v>23.92</c:v>
                </c:pt>
                <c:pt idx="131">
                  <c:v>23.66</c:v>
                </c:pt>
                <c:pt idx="132">
                  <c:v>23.46</c:v>
                </c:pt>
                <c:pt idx="133">
                  <c:v>23.24</c:v>
                </c:pt>
                <c:pt idx="134">
                  <c:v>23.14</c:v>
                </c:pt>
                <c:pt idx="135">
                  <c:v>23</c:v>
                </c:pt>
                <c:pt idx="136">
                  <c:v>22.8</c:v>
                </c:pt>
                <c:pt idx="137">
                  <c:v>22.7</c:v>
                </c:pt>
                <c:pt idx="138">
                  <c:v>22.5</c:v>
                </c:pt>
                <c:pt idx="139">
                  <c:v>22.4</c:v>
                </c:pt>
                <c:pt idx="140">
                  <c:v>22.4</c:v>
                </c:pt>
                <c:pt idx="141">
                  <c:v>22.22</c:v>
                </c:pt>
                <c:pt idx="142">
                  <c:v>22.15</c:v>
                </c:pt>
                <c:pt idx="143">
                  <c:v>22</c:v>
                </c:pt>
                <c:pt idx="144">
                  <c:v>21.95</c:v>
                </c:pt>
                <c:pt idx="145">
                  <c:v>21.67</c:v>
                </c:pt>
                <c:pt idx="146">
                  <c:v>21.65</c:v>
                </c:pt>
                <c:pt idx="147">
                  <c:v>21.61</c:v>
                </c:pt>
                <c:pt idx="148">
                  <c:v>21.59</c:v>
                </c:pt>
                <c:pt idx="149">
                  <c:v>21.62</c:v>
                </c:pt>
                <c:pt idx="150">
                  <c:v>21.52</c:v>
                </c:pt>
                <c:pt idx="151">
                  <c:v>21.62</c:v>
                </c:pt>
                <c:pt idx="152">
                  <c:v>21.72</c:v>
                </c:pt>
                <c:pt idx="153">
                  <c:v>21.63</c:v>
                </c:pt>
                <c:pt idx="154">
                  <c:v>21.73</c:v>
                </c:pt>
                <c:pt idx="155">
                  <c:v>21.7</c:v>
                </c:pt>
                <c:pt idx="156">
                  <c:v>21.71</c:v>
                </c:pt>
                <c:pt idx="157">
                  <c:v>21.86</c:v>
                </c:pt>
                <c:pt idx="158">
                  <c:v>22.05</c:v>
                </c:pt>
                <c:pt idx="159">
                  <c:v>22.12</c:v>
                </c:pt>
                <c:pt idx="160">
                  <c:v>22.13</c:v>
                </c:pt>
                <c:pt idx="161">
                  <c:v>22.36</c:v>
                </c:pt>
                <c:pt idx="162">
                  <c:v>22.33</c:v>
                </c:pt>
                <c:pt idx="163">
                  <c:v>22.57</c:v>
                </c:pt>
                <c:pt idx="164">
                  <c:v>23.03</c:v>
                </c:pt>
                <c:pt idx="165">
                  <c:v>23.21</c:v>
                </c:pt>
                <c:pt idx="166">
                  <c:v>23.5</c:v>
                </c:pt>
                <c:pt idx="167">
                  <c:v>23.69</c:v>
                </c:pt>
                <c:pt idx="168">
                  <c:v>23.72</c:v>
                </c:pt>
                <c:pt idx="169">
                  <c:v>23.94</c:v>
                </c:pt>
                <c:pt idx="170">
                  <c:v>24.2</c:v>
                </c:pt>
                <c:pt idx="171">
                  <c:v>24.48</c:v>
                </c:pt>
                <c:pt idx="172">
                  <c:v>24.67</c:v>
                </c:pt>
                <c:pt idx="173">
                  <c:v>25.03</c:v>
                </c:pt>
                <c:pt idx="174">
                  <c:v>25.14</c:v>
                </c:pt>
                <c:pt idx="175">
                  <c:v>25.29</c:v>
                </c:pt>
                <c:pt idx="176">
                  <c:v>25.49</c:v>
                </c:pt>
                <c:pt idx="177">
                  <c:v>25.51</c:v>
                </c:pt>
                <c:pt idx="178">
                  <c:v>25.69</c:v>
                </c:pt>
                <c:pt idx="179">
                  <c:v>25.69</c:v>
                </c:pt>
                <c:pt idx="180">
                  <c:v>25.7</c:v>
                </c:pt>
                <c:pt idx="181">
                  <c:v>25.05</c:v>
                </c:pt>
                <c:pt idx="182">
                  <c:v>24.31</c:v>
                </c:pt>
                <c:pt idx="183">
                  <c:v>23.81</c:v>
                </c:pt>
                <c:pt idx="184">
                  <c:v>23.69</c:v>
                </c:pt>
                <c:pt idx="185">
                  <c:v>23.69</c:v>
                </c:pt>
                <c:pt idx="186">
                  <c:v>23.98</c:v>
                </c:pt>
                <c:pt idx="187">
                  <c:v>24.48</c:v>
                </c:pt>
                <c:pt idx="188">
                  <c:v>25.13</c:v>
                </c:pt>
                <c:pt idx="189">
                  <c:v>25.62</c:v>
                </c:pt>
                <c:pt idx="190">
                  <c:v>25.84</c:v>
                </c:pt>
                <c:pt idx="191">
                  <c:v>25.94</c:v>
                </c:pt>
                <c:pt idx="192">
                  <c:v>26</c:v>
                </c:pt>
                <c:pt idx="193">
                  <c:v>26.27</c:v>
                </c:pt>
                <c:pt idx="194">
                  <c:v>26.91</c:v>
                </c:pt>
                <c:pt idx="195">
                  <c:v>27.39</c:v>
                </c:pt>
                <c:pt idx="196">
                  <c:v>27.84</c:v>
                </c:pt>
                <c:pt idx="197">
                  <c:v>28.73</c:v>
                </c:pt>
                <c:pt idx="198">
                  <c:v>29.47</c:v>
                </c:pt>
                <c:pt idx="199">
                  <c:v>30</c:v>
                </c:pt>
                <c:pt idx="200">
                  <c:v>30.6</c:v>
                </c:pt>
                <c:pt idx="201">
                  <c:v>31.03</c:v>
                </c:pt>
                <c:pt idx="202">
                  <c:v>31.21</c:v>
                </c:pt>
                <c:pt idx="203">
                  <c:v>31.1</c:v>
                </c:pt>
                <c:pt idx="204">
                  <c:v>31.14</c:v>
                </c:pt>
                <c:pt idx="205">
                  <c:v>31.34</c:v>
                </c:pt>
                <c:pt idx="206">
                  <c:v>31.29</c:v>
                </c:pt>
                <c:pt idx="207">
                  <c:v>31.36</c:v>
                </c:pt>
                <c:pt idx="208">
                  <c:v>31.5</c:v>
                </c:pt>
                <c:pt idx="209">
                  <c:v>31.42</c:v>
                </c:pt>
                <c:pt idx="210">
                  <c:v>31.39</c:v>
                </c:pt>
                <c:pt idx="211">
                  <c:v>31.59</c:v>
                </c:pt>
                <c:pt idx="212">
                  <c:v>31.44</c:v>
                </c:pt>
                <c:pt idx="213">
                  <c:v>31.16</c:v>
                </c:pt>
                <c:pt idx="214">
                  <c:v>31.2</c:v>
                </c:pt>
                <c:pt idx="215">
                  <c:v>30.94</c:v>
                </c:pt>
                <c:pt idx="216">
                  <c:v>30.81</c:v>
                </c:pt>
                <c:pt idx="217">
                  <c:v>30.7</c:v>
                </c:pt>
                <c:pt idx="218">
                  <c:v>30.9</c:v>
                </c:pt>
                <c:pt idx="219">
                  <c:v>30.49</c:v>
                </c:pt>
                <c:pt idx="220">
                  <c:v>30.16</c:v>
                </c:pt>
                <c:pt idx="221">
                  <c:v>30.31</c:v>
                </c:pt>
                <c:pt idx="222">
                  <c:v>30.14</c:v>
                </c:pt>
                <c:pt idx="223">
                  <c:v>30.18</c:v>
                </c:pt>
                <c:pt idx="224">
                  <c:v>30.19</c:v>
                </c:pt>
                <c:pt idx="225">
                  <c:v>29.86</c:v>
                </c:pt>
                <c:pt idx="226">
                  <c:v>30.13</c:v>
                </c:pt>
                <c:pt idx="227">
                  <c:v>30.11</c:v>
                </c:pt>
                <c:pt idx="228">
                  <c:v>29.99</c:v>
                </c:pt>
                <c:pt idx="229">
                  <c:v>29.9</c:v>
                </c:pt>
                <c:pt idx="230">
                  <c:v>29.84</c:v>
                </c:pt>
                <c:pt idx="231">
                  <c:v>29.85</c:v>
                </c:pt>
                <c:pt idx="232">
                  <c:v>30.03</c:v>
                </c:pt>
                <c:pt idx="233">
                  <c:v>30.15</c:v>
                </c:pt>
                <c:pt idx="234">
                  <c:v>30.12</c:v>
                </c:pt>
                <c:pt idx="235">
                  <c:v>30.17</c:v>
                </c:pt>
                <c:pt idx="236">
                  <c:v>30.28</c:v>
                </c:pt>
                <c:pt idx="237">
                  <c:v>30.3</c:v>
                </c:pt>
                <c:pt idx="238">
                  <c:v>30.52</c:v>
                </c:pt>
                <c:pt idx="239">
                  <c:v>30.45</c:v>
                </c:pt>
                <c:pt idx="240">
                  <c:v>30.62</c:v>
                </c:pt>
                <c:pt idx="241">
                  <c:v>30.68</c:v>
                </c:pt>
                <c:pt idx="242">
                  <c:v>30.58</c:v>
                </c:pt>
                <c:pt idx="243">
                  <c:v>30.53</c:v>
                </c:pt>
                <c:pt idx="244">
                  <c:v>30.52</c:v>
                </c:pt>
                <c:pt idx="245">
                  <c:v>30.61</c:v>
                </c:pt>
                <c:pt idx="246">
                  <c:v>30.69</c:v>
                </c:pt>
                <c:pt idx="247">
                  <c:v>30.99</c:v>
                </c:pt>
                <c:pt idx="248">
                  <c:v>31.13</c:v>
                </c:pt>
                <c:pt idx="249">
                  <c:v>31.16</c:v>
                </c:pt>
                <c:pt idx="250">
                  <c:v>31.35</c:v>
                </c:pt>
                <c:pt idx="251">
                  <c:v>31.24</c:v>
                </c:pt>
                <c:pt idx="252">
                  <c:v>31.24</c:v>
                </c:pt>
                <c:pt idx="253">
                  <c:v>31.19</c:v>
                </c:pt>
                <c:pt idx="254">
                  <c:v>31.05</c:v>
                </c:pt>
                <c:pt idx="255">
                  <c:v>30.77</c:v>
                </c:pt>
                <c:pt idx="256">
                  <c:v>30.81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EA0-420D-B281-BEC98C995B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0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24"/>
        <c:tickMarkSkip val="24"/>
        <c:noMultiLvlLbl val="0"/>
      </c:catAx>
      <c:valAx>
        <c:axId val="2140495176"/>
        <c:scaling>
          <c:orientation val="minMax"/>
          <c:max val="35"/>
          <c:min val="0"/>
        </c:scaling>
        <c:delete val="0"/>
        <c:axPos val="l"/>
        <c:majorGridlines>
          <c:spPr>
            <a:ln w="9525">
              <a:solidFill>
                <a:srgbClr val="DDDDD8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crossAx val="2118791784"/>
        <c:crosses val="autoZero"/>
        <c:crossBetween val="between"/>
        <c:majorUnit val="5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3C3C3C"/>
              </a:solidFill>
            </a:defRPr>
          </a:pPr>
          <a:endParaRPr lang="pt-BR"/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6B6B6B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Juros PF</c:v>
                </c:pt>
              </c:strCache>
            </c:strRef>
          </c:tx>
          <c:spPr>
            <a:ln w="28575">
              <a:solidFill>
                <a:srgbClr val="1A6FE0"/>
              </a:solidFill>
            </a:ln>
          </c:spPr>
          <c:marker>
            <c:symbol val="none"/>
          </c:marker>
          <c:dLbls>
            <c:dLbl>
              <c:idx val="149"/>
              <c:numFmt formatCode="0.0" sourceLinked="0"/>
              <c:spPr/>
              <c:txPr>
                <a:bodyPr/>
                <a:lstStyle/>
                <a:p>
                  <a:pPr>
                    <a:defRPr sz="1200" b="1">
                      <a:solidFill>
                        <a:srgbClr val="1A6FE0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38A-4F7B-BC8B-099A17C3E22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Sheet1!$A$2:$A$151</c:f>
              <c:strCache>
                <c:ptCount val="150"/>
                <c:pt idx="0">
                  <c:v>mar/14</c:v>
                </c:pt>
                <c:pt idx="1">
                  <c:v>abr/14</c:v>
                </c:pt>
                <c:pt idx="2">
                  <c:v>mai/14</c:v>
                </c:pt>
                <c:pt idx="3">
                  <c:v>jun/14</c:v>
                </c:pt>
                <c:pt idx="4">
                  <c:v>jul/14</c:v>
                </c:pt>
                <c:pt idx="5">
                  <c:v>ago/14</c:v>
                </c:pt>
                <c:pt idx="6">
                  <c:v>set/14</c:v>
                </c:pt>
                <c:pt idx="7">
                  <c:v>out/14</c:v>
                </c:pt>
                <c:pt idx="8">
                  <c:v>nov/14</c:v>
                </c:pt>
                <c:pt idx="9">
                  <c:v>dez/14</c:v>
                </c:pt>
                <c:pt idx="10">
                  <c:v>jan/15</c:v>
                </c:pt>
                <c:pt idx="11">
                  <c:v>fev/15</c:v>
                </c:pt>
                <c:pt idx="12">
                  <c:v>mar/15</c:v>
                </c:pt>
                <c:pt idx="13">
                  <c:v>abr/15</c:v>
                </c:pt>
                <c:pt idx="14">
                  <c:v>mai/15</c:v>
                </c:pt>
                <c:pt idx="15">
                  <c:v>jun/15</c:v>
                </c:pt>
                <c:pt idx="16">
                  <c:v>jul/15</c:v>
                </c:pt>
                <c:pt idx="17">
                  <c:v>ago/15</c:v>
                </c:pt>
                <c:pt idx="18">
                  <c:v>set/15</c:v>
                </c:pt>
                <c:pt idx="19">
                  <c:v>out/15</c:v>
                </c:pt>
                <c:pt idx="20">
                  <c:v>nov/15</c:v>
                </c:pt>
                <c:pt idx="21">
                  <c:v>dez/15</c:v>
                </c:pt>
                <c:pt idx="22">
                  <c:v>jan/16</c:v>
                </c:pt>
                <c:pt idx="23">
                  <c:v>fev/16</c:v>
                </c:pt>
                <c:pt idx="24">
                  <c:v>mar/16</c:v>
                </c:pt>
                <c:pt idx="25">
                  <c:v>abr/16</c:v>
                </c:pt>
                <c:pt idx="26">
                  <c:v>mai/16</c:v>
                </c:pt>
                <c:pt idx="27">
                  <c:v>jun/16</c:v>
                </c:pt>
                <c:pt idx="28">
                  <c:v>jul/16</c:v>
                </c:pt>
                <c:pt idx="29">
                  <c:v>ago/16</c:v>
                </c:pt>
                <c:pt idx="30">
                  <c:v>set/16</c:v>
                </c:pt>
                <c:pt idx="31">
                  <c:v>out/16</c:v>
                </c:pt>
                <c:pt idx="32">
                  <c:v>nov/16</c:v>
                </c:pt>
                <c:pt idx="33">
                  <c:v>dez/16</c:v>
                </c:pt>
                <c:pt idx="34">
                  <c:v>jan/17</c:v>
                </c:pt>
                <c:pt idx="35">
                  <c:v>fev/17</c:v>
                </c:pt>
                <c:pt idx="36">
                  <c:v>mar/17</c:v>
                </c:pt>
                <c:pt idx="37">
                  <c:v>abr/17</c:v>
                </c:pt>
                <c:pt idx="38">
                  <c:v>mai/17</c:v>
                </c:pt>
                <c:pt idx="39">
                  <c:v>jun/17</c:v>
                </c:pt>
                <c:pt idx="40">
                  <c:v>jul/17</c:v>
                </c:pt>
                <c:pt idx="41">
                  <c:v>ago/17</c:v>
                </c:pt>
                <c:pt idx="42">
                  <c:v>set/17</c:v>
                </c:pt>
                <c:pt idx="43">
                  <c:v>out/17</c:v>
                </c:pt>
                <c:pt idx="44">
                  <c:v>nov/17</c:v>
                </c:pt>
                <c:pt idx="45">
                  <c:v>dez/17</c:v>
                </c:pt>
                <c:pt idx="46">
                  <c:v>jan/18</c:v>
                </c:pt>
                <c:pt idx="47">
                  <c:v>fev/18</c:v>
                </c:pt>
                <c:pt idx="48">
                  <c:v>mar/18</c:v>
                </c:pt>
                <c:pt idx="49">
                  <c:v>abr/18</c:v>
                </c:pt>
                <c:pt idx="50">
                  <c:v>mai/18</c:v>
                </c:pt>
                <c:pt idx="51">
                  <c:v>jun/18</c:v>
                </c:pt>
                <c:pt idx="52">
                  <c:v>jul/18</c:v>
                </c:pt>
                <c:pt idx="53">
                  <c:v>ago/18</c:v>
                </c:pt>
                <c:pt idx="54">
                  <c:v>set/18</c:v>
                </c:pt>
                <c:pt idx="55">
                  <c:v>out/18</c:v>
                </c:pt>
                <c:pt idx="56">
                  <c:v>nov/18</c:v>
                </c:pt>
                <c:pt idx="57">
                  <c:v>dez/18</c:v>
                </c:pt>
                <c:pt idx="58">
                  <c:v>jan/19</c:v>
                </c:pt>
                <c:pt idx="59">
                  <c:v>fev/19</c:v>
                </c:pt>
                <c:pt idx="60">
                  <c:v>mar/19</c:v>
                </c:pt>
                <c:pt idx="61">
                  <c:v>abr/19</c:v>
                </c:pt>
                <c:pt idx="62">
                  <c:v>mai/19</c:v>
                </c:pt>
                <c:pt idx="63">
                  <c:v>jun/19</c:v>
                </c:pt>
                <c:pt idx="64">
                  <c:v>jul/19</c:v>
                </c:pt>
                <c:pt idx="65">
                  <c:v>ago/19</c:v>
                </c:pt>
                <c:pt idx="66">
                  <c:v>set/19</c:v>
                </c:pt>
                <c:pt idx="67">
                  <c:v>out/19</c:v>
                </c:pt>
                <c:pt idx="68">
                  <c:v>nov/19</c:v>
                </c:pt>
                <c:pt idx="69">
                  <c:v>dez/19</c:v>
                </c:pt>
                <c:pt idx="70">
                  <c:v>jan/20</c:v>
                </c:pt>
                <c:pt idx="71">
                  <c:v>fev/20</c:v>
                </c:pt>
                <c:pt idx="72">
                  <c:v>mar/20</c:v>
                </c:pt>
                <c:pt idx="73">
                  <c:v>abr/20</c:v>
                </c:pt>
                <c:pt idx="74">
                  <c:v>mai/20</c:v>
                </c:pt>
                <c:pt idx="75">
                  <c:v>jun/20</c:v>
                </c:pt>
                <c:pt idx="76">
                  <c:v>jul/20</c:v>
                </c:pt>
                <c:pt idx="77">
                  <c:v>ago/20</c:v>
                </c:pt>
                <c:pt idx="78">
                  <c:v>set/20</c:v>
                </c:pt>
                <c:pt idx="79">
                  <c:v>out/20</c:v>
                </c:pt>
                <c:pt idx="80">
                  <c:v>nov/20</c:v>
                </c:pt>
                <c:pt idx="81">
                  <c:v>dez/20</c:v>
                </c:pt>
                <c:pt idx="82">
                  <c:v>jan/21</c:v>
                </c:pt>
                <c:pt idx="83">
                  <c:v>fev/21</c:v>
                </c:pt>
                <c:pt idx="84">
                  <c:v>mar/21</c:v>
                </c:pt>
                <c:pt idx="85">
                  <c:v>abr/21</c:v>
                </c:pt>
                <c:pt idx="86">
                  <c:v>mai/21</c:v>
                </c:pt>
                <c:pt idx="87">
                  <c:v>jun/21</c:v>
                </c:pt>
                <c:pt idx="88">
                  <c:v>jul/21</c:v>
                </c:pt>
                <c:pt idx="89">
                  <c:v>ago/21</c:v>
                </c:pt>
                <c:pt idx="90">
                  <c:v>set/21</c:v>
                </c:pt>
                <c:pt idx="91">
                  <c:v>out/21</c:v>
                </c:pt>
                <c:pt idx="92">
                  <c:v>nov/21</c:v>
                </c:pt>
                <c:pt idx="93">
                  <c:v>dez/21</c:v>
                </c:pt>
                <c:pt idx="94">
                  <c:v>jan/22</c:v>
                </c:pt>
                <c:pt idx="95">
                  <c:v>fev/22</c:v>
                </c:pt>
                <c:pt idx="96">
                  <c:v>mar/22</c:v>
                </c:pt>
                <c:pt idx="97">
                  <c:v>abr/22</c:v>
                </c:pt>
                <c:pt idx="98">
                  <c:v>mai/22</c:v>
                </c:pt>
                <c:pt idx="99">
                  <c:v>jun/22</c:v>
                </c:pt>
                <c:pt idx="100">
                  <c:v>jul/22</c:v>
                </c:pt>
                <c:pt idx="101">
                  <c:v>ago/22</c:v>
                </c:pt>
                <c:pt idx="102">
                  <c:v>set/22</c:v>
                </c:pt>
                <c:pt idx="103">
                  <c:v>out/22</c:v>
                </c:pt>
                <c:pt idx="104">
                  <c:v>nov/22</c:v>
                </c:pt>
                <c:pt idx="105">
                  <c:v>dez/22</c:v>
                </c:pt>
                <c:pt idx="106">
                  <c:v>jan/23</c:v>
                </c:pt>
                <c:pt idx="107">
                  <c:v>fev/23</c:v>
                </c:pt>
                <c:pt idx="108">
                  <c:v>mar/23</c:v>
                </c:pt>
                <c:pt idx="109">
                  <c:v>abr/23</c:v>
                </c:pt>
                <c:pt idx="110">
                  <c:v>mai/23</c:v>
                </c:pt>
                <c:pt idx="111">
                  <c:v>jun/23</c:v>
                </c:pt>
                <c:pt idx="112">
                  <c:v>jul/23</c:v>
                </c:pt>
                <c:pt idx="113">
                  <c:v>ago/23</c:v>
                </c:pt>
                <c:pt idx="114">
                  <c:v>set/23</c:v>
                </c:pt>
                <c:pt idx="115">
                  <c:v>out/23</c:v>
                </c:pt>
                <c:pt idx="116">
                  <c:v>nov/23</c:v>
                </c:pt>
                <c:pt idx="117">
                  <c:v>dez/23</c:v>
                </c:pt>
                <c:pt idx="118">
                  <c:v>jan/24</c:v>
                </c:pt>
                <c:pt idx="119">
                  <c:v>fev/24</c:v>
                </c:pt>
                <c:pt idx="120">
                  <c:v>mar/24</c:v>
                </c:pt>
                <c:pt idx="121">
                  <c:v>abr/24</c:v>
                </c:pt>
                <c:pt idx="122">
                  <c:v>mai/24</c:v>
                </c:pt>
                <c:pt idx="123">
                  <c:v>jun/24</c:v>
                </c:pt>
                <c:pt idx="124">
                  <c:v>jul/24</c:v>
                </c:pt>
                <c:pt idx="125">
                  <c:v>ago/24</c:v>
                </c:pt>
                <c:pt idx="126">
                  <c:v>set/24</c:v>
                </c:pt>
                <c:pt idx="127">
                  <c:v>out/24</c:v>
                </c:pt>
                <c:pt idx="128">
                  <c:v>nov/24</c:v>
                </c:pt>
                <c:pt idx="129">
                  <c:v>dez/24</c:v>
                </c:pt>
                <c:pt idx="130">
                  <c:v>jan/25</c:v>
                </c:pt>
                <c:pt idx="131">
                  <c:v>fev/25</c:v>
                </c:pt>
                <c:pt idx="132">
                  <c:v>mar/25</c:v>
                </c:pt>
                <c:pt idx="133">
                  <c:v>abr/25</c:v>
                </c:pt>
                <c:pt idx="134">
                  <c:v>mai/25</c:v>
                </c:pt>
                <c:pt idx="135">
                  <c:v>jun/25</c:v>
                </c:pt>
                <c:pt idx="136">
                  <c:v>jul/25</c:v>
                </c:pt>
                <c:pt idx="137">
                  <c:v>ago/25</c:v>
                </c:pt>
                <c:pt idx="138">
                  <c:v>set/25</c:v>
                </c:pt>
                <c:pt idx="139">
                  <c:v>out/25</c:v>
                </c:pt>
                <c:pt idx="140">
                  <c:v>nov/25</c:v>
                </c:pt>
                <c:pt idx="141">
                  <c:v>dez/25</c:v>
                </c:pt>
                <c:pt idx="142">
                  <c:v>jan/26</c:v>
                </c:pt>
                <c:pt idx="143">
                  <c:v>fev/26</c:v>
                </c:pt>
                <c:pt idx="144">
                  <c:v>mar/26</c:v>
                </c:pt>
                <c:pt idx="145">
                  <c:v>abr/26</c:v>
                </c:pt>
                <c:pt idx="146">
                  <c:v>mai/26</c:v>
                </c:pt>
                <c:pt idx="147">
                  <c:v>jun/26</c:v>
                </c:pt>
                <c:pt idx="148">
                  <c:v>jul/26</c:v>
                </c:pt>
                <c:pt idx="149">
                  <c:v>ago/26</c:v>
                </c:pt>
              </c:strCache>
            </c:strRef>
          </c:cat>
          <c:val>
            <c:numRef>
              <c:f>Sheet1!$B$2:$B$151</c:f>
              <c:numCache>
                <c:formatCode>0.0</c:formatCode>
                <c:ptCount val="150"/>
                <c:pt idx="0">
                  <c:v>46.75</c:v>
                </c:pt>
                <c:pt idx="1">
                  <c:v>46.67</c:v>
                </c:pt>
                <c:pt idx="2">
                  <c:v>47.13</c:v>
                </c:pt>
                <c:pt idx="3">
                  <c:v>47.92</c:v>
                </c:pt>
                <c:pt idx="4">
                  <c:v>48.02</c:v>
                </c:pt>
                <c:pt idx="5">
                  <c:v>48.4</c:v>
                </c:pt>
                <c:pt idx="6">
                  <c:v>47.47</c:v>
                </c:pt>
                <c:pt idx="7">
                  <c:v>49.11</c:v>
                </c:pt>
                <c:pt idx="8">
                  <c:v>49.71</c:v>
                </c:pt>
                <c:pt idx="9">
                  <c:v>48.47</c:v>
                </c:pt>
                <c:pt idx="10">
                  <c:v>50.99</c:v>
                </c:pt>
                <c:pt idx="11">
                  <c:v>53.11</c:v>
                </c:pt>
                <c:pt idx="12">
                  <c:v>53.13</c:v>
                </c:pt>
                <c:pt idx="13">
                  <c:v>54.79</c:v>
                </c:pt>
                <c:pt idx="14">
                  <c:v>56.28</c:v>
                </c:pt>
                <c:pt idx="15">
                  <c:v>57.53</c:v>
                </c:pt>
                <c:pt idx="16">
                  <c:v>58.77</c:v>
                </c:pt>
                <c:pt idx="17">
                  <c:v>60.13</c:v>
                </c:pt>
                <c:pt idx="18">
                  <c:v>61.3</c:v>
                </c:pt>
                <c:pt idx="19">
                  <c:v>63.37</c:v>
                </c:pt>
                <c:pt idx="20">
                  <c:v>64.010000000000005</c:v>
                </c:pt>
                <c:pt idx="21">
                  <c:v>62.73</c:v>
                </c:pt>
                <c:pt idx="22">
                  <c:v>65.8</c:v>
                </c:pt>
                <c:pt idx="23">
                  <c:v>67.33</c:v>
                </c:pt>
                <c:pt idx="24">
                  <c:v>68.569999999999993</c:v>
                </c:pt>
                <c:pt idx="25">
                  <c:v>70.42</c:v>
                </c:pt>
                <c:pt idx="26">
                  <c:v>70.7</c:v>
                </c:pt>
                <c:pt idx="27">
                  <c:v>70.180000000000007</c:v>
                </c:pt>
                <c:pt idx="28">
                  <c:v>70.75</c:v>
                </c:pt>
                <c:pt idx="29">
                  <c:v>71.150000000000006</c:v>
                </c:pt>
                <c:pt idx="30">
                  <c:v>72.61</c:v>
                </c:pt>
                <c:pt idx="31">
                  <c:v>72.87</c:v>
                </c:pt>
                <c:pt idx="32">
                  <c:v>72.930000000000007</c:v>
                </c:pt>
                <c:pt idx="33">
                  <c:v>70.989999999999995</c:v>
                </c:pt>
                <c:pt idx="34">
                  <c:v>71.790000000000006</c:v>
                </c:pt>
                <c:pt idx="35">
                  <c:v>72</c:v>
                </c:pt>
                <c:pt idx="36">
                  <c:v>71.23</c:v>
                </c:pt>
                <c:pt idx="37">
                  <c:v>66.58</c:v>
                </c:pt>
                <c:pt idx="38">
                  <c:v>62.14</c:v>
                </c:pt>
                <c:pt idx="39">
                  <c:v>62.22</c:v>
                </c:pt>
                <c:pt idx="40">
                  <c:v>63.65</c:v>
                </c:pt>
                <c:pt idx="41">
                  <c:v>62.31</c:v>
                </c:pt>
                <c:pt idx="42">
                  <c:v>58.55</c:v>
                </c:pt>
                <c:pt idx="43">
                  <c:v>58.85</c:v>
                </c:pt>
                <c:pt idx="44">
                  <c:v>57.81</c:v>
                </c:pt>
                <c:pt idx="45">
                  <c:v>54.49</c:v>
                </c:pt>
                <c:pt idx="46">
                  <c:v>55.08</c:v>
                </c:pt>
                <c:pt idx="47">
                  <c:v>56.94</c:v>
                </c:pt>
                <c:pt idx="48">
                  <c:v>56.54</c:v>
                </c:pt>
                <c:pt idx="49">
                  <c:v>56.3</c:v>
                </c:pt>
                <c:pt idx="50">
                  <c:v>53.09</c:v>
                </c:pt>
                <c:pt idx="51">
                  <c:v>52.25</c:v>
                </c:pt>
                <c:pt idx="52">
                  <c:v>51.24</c:v>
                </c:pt>
                <c:pt idx="53">
                  <c:v>50.91</c:v>
                </c:pt>
                <c:pt idx="54">
                  <c:v>51.11</c:v>
                </c:pt>
                <c:pt idx="55">
                  <c:v>51.19</c:v>
                </c:pt>
                <c:pt idx="56">
                  <c:v>50.85</c:v>
                </c:pt>
                <c:pt idx="57">
                  <c:v>48.09</c:v>
                </c:pt>
                <c:pt idx="58">
                  <c:v>50.33</c:v>
                </c:pt>
                <c:pt idx="59">
                  <c:v>51.95</c:v>
                </c:pt>
                <c:pt idx="60">
                  <c:v>52.65</c:v>
                </c:pt>
                <c:pt idx="61">
                  <c:v>52.45</c:v>
                </c:pt>
                <c:pt idx="62">
                  <c:v>51.8</c:v>
                </c:pt>
                <c:pt idx="63">
                  <c:v>52.08</c:v>
                </c:pt>
                <c:pt idx="64">
                  <c:v>51.13</c:v>
                </c:pt>
                <c:pt idx="65">
                  <c:v>50.84</c:v>
                </c:pt>
                <c:pt idx="66">
                  <c:v>49.87</c:v>
                </c:pt>
                <c:pt idx="67">
                  <c:v>48.48</c:v>
                </c:pt>
                <c:pt idx="68">
                  <c:v>48.97</c:v>
                </c:pt>
                <c:pt idx="69">
                  <c:v>46.12</c:v>
                </c:pt>
                <c:pt idx="70">
                  <c:v>45.72</c:v>
                </c:pt>
                <c:pt idx="71">
                  <c:v>46.86</c:v>
                </c:pt>
                <c:pt idx="72">
                  <c:v>46.38</c:v>
                </c:pt>
                <c:pt idx="73">
                  <c:v>43.99</c:v>
                </c:pt>
                <c:pt idx="74">
                  <c:v>42.86</c:v>
                </c:pt>
                <c:pt idx="75">
                  <c:v>40.15</c:v>
                </c:pt>
                <c:pt idx="76">
                  <c:v>39.090000000000003</c:v>
                </c:pt>
                <c:pt idx="77">
                  <c:v>38.29</c:v>
                </c:pt>
                <c:pt idx="78">
                  <c:v>37.450000000000003</c:v>
                </c:pt>
                <c:pt idx="79">
                  <c:v>38.369999999999997</c:v>
                </c:pt>
                <c:pt idx="80">
                  <c:v>37.299999999999997</c:v>
                </c:pt>
                <c:pt idx="81">
                  <c:v>36.22</c:v>
                </c:pt>
                <c:pt idx="82">
                  <c:v>38.5</c:v>
                </c:pt>
                <c:pt idx="83">
                  <c:v>39.229999999999997</c:v>
                </c:pt>
                <c:pt idx="84">
                  <c:v>39.9</c:v>
                </c:pt>
                <c:pt idx="85">
                  <c:v>40.4</c:v>
                </c:pt>
                <c:pt idx="86">
                  <c:v>39.03</c:v>
                </c:pt>
                <c:pt idx="87">
                  <c:v>39.06</c:v>
                </c:pt>
                <c:pt idx="88">
                  <c:v>38.81</c:v>
                </c:pt>
                <c:pt idx="89">
                  <c:v>39.61</c:v>
                </c:pt>
                <c:pt idx="90">
                  <c:v>40.36</c:v>
                </c:pt>
                <c:pt idx="91">
                  <c:v>42.33</c:v>
                </c:pt>
                <c:pt idx="92">
                  <c:v>43.53</c:v>
                </c:pt>
                <c:pt idx="93">
                  <c:v>44.21</c:v>
                </c:pt>
                <c:pt idx="94">
                  <c:v>45.51</c:v>
                </c:pt>
                <c:pt idx="95">
                  <c:v>47.28</c:v>
                </c:pt>
                <c:pt idx="96">
                  <c:v>48.7</c:v>
                </c:pt>
                <c:pt idx="97">
                  <c:v>49.06</c:v>
                </c:pt>
                <c:pt idx="98">
                  <c:v>49.56</c:v>
                </c:pt>
                <c:pt idx="99">
                  <c:v>50.65</c:v>
                </c:pt>
                <c:pt idx="100">
                  <c:v>52.44</c:v>
                </c:pt>
                <c:pt idx="101">
                  <c:v>53.1</c:v>
                </c:pt>
                <c:pt idx="102">
                  <c:v>52.77</c:v>
                </c:pt>
                <c:pt idx="103">
                  <c:v>55.54</c:v>
                </c:pt>
                <c:pt idx="104">
                  <c:v>56.23</c:v>
                </c:pt>
                <c:pt idx="105">
                  <c:v>54.53</c:v>
                </c:pt>
                <c:pt idx="106">
                  <c:v>55.35</c:v>
                </c:pt>
                <c:pt idx="107">
                  <c:v>56.98</c:v>
                </c:pt>
                <c:pt idx="108">
                  <c:v>57.39</c:v>
                </c:pt>
                <c:pt idx="109">
                  <c:v>59.25</c:v>
                </c:pt>
                <c:pt idx="110">
                  <c:v>58.6</c:v>
                </c:pt>
                <c:pt idx="111">
                  <c:v>57.79</c:v>
                </c:pt>
                <c:pt idx="112">
                  <c:v>56.97</c:v>
                </c:pt>
                <c:pt idx="113">
                  <c:v>56.52</c:v>
                </c:pt>
                <c:pt idx="114">
                  <c:v>56.06</c:v>
                </c:pt>
                <c:pt idx="115">
                  <c:v>55.13</c:v>
                </c:pt>
                <c:pt idx="116">
                  <c:v>54.76</c:v>
                </c:pt>
                <c:pt idx="117">
                  <c:v>53.94</c:v>
                </c:pt>
                <c:pt idx="118">
                  <c:v>52.25</c:v>
                </c:pt>
                <c:pt idx="119">
                  <c:v>52.66</c:v>
                </c:pt>
                <c:pt idx="120">
                  <c:v>53.36</c:v>
                </c:pt>
                <c:pt idx="121">
                  <c:v>52.82</c:v>
                </c:pt>
                <c:pt idx="122">
                  <c:v>52.62</c:v>
                </c:pt>
                <c:pt idx="123">
                  <c:v>52.61</c:v>
                </c:pt>
                <c:pt idx="124">
                  <c:v>52.19</c:v>
                </c:pt>
                <c:pt idx="125">
                  <c:v>51.79</c:v>
                </c:pt>
                <c:pt idx="126">
                  <c:v>52.26</c:v>
                </c:pt>
                <c:pt idx="127">
                  <c:v>52.39</c:v>
                </c:pt>
                <c:pt idx="128">
                  <c:v>53.16</c:v>
                </c:pt>
                <c:pt idx="129">
                  <c:v>53.11</c:v>
                </c:pt>
                <c:pt idx="130">
                  <c:v>54.22</c:v>
                </c:pt>
                <c:pt idx="131">
                  <c:v>56.82</c:v>
                </c:pt>
                <c:pt idx="132">
                  <c:v>57.08</c:v>
                </c:pt>
                <c:pt idx="133">
                  <c:v>58.31</c:v>
                </c:pt>
                <c:pt idx="134">
                  <c:v>58.98</c:v>
                </c:pt>
                <c:pt idx="135">
                  <c:v>59.4</c:v>
                </c:pt>
                <c:pt idx="136">
                  <c:v>58.44</c:v>
                </c:pt>
                <c:pt idx="137">
                  <c:v>58.79</c:v>
                </c:pt>
                <c:pt idx="138">
                  <c:v>58.66</c:v>
                </c:pt>
                <c:pt idx="139">
                  <c:v>59.16</c:v>
                </c:pt>
                <c:pt idx="140">
                  <c:v>61.08</c:v>
                </c:pt>
                <c:pt idx="141">
                  <c:v>60.5</c:v>
                </c:pt>
                <c:pt idx="142">
                  <c:v>61.23</c:v>
                </c:pt>
                <c:pt idx="143">
                  <c:v>62.12</c:v>
                </c:pt>
                <c:pt idx="144">
                  <c:v>61.72</c:v>
                </c:pt>
                <c:pt idx="145">
                  <c:v>62.98</c:v>
                </c:pt>
                <c:pt idx="146">
                  <c:v>62.19</c:v>
                </c:pt>
                <c:pt idx="147">
                  <c:v>61.93</c:v>
                </c:pt>
                <c:pt idx="148">
                  <c:v>60.3</c:v>
                </c:pt>
                <c:pt idx="149">
                  <c:v>61.74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38A-4F7B-BC8B-099A17C3E2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0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24"/>
        <c:tickMarkSkip val="24"/>
        <c:noMultiLvlLbl val="0"/>
      </c:catAx>
      <c:valAx>
        <c:axId val="2140495176"/>
        <c:scaling>
          <c:orientation val="minMax"/>
          <c:max val="80"/>
          <c:min val="30"/>
        </c:scaling>
        <c:delete val="0"/>
        <c:axPos val="l"/>
        <c:majorGridlines>
          <c:spPr>
            <a:ln w="9525">
              <a:solidFill>
                <a:srgbClr val="DDDDD8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crossAx val="2118791784"/>
        <c:crosses val="autoZero"/>
        <c:crossBetween val="between"/>
        <c:majorUnit val="10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6B6B6B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Inadimplência PF</c:v>
                </c:pt>
              </c:strCache>
            </c:strRef>
          </c:tx>
          <c:spPr>
            <a:ln w="28575">
              <a:solidFill>
                <a:srgbClr val="C62828"/>
              </a:solidFill>
            </a:ln>
          </c:spPr>
          <c:marker>
            <c:symbol val="none"/>
          </c:marker>
          <c:dLbls>
            <c:dLbl>
              <c:idx val="149"/>
              <c:numFmt formatCode="0.0" sourceLinked="0"/>
              <c:spPr/>
              <c:txPr>
                <a:bodyPr/>
                <a:lstStyle/>
                <a:p>
                  <a:pPr>
                    <a:defRPr sz="1200" b="1">
                      <a:solidFill>
                        <a:srgbClr val="C62828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C1F-4029-8D2F-05E4398197A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Sheet1!$A$2:$A$151</c:f>
              <c:strCache>
                <c:ptCount val="150"/>
                <c:pt idx="0">
                  <c:v>mar/14</c:v>
                </c:pt>
                <c:pt idx="1">
                  <c:v>abr/14</c:v>
                </c:pt>
                <c:pt idx="2">
                  <c:v>mai/14</c:v>
                </c:pt>
                <c:pt idx="3">
                  <c:v>jun/14</c:v>
                </c:pt>
                <c:pt idx="4">
                  <c:v>jul/14</c:v>
                </c:pt>
                <c:pt idx="5">
                  <c:v>ago/14</c:v>
                </c:pt>
                <c:pt idx="6">
                  <c:v>set/14</c:v>
                </c:pt>
                <c:pt idx="7">
                  <c:v>out/14</c:v>
                </c:pt>
                <c:pt idx="8">
                  <c:v>nov/14</c:v>
                </c:pt>
                <c:pt idx="9">
                  <c:v>dez/14</c:v>
                </c:pt>
                <c:pt idx="10">
                  <c:v>jan/15</c:v>
                </c:pt>
                <c:pt idx="11">
                  <c:v>fev/15</c:v>
                </c:pt>
                <c:pt idx="12">
                  <c:v>mar/15</c:v>
                </c:pt>
                <c:pt idx="13">
                  <c:v>abr/15</c:v>
                </c:pt>
                <c:pt idx="14">
                  <c:v>mai/15</c:v>
                </c:pt>
                <c:pt idx="15">
                  <c:v>jun/15</c:v>
                </c:pt>
                <c:pt idx="16">
                  <c:v>jul/15</c:v>
                </c:pt>
                <c:pt idx="17">
                  <c:v>ago/15</c:v>
                </c:pt>
                <c:pt idx="18">
                  <c:v>set/15</c:v>
                </c:pt>
                <c:pt idx="19">
                  <c:v>out/15</c:v>
                </c:pt>
                <c:pt idx="20">
                  <c:v>nov/15</c:v>
                </c:pt>
                <c:pt idx="21">
                  <c:v>dez/15</c:v>
                </c:pt>
                <c:pt idx="22">
                  <c:v>jan/16</c:v>
                </c:pt>
                <c:pt idx="23">
                  <c:v>fev/16</c:v>
                </c:pt>
                <c:pt idx="24">
                  <c:v>mar/16</c:v>
                </c:pt>
                <c:pt idx="25">
                  <c:v>abr/16</c:v>
                </c:pt>
                <c:pt idx="26">
                  <c:v>mai/16</c:v>
                </c:pt>
                <c:pt idx="27">
                  <c:v>jun/16</c:v>
                </c:pt>
                <c:pt idx="28">
                  <c:v>jul/16</c:v>
                </c:pt>
                <c:pt idx="29">
                  <c:v>ago/16</c:v>
                </c:pt>
                <c:pt idx="30">
                  <c:v>set/16</c:v>
                </c:pt>
                <c:pt idx="31">
                  <c:v>out/16</c:v>
                </c:pt>
                <c:pt idx="32">
                  <c:v>nov/16</c:v>
                </c:pt>
                <c:pt idx="33">
                  <c:v>dez/16</c:v>
                </c:pt>
                <c:pt idx="34">
                  <c:v>jan/17</c:v>
                </c:pt>
                <c:pt idx="35">
                  <c:v>fev/17</c:v>
                </c:pt>
                <c:pt idx="36">
                  <c:v>mar/17</c:v>
                </c:pt>
                <c:pt idx="37">
                  <c:v>abr/17</c:v>
                </c:pt>
                <c:pt idx="38">
                  <c:v>mai/17</c:v>
                </c:pt>
                <c:pt idx="39">
                  <c:v>jun/17</c:v>
                </c:pt>
                <c:pt idx="40">
                  <c:v>jul/17</c:v>
                </c:pt>
                <c:pt idx="41">
                  <c:v>ago/17</c:v>
                </c:pt>
                <c:pt idx="42">
                  <c:v>set/17</c:v>
                </c:pt>
                <c:pt idx="43">
                  <c:v>out/17</c:v>
                </c:pt>
                <c:pt idx="44">
                  <c:v>nov/17</c:v>
                </c:pt>
                <c:pt idx="45">
                  <c:v>dez/17</c:v>
                </c:pt>
                <c:pt idx="46">
                  <c:v>jan/18</c:v>
                </c:pt>
                <c:pt idx="47">
                  <c:v>fev/18</c:v>
                </c:pt>
                <c:pt idx="48">
                  <c:v>mar/18</c:v>
                </c:pt>
                <c:pt idx="49">
                  <c:v>abr/18</c:v>
                </c:pt>
                <c:pt idx="50">
                  <c:v>mai/18</c:v>
                </c:pt>
                <c:pt idx="51">
                  <c:v>jun/18</c:v>
                </c:pt>
                <c:pt idx="52">
                  <c:v>jul/18</c:v>
                </c:pt>
                <c:pt idx="53">
                  <c:v>ago/18</c:v>
                </c:pt>
                <c:pt idx="54">
                  <c:v>set/18</c:v>
                </c:pt>
                <c:pt idx="55">
                  <c:v>out/18</c:v>
                </c:pt>
                <c:pt idx="56">
                  <c:v>nov/18</c:v>
                </c:pt>
                <c:pt idx="57">
                  <c:v>dez/18</c:v>
                </c:pt>
                <c:pt idx="58">
                  <c:v>jan/19</c:v>
                </c:pt>
                <c:pt idx="59">
                  <c:v>fev/19</c:v>
                </c:pt>
                <c:pt idx="60">
                  <c:v>mar/19</c:v>
                </c:pt>
                <c:pt idx="61">
                  <c:v>abr/19</c:v>
                </c:pt>
                <c:pt idx="62">
                  <c:v>mai/19</c:v>
                </c:pt>
                <c:pt idx="63">
                  <c:v>jun/19</c:v>
                </c:pt>
                <c:pt idx="64">
                  <c:v>jul/19</c:v>
                </c:pt>
                <c:pt idx="65">
                  <c:v>ago/19</c:v>
                </c:pt>
                <c:pt idx="66">
                  <c:v>set/19</c:v>
                </c:pt>
                <c:pt idx="67">
                  <c:v>out/19</c:v>
                </c:pt>
                <c:pt idx="68">
                  <c:v>nov/19</c:v>
                </c:pt>
                <c:pt idx="69">
                  <c:v>dez/19</c:v>
                </c:pt>
                <c:pt idx="70">
                  <c:v>jan/20</c:v>
                </c:pt>
                <c:pt idx="71">
                  <c:v>fev/20</c:v>
                </c:pt>
                <c:pt idx="72">
                  <c:v>mar/20</c:v>
                </c:pt>
                <c:pt idx="73">
                  <c:v>abr/20</c:v>
                </c:pt>
                <c:pt idx="74">
                  <c:v>mai/20</c:v>
                </c:pt>
                <c:pt idx="75">
                  <c:v>jun/20</c:v>
                </c:pt>
                <c:pt idx="76">
                  <c:v>jul/20</c:v>
                </c:pt>
                <c:pt idx="77">
                  <c:v>ago/20</c:v>
                </c:pt>
                <c:pt idx="78">
                  <c:v>set/20</c:v>
                </c:pt>
                <c:pt idx="79">
                  <c:v>out/20</c:v>
                </c:pt>
                <c:pt idx="80">
                  <c:v>nov/20</c:v>
                </c:pt>
                <c:pt idx="81">
                  <c:v>dez/20</c:v>
                </c:pt>
                <c:pt idx="82">
                  <c:v>jan/21</c:v>
                </c:pt>
                <c:pt idx="83">
                  <c:v>fev/21</c:v>
                </c:pt>
                <c:pt idx="84">
                  <c:v>mar/21</c:v>
                </c:pt>
                <c:pt idx="85">
                  <c:v>abr/21</c:v>
                </c:pt>
                <c:pt idx="86">
                  <c:v>mai/21</c:v>
                </c:pt>
                <c:pt idx="87">
                  <c:v>jun/21</c:v>
                </c:pt>
                <c:pt idx="88">
                  <c:v>jul/21</c:v>
                </c:pt>
                <c:pt idx="89">
                  <c:v>ago/21</c:v>
                </c:pt>
                <c:pt idx="90">
                  <c:v>set/21</c:v>
                </c:pt>
                <c:pt idx="91">
                  <c:v>out/21</c:v>
                </c:pt>
                <c:pt idx="92">
                  <c:v>nov/21</c:v>
                </c:pt>
                <c:pt idx="93">
                  <c:v>dez/21</c:v>
                </c:pt>
                <c:pt idx="94">
                  <c:v>jan/22</c:v>
                </c:pt>
                <c:pt idx="95">
                  <c:v>fev/22</c:v>
                </c:pt>
                <c:pt idx="96">
                  <c:v>mar/22</c:v>
                </c:pt>
                <c:pt idx="97">
                  <c:v>abr/22</c:v>
                </c:pt>
                <c:pt idx="98">
                  <c:v>mai/22</c:v>
                </c:pt>
                <c:pt idx="99">
                  <c:v>jun/22</c:v>
                </c:pt>
                <c:pt idx="100">
                  <c:v>jul/22</c:v>
                </c:pt>
                <c:pt idx="101">
                  <c:v>ago/22</c:v>
                </c:pt>
                <c:pt idx="102">
                  <c:v>set/22</c:v>
                </c:pt>
                <c:pt idx="103">
                  <c:v>out/22</c:v>
                </c:pt>
                <c:pt idx="104">
                  <c:v>nov/22</c:v>
                </c:pt>
                <c:pt idx="105">
                  <c:v>dez/22</c:v>
                </c:pt>
                <c:pt idx="106">
                  <c:v>jan/23</c:v>
                </c:pt>
                <c:pt idx="107">
                  <c:v>fev/23</c:v>
                </c:pt>
                <c:pt idx="108">
                  <c:v>mar/23</c:v>
                </c:pt>
                <c:pt idx="109">
                  <c:v>abr/23</c:v>
                </c:pt>
                <c:pt idx="110">
                  <c:v>mai/23</c:v>
                </c:pt>
                <c:pt idx="111">
                  <c:v>jun/23</c:v>
                </c:pt>
                <c:pt idx="112">
                  <c:v>jul/23</c:v>
                </c:pt>
                <c:pt idx="113">
                  <c:v>ago/23</c:v>
                </c:pt>
                <c:pt idx="114">
                  <c:v>set/23</c:v>
                </c:pt>
                <c:pt idx="115">
                  <c:v>out/23</c:v>
                </c:pt>
                <c:pt idx="116">
                  <c:v>nov/23</c:v>
                </c:pt>
                <c:pt idx="117">
                  <c:v>dez/23</c:v>
                </c:pt>
                <c:pt idx="118">
                  <c:v>jan/24</c:v>
                </c:pt>
                <c:pt idx="119">
                  <c:v>fev/24</c:v>
                </c:pt>
                <c:pt idx="120">
                  <c:v>mar/24</c:v>
                </c:pt>
                <c:pt idx="121">
                  <c:v>abr/24</c:v>
                </c:pt>
                <c:pt idx="122">
                  <c:v>mai/24</c:v>
                </c:pt>
                <c:pt idx="123">
                  <c:v>jun/24</c:v>
                </c:pt>
                <c:pt idx="124">
                  <c:v>jul/24</c:v>
                </c:pt>
                <c:pt idx="125">
                  <c:v>ago/24</c:v>
                </c:pt>
                <c:pt idx="126">
                  <c:v>set/24</c:v>
                </c:pt>
                <c:pt idx="127">
                  <c:v>out/24</c:v>
                </c:pt>
                <c:pt idx="128">
                  <c:v>nov/24</c:v>
                </c:pt>
                <c:pt idx="129">
                  <c:v>dez/24</c:v>
                </c:pt>
                <c:pt idx="130">
                  <c:v>jan/25</c:v>
                </c:pt>
                <c:pt idx="131">
                  <c:v>fev/25</c:v>
                </c:pt>
                <c:pt idx="132">
                  <c:v>mar/25</c:v>
                </c:pt>
                <c:pt idx="133">
                  <c:v>abr/25</c:v>
                </c:pt>
                <c:pt idx="134">
                  <c:v>mai/25</c:v>
                </c:pt>
                <c:pt idx="135">
                  <c:v>jun/25</c:v>
                </c:pt>
                <c:pt idx="136">
                  <c:v>jul/25</c:v>
                </c:pt>
                <c:pt idx="137">
                  <c:v>ago/25</c:v>
                </c:pt>
                <c:pt idx="138">
                  <c:v>set/25</c:v>
                </c:pt>
                <c:pt idx="139">
                  <c:v>out/25</c:v>
                </c:pt>
                <c:pt idx="140">
                  <c:v>nov/25</c:v>
                </c:pt>
                <c:pt idx="141">
                  <c:v>dez/25</c:v>
                </c:pt>
                <c:pt idx="142">
                  <c:v>jan/26</c:v>
                </c:pt>
                <c:pt idx="143">
                  <c:v>fev/26</c:v>
                </c:pt>
                <c:pt idx="144">
                  <c:v>mar/26</c:v>
                </c:pt>
                <c:pt idx="145">
                  <c:v>abr/26</c:v>
                </c:pt>
                <c:pt idx="146">
                  <c:v>mai/26</c:v>
                </c:pt>
                <c:pt idx="147">
                  <c:v>jun/26</c:v>
                </c:pt>
                <c:pt idx="148">
                  <c:v>jul/26</c:v>
                </c:pt>
                <c:pt idx="149">
                  <c:v>ago/26</c:v>
                </c:pt>
              </c:strCache>
            </c:strRef>
          </c:cat>
          <c:val>
            <c:numRef>
              <c:f>Sheet1!$B$2:$B$151</c:f>
              <c:numCache>
                <c:formatCode>0.0</c:formatCode>
                <c:ptCount val="150"/>
                <c:pt idx="0">
                  <c:v>5.63</c:v>
                </c:pt>
                <c:pt idx="1">
                  <c:v>5.66</c:v>
                </c:pt>
                <c:pt idx="2">
                  <c:v>5.8</c:v>
                </c:pt>
                <c:pt idx="3">
                  <c:v>5.67</c:v>
                </c:pt>
                <c:pt idx="4">
                  <c:v>5.75</c:v>
                </c:pt>
                <c:pt idx="5">
                  <c:v>5.75</c:v>
                </c:pt>
                <c:pt idx="6">
                  <c:v>5.73</c:v>
                </c:pt>
                <c:pt idx="7">
                  <c:v>5.67</c:v>
                </c:pt>
                <c:pt idx="8">
                  <c:v>5.51</c:v>
                </c:pt>
                <c:pt idx="9">
                  <c:v>5.36</c:v>
                </c:pt>
                <c:pt idx="10">
                  <c:v>5.38</c:v>
                </c:pt>
                <c:pt idx="11">
                  <c:v>5.4</c:v>
                </c:pt>
                <c:pt idx="12">
                  <c:v>5.22</c:v>
                </c:pt>
                <c:pt idx="13">
                  <c:v>5.33</c:v>
                </c:pt>
                <c:pt idx="14">
                  <c:v>5.5</c:v>
                </c:pt>
                <c:pt idx="15">
                  <c:v>5.36</c:v>
                </c:pt>
                <c:pt idx="16">
                  <c:v>5.51</c:v>
                </c:pt>
                <c:pt idx="17">
                  <c:v>5.67</c:v>
                </c:pt>
                <c:pt idx="18">
                  <c:v>5.81</c:v>
                </c:pt>
                <c:pt idx="19">
                  <c:v>5.84</c:v>
                </c:pt>
                <c:pt idx="20">
                  <c:v>6.03</c:v>
                </c:pt>
                <c:pt idx="21">
                  <c:v>6.24</c:v>
                </c:pt>
                <c:pt idx="22">
                  <c:v>6.32</c:v>
                </c:pt>
                <c:pt idx="23">
                  <c:v>6.27</c:v>
                </c:pt>
                <c:pt idx="24">
                  <c:v>6.24</c:v>
                </c:pt>
                <c:pt idx="25">
                  <c:v>6.33</c:v>
                </c:pt>
                <c:pt idx="26">
                  <c:v>6.4</c:v>
                </c:pt>
                <c:pt idx="27">
                  <c:v>6.23</c:v>
                </c:pt>
                <c:pt idx="28">
                  <c:v>6.28</c:v>
                </c:pt>
                <c:pt idx="29">
                  <c:v>6.29</c:v>
                </c:pt>
                <c:pt idx="30">
                  <c:v>6.31</c:v>
                </c:pt>
                <c:pt idx="31">
                  <c:v>6.24</c:v>
                </c:pt>
                <c:pt idx="32">
                  <c:v>6.16</c:v>
                </c:pt>
                <c:pt idx="33">
                  <c:v>6.13</c:v>
                </c:pt>
                <c:pt idx="34">
                  <c:v>6.09</c:v>
                </c:pt>
                <c:pt idx="35">
                  <c:v>6</c:v>
                </c:pt>
                <c:pt idx="36">
                  <c:v>5.97</c:v>
                </c:pt>
                <c:pt idx="37">
                  <c:v>5.94</c:v>
                </c:pt>
                <c:pt idx="38">
                  <c:v>6.02</c:v>
                </c:pt>
                <c:pt idx="39">
                  <c:v>5.84</c:v>
                </c:pt>
                <c:pt idx="40">
                  <c:v>5.81</c:v>
                </c:pt>
                <c:pt idx="41">
                  <c:v>5.81</c:v>
                </c:pt>
                <c:pt idx="42">
                  <c:v>5.7</c:v>
                </c:pt>
                <c:pt idx="43">
                  <c:v>5.64</c:v>
                </c:pt>
                <c:pt idx="44">
                  <c:v>5.48</c:v>
                </c:pt>
                <c:pt idx="45">
                  <c:v>5.31</c:v>
                </c:pt>
                <c:pt idx="46">
                  <c:v>5.34</c:v>
                </c:pt>
                <c:pt idx="47">
                  <c:v>5.23</c:v>
                </c:pt>
                <c:pt idx="48">
                  <c:v>5.17</c:v>
                </c:pt>
                <c:pt idx="49">
                  <c:v>5.16</c:v>
                </c:pt>
                <c:pt idx="50">
                  <c:v>5.12</c:v>
                </c:pt>
                <c:pt idx="51">
                  <c:v>5.04</c:v>
                </c:pt>
                <c:pt idx="52">
                  <c:v>5.0999999999999996</c:v>
                </c:pt>
                <c:pt idx="53">
                  <c:v>5.07</c:v>
                </c:pt>
                <c:pt idx="54">
                  <c:v>5.05</c:v>
                </c:pt>
                <c:pt idx="55">
                  <c:v>5.01</c:v>
                </c:pt>
                <c:pt idx="56">
                  <c:v>4.8499999999999996</c:v>
                </c:pt>
                <c:pt idx="57">
                  <c:v>4.88</c:v>
                </c:pt>
                <c:pt idx="58">
                  <c:v>4.8899999999999997</c:v>
                </c:pt>
                <c:pt idx="59">
                  <c:v>4.78</c:v>
                </c:pt>
                <c:pt idx="60">
                  <c:v>4.8099999999999996</c:v>
                </c:pt>
                <c:pt idx="61">
                  <c:v>4.8099999999999996</c:v>
                </c:pt>
                <c:pt idx="62">
                  <c:v>4.8899999999999997</c:v>
                </c:pt>
                <c:pt idx="63">
                  <c:v>4.87</c:v>
                </c:pt>
                <c:pt idx="64">
                  <c:v>4.92</c:v>
                </c:pt>
                <c:pt idx="65">
                  <c:v>4.95</c:v>
                </c:pt>
                <c:pt idx="66">
                  <c:v>5.07</c:v>
                </c:pt>
                <c:pt idx="67">
                  <c:v>5.07</c:v>
                </c:pt>
                <c:pt idx="68">
                  <c:v>5.0599999999999996</c:v>
                </c:pt>
                <c:pt idx="69">
                  <c:v>5.0999999999999996</c:v>
                </c:pt>
                <c:pt idx="70">
                  <c:v>5.05</c:v>
                </c:pt>
                <c:pt idx="71">
                  <c:v>5.17</c:v>
                </c:pt>
                <c:pt idx="72">
                  <c:v>5.29</c:v>
                </c:pt>
                <c:pt idx="73">
                  <c:v>5.6</c:v>
                </c:pt>
                <c:pt idx="74">
                  <c:v>5.69</c:v>
                </c:pt>
                <c:pt idx="75">
                  <c:v>5.39</c:v>
                </c:pt>
                <c:pt idx="76">
                  <c:v>5.2</c:v>
                </c:pt>
                <c:pt idx="77">
                  <c:v>4.95</c:v>
                </c:pt>
                <c:pt idx="78">
                  <c:v>4.7300000000000004</c:v>
                </c:pt>
                <c:pt idx="79">
                  <c:v>4.59</c:v>
                </c:pt>
                <c:pt idx="80">
                  <c:v>4.3600000000000003</c:v>
                </c:pt>
                <c:pt idx="81">
                  <c:v>4.2300000000000004</c:v>
                </c:pt>
                <c:pt idx="82">
                  <c:v>4.2</c:v>
                </c:pt>
                <c:pt idx="83">
                  <c:v>4.13</c:v>
                </c:pt>
                <c:pt idx="84">
                  <c:v>4.09</c:v>
                </c:pt>
                <c:pt idx="85">
                  <c:v>4.0999999999999996</c:v>
                </c:pt>
                <c:pt idx="86">
                  <c:v>4.17</c:v>
                </c:pt>
                <c:pt idx="87">
                  <c:v>4.0999999999999996</c:v>
                </c:pt>
                <c:pt idx="88">
                  <c:v>4.16</c:v>
                </c:pt>
                <c:pt idx="89">
                  <c:v>4.2</c:v>
                </c:pt>
                <c:pt idx="90">
                  <c:v>4.29</c:v>
                </c:pt>
                <c:pt idx="91">
                  <c:v>4.3099999999999996</c:v>
                </c:pt>
                <c:pt idx="92">
                  <c:v>4.34</c:v>
                </c:pt>
                <c:pt idx="93">
                  <c:v>4.45</c:v>
                </c:pt>
                <c:pt idx="94">
                  <c:v>4.72</c:v>
                </c:pt>
                <c:pt idx="95">
                  <c:v>4.8099999999999996</c:v>
                </c:pt>
                <c:pt idx="96">
                  <c:v>4.9400000000000004</c:v>
                </c:pt>
                <c:pt idx="97">
                  <c:v>5.13</c:v>
                </c:pt>
                <c:pt idx="98">
                  <c:v>5.35</c:v>
                </c:pt>
                <c:pt idx="99">
                  <c:v>5.34</c:v>
                </c:pt>
                <c:pt idx="100">
                  <c:v>5.56</c:v>
                </c:pt>
                <c:pt idx="101">
                  <c:v>5.72</c:v>
                </c:pt>
                <c:pt idx="102">
                  <c:v>5.8</c:v>
                </c:pt>
                <c:pt idx="103">
                  <c:v>5.91</c:v>
                </c:pt>
                <c:pt idx="104">
                  <c:v>5.92</c:v>
                </c:pt>
                <c:pt idx="105">
                  <c:v>6.02</c:v>
                </c:pt>
                <c:pt idx="106">
                  <c:v>6.22</c:v>
                </c:pt>
                <c:pt idx="107">
                  <c:v>6.25</c:v>
                </c:pt>
                <c:pt idx="108">
                  <c:v>6.19</c:v>
                </c:pt>
                <c:pt idx="109">
                  <c:v>6.35</c:v>
                </c:pt>
                <c:pt idx="110">
                  <c:v>6.47</c:v>
                </c:pt>
                <c:pt idx="111">
                  <c:v>6.42</c:v>
                </c:pt>
                <c:pt idx="112">
                  <c:v>6.31</c:v>
                </c:pt>
                <c:pt idx="113">
                  <c:v>6.2</c:v>
                </c:pt>
                <c:pt idx="114">
                  <c:v>6.07</c:v>
                </c:pt>
                <c:pt idx="115">
                  <c:v>6.05</c:v>
                </c:pt>
                <c:pt idx="116">
                  <c:v>5.91</c:v>
                </c:pt>
                <c:pt idx="117">
                  <c:v>5.73</c:v>
                </c:pt>
                <c:pt idx="118">
                  <c:v>5.7</c:v>
                </c:pt>
                <c:pt idx="119">
                  <c:v>5.66</c:v>
                </c:pt>
                <c:pt idx="120">
                  <c:v>5.58</c:v>
                </c:pt>
                <c:pt idx="121">
                  <c:v>5.63</c:v>
                </c:pt>
                <c:pt idx="122">
                  <c:v>5.72</c:v>
                </c:pt>
                <c:pt idx="123">
                  <c:v>5.59</c:v>
                </c:pt>
                <c:pt idx="124">
                  <c:v>5.65</c:v>
                </c:pt>
                <c:pt idx="125">
                  <c:v>5.65</c:v>
                </c:pt>
                <c:pt idx="126">
                  <c:v>5.69</c:v>
                </c:pt>
                <c:pt idx="127">
                  <c:v>5.59</c:v>
                </c:pt>
                <c:pt idx="128">
                  <c:v>5.47</c:v>
                </c:pt>
                <c:pt idx="129">
                  <c:v>5.4</c:v>
                </c:pt>
                <c:pt idx="130">
                  <c:v>5.74</c:v>
                </c:pt>
                <c:pt idx="131">
                  <c:v>5.81</c:v>
                </c:pt>
                <c:pt idx="132">
                  <c:v>5.91</c:v>
                </c:pt>
                <c:pt idx="133">
                  <c:v>6.21</c:v>
                </c:pt>
                <c:pt idx="134">
                  <c:v>6.38</c:v>
                </c:pt>
                <c:pt idx="135">
                  <c:v>6.5</c:v>
                </c:pt>
                <c:pt idx="136">
                  <c:v>6.73</c:v>
                </c:pt>
                <c:pt idx="137">
                  <c:v>6.97</c:v>
                </c:pt>
                <c:pt idx="138">
                  <c:v>6.89</c:v>
                </c:pt>
                <c:pt idx="139">
                  <c:v>6.86</c:v>
                </c:pt>
                <c:pt idx="140">
                  <c:v>6.94</c:v>
                </c:pt>
                <c:pt idx="141">
                  <c:v>7.06</c:v>
                </c:pt>
                <c:pt idx="142">
                  <c:v>7.17</c:v>
                </c:pt>
                <c:pt idx="143">
                  <c:v>7.42</c:v>
                </c:pt>
                <c:pt idx="144">
                  <c:v>7.25</c:v>
                </c:pt>
                <c:pt idx="145">
                  <c:v>7.37</c:v>
                </c:pt>
                <c:pt idx="146">
                  <c:v>7.56</c:v>
                </c:pt>
                <c:pt idx="147">
                  <c:v>7.37</c:v>
                </c:pt>
                <c:pt idx="148">
                  <c:v>7.78</c:v>
                </c:pt>
                <c:pt idx="149">
                  <c:v>8.01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C1F-4029-8D2F-05E4398197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0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24"/>
        <c:tickMarkSkip val="24"/>
        <c:noMultiLvlLbl val="0"/>
      </c:catAx>
      <c:valAx>
        <c:axId val="2140495176"/>
        <c:scaling>
          <c:orientation val="minMax"/>
          <c:max val="10"/>
          <c:min val="0"/>
        </c:scaling>
        <c:delete val="0"/>
        <c:axPos val="l"/>
        <c:majorGridlines>
          <c:spPr>
            <a:ln w="9525">
              <a:solidFill>
                <a:srgbClr val="DDDDD8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crossAx val="2118791784"/>
        <c:crosses val="autoZero"/>
        <c:crossBetween val="between"/>
        <c:majorUnit val="2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6B6B6B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Governo (PLOA 2027)</c:v>
                </c:pt>
              </c:strCache>
            </c:strRef>
          </c:tx>
          <c:spPr>
            <a:solidFill>
              <a:srgbClr val="1A6FE0"/>
            </a:solidFill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rgbClr val="3C3C3C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Resultado primário</c:v>
                </c:pt>
                <c:pt idx="1">
                  <c:v>Resultado para a meta
(com exclusões)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19</c:v>
                </c:pt>
                <c:pt idx="1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81-4884-9677-035CAE17717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Mercado (mediana)</c:v>
                </c:pt>
              </c:strCache>
            </c:strRef>
          </c:tx>
          <c:spPr>
            <a:solidFill>
              <a:srgbClr val="F28C00"/>
            </a:solidFill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rgbClr val="3C3C3C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Resultado primário</c:v>
                </c:pt>
                <c:pt idx="1">
                  <c:v>Resultado para a meta
(com exclusões)</c:v>
                </c:pt>
              </c:strCache>
            </c:strRef>
          </c:cat>
          <c:val>
            <c:numRef>
              <c:f>Sheet1!$C$2:$C$3</c:f>
              <c:numCache>
                <c:formatCode>0.0</c:formatCode>
                <c:ptCount val="2"/>
                <c:pt idx="0">
                  <c:v>-54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81-4884-9677-035CAE17717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1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-70"/>
        </c:scaling>
        <c:delete val="0"/>
        <c:axPos val="l"/>
        <c:majorGridlines>
          <c:spPr>
            <a:ln w="9525">
              <a:solidFill>
                <a:srgbClr val="DDDDD8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  <c:crossBetween val="between"/>
        <c:majorUnit val="20"/>
      </c:valAx>
    </c:plotArea>
    <c:legend>
      <c:legendPos val="t"/>
      <c:overlay val="0"/>
      <c:txPr>
        <a:bodyPr/>
        <a:lstStyle/>
        <a:p>
          <a:pPr>
            <a:defRPr sz="1100">
              <a:solidFill>
                <a:srgbClr val="3C3C3C"/>
              </a:solidFill>
            </a:defRPr>
          </a:pPr>
          <a:endParaRPr lang="pt-BR"/>
        </a:p>
      </c:txPr>
    </c:legend>
    <c:plotVisOnly val="1"/>
    <c:dispBlanksAs val="gap"/>
    <c:showDLblsOverMax val="1"/>
  </c:chart>
  <c:txPr>
    <a:bodyPr/>
    <a:lstStyle/>
    <a:p>
      <a:pPr>
        <a:defRPr sz="1100">
          <a:solidFill>
            <a:srgbClr val="6B6B6B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DBGG</c:v>
                </c:pt>
              </c:strCache>
            </c:strRef>
          </c:tx>
          <c:spPr>
            <a:ln w="31750">
              <a:solidFill>
                <a:srgbClr val="1A6FE0"/>
              </a:solidFill>
            </a:ln>
          </c:spPr>
          <c:marker>
            <c:symbol val="none"/>
          </c:marker>
          <c:dLbls>
            <c:dLbl>
              <c:idx val="20"/>
              <c:numFmt formatCode="0.0" sourceLinked="0"/>
              <c:spPr/>
              <c:txPr>
                <a:bodyPr/>
                <a:lstStyle/>
                <a:p>
                  <a:pPr>
                    <a:defRPr sz="1200" b="1">
                      <a:solidFill>
                        <a:srgbClr val="1A6FE0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02B-4D75-9A14-FCC66CD09F8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Sheet1!$A$2:$A$32</c:f>
              <c:strCache>
                <c:ptCount val="31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  <c:pt idx="25">
                  <c:v>2031</c:v>
                </c:pt>
                <c:pt idx="26">
                  <c:v>2032</c:v>
                </c:pt>
                <c:pt idx="27">
                  <c:v>2033</c:v>
                </c:pt>
                <c:pt idx="28">
                  <c:v>2034</c:v>
                </c:pt>
                <c:pt idx="29">
                  <c:v>2035</c:v>
                </c:pt>
                <c:pt idx="30">
                  <c:v>2036</c:v>
                </c:pt>
              </c:strCache>
            </c:strRef>
          </c:cat>
          <c:val>
            <c:numRef>
              <c:f>Sheet1!$B$2:$B$32</c:f>
              <c:numCache>
                <c:formatCode>0.0</c:formatCode>
                <c:ptCount val="31"/>
                <c:pt idx="0">
                  <c:v>55.48</c:v>
                </c:pt>
                <c:pt idx="1">
                  <c:v>56.72</c:v>
                </c:pt>
                <c:pt idx="2">
                  <c:v>55.98</c:v>
                </c:pt>
                <c:pt idx="3">
                  <c:v>59.21</c:v>
                </c:pt>
                <c:pt idx="4">
                  <c:v>51.77</c:v>
                </c:pt>
                <c:pt idx="5">
                  <c:v>51.27</c:v>
                </c:pt>
                <c:pt idx="6">
                  <c:v>53.67</c:v>
                </c:pt>
                <c:pt idx="7">
                  <c:v>51.54</c:v>
                </c:pt>
                <c:pt idx="8">
                  <c:v>56.28</c:v>
                </c:pt>
                <c:pt idx="9">
                  <c:v>65.5</c:v>
                </c:pt>
                <c:pt idx="10">
                  <c:v>69.84</c:v>
                </c:pt>
                <c:pt idx="11">
                  <c:v>73.72</c:v>
                </c:pt>
                <c:pt idx="12">
                  <c:v>75.27</c:v>
                </c:pt>
                <c:pt idx="13">
                  <c:v>74.44</c:v>
                </c:pt>
                <c:pt idx="14">
                  <c:v>86.94</c:v>
                </c:pt>
                <c:pt idx="15">
                  <c:v>77.31</c:v>
                </c:pt>
                <c:pt idx="16">
                  <c:v>71.680000000000007</c:v>
                </c:pt>
                <c:pt idx="17">
                  <c:v>73.83</c:v>
                </c:pt>
                <c:pt idx="18">
                  <c:v>76.27</c:v>
                </c:pt>
                <c:pt idx="19">
                  <c:v>78.64</c:v>
                </c:pt>
                <c:pt idx="20">
                  <c:v>82.87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2B-4D75-9A14-FCC66CD09F8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DLSP</c:v>
                </c:pt>
              </c:strCache>
            </c:strRef>
          </c:tx>
          <c:spPr>
            <a:ln w="25400">
              <a:solidFill>
                <a:srgbClr val="A6A6A6"/>
              </a:solidFill>
            </a:ln>
          </c:spPr>
          <c:marker>
            <c:symbol val="none"/>
          </c:marker>
          <c:dLbls>
            <c:dLbl>
              <c:idx val="20"/>
              <c:numFmt formatCode="0.0" sourceLinked="0"/>
              <c:spPr/>
              <c:txPr>
                <a:bodyPr/>
                <a:lstStyle/>
                <a:p>
                  <a:pPr>
                    <a:defRPr sz="1200" b="1">
                      <a:solidFill>
                        <a:srgbClr val="6B6B6B"/>
                      </a:solidFill>
                    </a:defRPr>
                  </a:pPr>
                  <a:endParaRPr lang="pt-BR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02B-4D75-9A14-FCC66CD09F8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Sheet1!$A$2:$A$32</c:f>
              <c:strCache>
                <c:ptCount val="31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  <c:pt idx="25">
                  <c:v>2031</c:v>
                </c:pt>
                <c:pt idx="26">
                  <c:v>2032</c:v>
                </c:pt>
                <c:pt idx="27">
                  <c:v>2033</c:v>
                </c:pt>
                <c:pt idx="28">
                  <c:v>2034</c:v>
                </c:pt>
                <c:pt idx="29">
                  <c:v>2035</c:v>
                </c:pt>
                <c:pt idx="30">
                  <c:v>2036</c:v>
                </c:pt>
              </c:strCache>
            </c:strRef>
          </c:cat>
          <c:val>
            <c:numRef>
              <c:f>Sheet1!$C$2:$C$32</c:f>
              <c:numCache>
                <c:formatCode>0.0</c:formatCode>
                <c:ptCount val="31"/>
                <c:pt idx="0">
                  <c:v>46.49</c:v>
                </c:pt>
                <c:pt idx="1">
                  <c:v>44.55</c:v>
                </c:pt>
                <c:pt idx="2">
                  <c:v>37.57</c:v>
                </c:pt>
                <c:pt idx="3">
                  <c:v>40.880000000000003</c:v>
                </c:pt>
                <c:pt idx="4">
                  <c:v>37.979999999999997</c:v>
                </c:pt>
                <c:pt idx="5">
                  <c:v>34.47</c:v>
                </c:pt>
                <c:pt idx="6">
                  <c:v>32.19</c:v>
                </c:pt>
                <c:pt idx="7">
                  <c:v>30.5</c:v>
                </c:pt>
                <c:pt idx="8">
                  <c:v>32.590000000000003</c:v>
                </c:pt>
                <c:pt idx="9">
                  <c:v>35.64</c:v>
                </c:pt>
                <c:pt idx="10">
                  <c:v>46.14</c:v>
                </c:pt>
                <c:pt idx="11">
                  <c:v>51.37</c:v>
                </c:pt>
                <c:pt idx="12">
                  <c:v>52.77</c:v>
                </c:pt>
                <c:pt idx="13">
                  <c:v>54.7</c:v>
                </c:pt>
                <c:pt idx="14">
                  <c:v>61.37</c:v>
                </c:pt>
                <c:pt idx="15">
                  <c:v>55.11</c:v>
                </c:pt>
                <c:pt idx="16">
                  <c:v>56.13</c:v>
                </c:pt>
                <c:pt idx="17">
                  <c:v>60.43</c:v>
                </c:pt>
                <c:pt idx="18">
                  <c:v>61.3</c:v>
                </c:pt>
                <c:pt idx="19">
                  <c:v>65.239999999999995</c:v>
                </c:pt>
                <c:pt idx="20">
                  <c:v>69.27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02B-4D75-9A14-FCC66CD09F8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DBGG – Focus</c:v>
                </c:pt>
              </c:strCache>
            </c:strRef>
          </c:tx>
          <c:spPr>
            <a:ln w="25400">
              <a:noFill/>
            </a:ln>
          </c:spPr>
          <c:marker>
            <c:symbol val="circle"/>
            <c:size val="9"/>
            <c:spPr>
              <a:solidFill>
                <a:srgbClr val="F28C00"/>
              </a:solidFill>
              <a:ln>
                <a:solidFill>
                  <a:srgbClr val="F28C00"/>
                </a:solidFill>
              </a:ln>
            </c:spPr>
          </c:marker>
          <c:dLbls>
            <c:dLbl>
              <c:idx val="24"/>
              <c:numFmt formatCode="0.0" sourceLinked="0"/>
              <c:spPr/>
              <c:txPr>
                <a:bodyPr/>
                <a:lstStyle/>
                <a:p>
                  <a:pPr>
                    <a:defRPr sz="1100" b="1">
                      <a:solidFill>
                        <a:srgbClr val="F28C00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02B-4D75-9A14-FCC66CD09F8A}"/>
                </c:ext>
              </c:extLst>
            </c:dLbl>
            <c:dLbl>
              <c:idx val="27"/>
              <c:numFmt formatCode="0.0" sourceLinked="0"/>
              <c:spPr/>
              <c:txPr>
                <a:bodyPr/>
                <a:lstStyle/>
                <a:p>
                  <a:pPr>
                    <a:defRPr sz="1100" b="1">
                      <a:solidFill>
                        <a:srgbClr val="F28C00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02B-4D75-9A14-FCC66CD09F8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Sheet1!$A$2:$A$32</c:f>
              <c:strCache>
                <c:ptCount val="31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  <c:pt idx="25">
                  <c:v>2031</c:v>
                </c:pt>
                <c:pt idx="26">
                  <c:v>2032</c:v>
                </c:pt>
                <c:pt idx="27">
                  <c:v>2033</c:v>
                </c:pt>
                <c:pt idx="28">
                  <c:v>2034</c:v>
                </c:pt>
                <c:pt idx="29">
                  <c:v>2035</c:v>
                </c:pt>
                <c:pt idx="30">
                  <c:v>2036</c:v>
                </c:pt>
              </c:strCache>
            </c:strRef>
          </c:cat>
          <c:val>
            <c:numRef>
              <c:f>Sheet1!$D$2:$D$32</c:f>
              <c:numCache>
                <c:formatCode>General</c:formatCode>
                <c:ptCount val="31"/>
                <c:pt idx="24" formatCode="0.0">
                  <c:v>95.1</c:v>
                </c:pt>
                <c:pt idx="27" formatCode="0.0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602B-4D75-9A14-FCC66CD09F8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DBGG – Tesouro (RPF)</c:v>
                </c:pt>
              </c:strCache>
            </c:strRef>
          </c:tx>
          <c:spPr>
            <a:ln w="25400">
              <a:noFill/>
            </a:ln>
          </c:spPr>
          <c:marker>
            <c:symbol val="diamond"/>
            <c:size val="9"/>
            <c:spPr>
              <a:solidFill>
                <a:srgbClr val="1A1A1A"/>
              </a:solidFill>
              <a:ln>
                <a:solidFill>
                  <a:srgbClr val="1A1A1A"/>
                </a:solidFill>
              </a:ln>
            </c:spPr>
          </c:marker>
          <c:dLbls>
            <c:dLbl>
              <c:idx val="23"/>
              <c:numFmt formatCode="0.0" sourceLinked="0"/>
              <c:spPr/>
              <c:txPr>
                <a:bodyPr/>
                <a:lstStyle/>
                <a:p>
                  <a:pPr>
                    <a:defRPr sz="1100" b="1">
                      <a:solidFill>
                        <a:srgbClr val="1A1A1A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02B-4D75-9A14-FCC66CD09F8A}"/>
                </c:ext>
              </c:extLst>
            </c:dLbl>
            <c:dLbl>
              <c:idx val="30"/>
              <c:numFmt formatCode="0.0" sourceLinked="0"/>
              <c:spPr/>
              <c:txPr>
                <a:bodyPr/>
                <a:lstStyle/>
                <a:p>
                  <a:pPr>
                    <a:defRPr sz="1100" b="1">
                      <a:solidFill>
                        <a:srgbClr val="1A1A1A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02B-4D75-9A14-FCC66CD09F8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Sheet1!$A$2:$A$32</c:f>
              <c:strCache>
                <c:ptCount val="31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  <c:pt idx="25">
                  <c:v>2031</c:v>
                </c:pt>
                <c:pt idx="26">
                  <c:v>2032</c:v>
                </c:pt>
                <c:pt idx="27">
                  <c:v>2033</c:v>
                </c:pt>
                <c:pt idx="28">
                  <c:v>2034</c:v>
                </c:pt>
                <c:pt idx="29">
                  <c:v>2035</c:v>
                </c:pt>
                <c:pt idx="30">
                  <c:v>2036</c:v>
                </c:pt>
              </c:strCache>
            </c:strRef>
          </c:cat>
          <c:val>
            <c:numRef>
              <c:f>Sheet1!$E$2:$E$32</c:f>
              <c:numCache>
                <c:formatCode>General</c:formatCode>
                <c:ptCount val="31"/>
                <c:pt idx="23" formatCode="0.0">
                  <c:v>88</c:v>
                </c:pt>
                <c:pt idx="30" formatCode="0.0">
                  <c:v>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602B-4D75-9A14-FCC66CD09F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0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3"/>
        <c:tickMarkSkip val="3"/>
        <c:noMultiLvlLbl val="0"/>
      </c:catAx>
      <c:valAx>
        <c:axId val="2140495176"/>
        <c:scaling>
          <c:orientation val="minMax"/>
          <c:max val="110"/>
          <c:min val="20"/>
        </c:scaling>
        <c:delete val="0"/>
        <c:axPos val="l"/>
        <c:majorGridlines>
          <c:spPr>
            <a:ln w="9525">
              <a:solidFill>
                <a:srgbClr val="DDDDD8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crossAx val="2118791784"/>
        <c:crosses val="autoZero"/>
        <c:crossBetween val="between"/>
        <c:majorUnit val="10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3C3C3C"/>
              </a:solidFill>
            </a:defRPr>
          </a:pPr>
          <a:endParaRPr lang="pt-BR"/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6B6B6B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ln w="38100">
              <a:solidFill>
                <a:srgbClr val="1A6FE0"/>
              </a:solidFill>
            </a:ln>
          </c:spPr>
          <c:marker>
            <c:symbol val="none"/>
          </c:marker>
          <c:dLbls>
            <c:dLbl>
              <c:idx val="34"/>
              <c:numFmt formatCode="0.0" sourceLinked="0"/>
              <c:spPr/>
              <c:txPr>
                <a:bodyPr/>
                <a:lstStyle/>
                <a:p>
                  <a:pPr>
                    <a:defRPr sz="1200" b="1">
                      <a:solidFill>
                        <a:srgbClr val="1A6FE0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E73-4537-B09E-AE6127F0161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Sheet1!$B$2:$B$36</c:f>
              <c:numCache>
                <c:formatCode>0.0</c:formatCode>
                <c:ptCount val="35"/>
                <c:pt idx="0">
                  <c:v>34.700000000000003</c:v>
                </c:pt>
                <c:pt idx="1">
                  <c:v>32.799999999999997</c:v>
                </c:pt>
                <c:pt idx="2">
                  <c:v>32.700000000000003</c:v>
                </c:pt>
                <c:pt idx="3">
                  <c:v>33.5</c:v>
                </c:pt>
                <c:pt idx="4">
                  <c:v>33.9</c:v>
                </c:pt>
                <c:pt idx="5">
                  <c:v>34.4</c:v>
                </c:pt>
                <c:pt idx="6">
                  <c:v>34</c:v>
                </c:pt>
                <c:pt idx="7">
                  <c:v>32.799999999999997</c:v>
                </c:pt>
                <c:pt idx="8">
                  <c:v>31.2</c:v>
                </c:pt>
                <c:pt idx="9">
                  <c:v>31</c:v>
                </c:pt>
                <c:pt idx="10">
                  <c:v>30.3</c:v>
                </c:pt>
                <c:pt idx="11">
                  <c:v>29.5</c:v>
                </c:pt>
                <c:pt idx="12">
                  <c:v>28.7</c:v>
                </c:pt>
                <c:pt idx="13">
                  <c:v>28.5</c:v>
                </c:pt>
                <c:pt idx="14">
                  <c:v>28.3</c:v>
                </c:pt>
                <c:pt idx="15">
                  <c:v>28.5</c:v>
                </c:pt>
                <c:pt idx="16">
                  <c:v>29.5</c:v>
                </c:pt>
                <c:pt idx="17">
                  <c:v>30.1</c:v>
                </c:pt>
                <c:pt idx="18">
                  <c:v>29.6</c:v>
                </c:pt>
                <c:pt idx="19">
                  <c:v>30.6</c:v>
                </c:pt>
                <c:pt idx="20">
                  <c:v>31.5</c:v>
                </c:pt>
                <c:pt idx="21">
                  <c:v>31.6</c:v>
                </c:pt>
                <c:pt idx="22">
                  <c:v>31.7</c:v>
                </c:pt>
                <c:pt idx="23">
                  <c:v>31.2</c:v>
                </c:pt>
                <c:pt idx="24">
                  <c:v>29.8</c:v>
                </c:pt>
                <c:pt idx="25">
                  <c:v>29.4</c:v>
                </c:pt>
                <c:pt idx="26">
                  <c:v>29.5</c:v>
                </c:pt>
                <c:pt idx="27">
                  <c:v>29.1</c:v>
                </c:pt>
                <c:pt idx="28">
                  <c:v>28.5</c:v>
                </c:pt>
                <c:pt idx="29">
                  <c:v>28.7</c:v>
                </c:pt>
                <c:pt idx="30">
                  <c:v>27.9</c:v>
                </c:pt>
                <c:pt idx="31">
                  <c:v>27.1</c:v>
                </c:pt>
                <c:pt idx="32">
                  <c:v>27.3</c:v>
                </c:pt>
                <c:pt idx="33">
                  <c:v>26.9</c:v>
                </c:pt>
                <c:pt idx="34">
                  <c:v>26.7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E73-4537-B09E-AE6127F0161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Coreia do Sul</c:v>
                </c:pt>
              </c:strCache>
            </c:strRef>
          </c:tx>
          <c:spPr>
            <a:ln w="25400">
              <a:solidFill>
                <a:srgbClr val="1A1A1A"/>
              </a:solidFill>
            </a:ln>
          </c:spPr>
          <c:marker>
            <c:symbol val="none"/>
          </c:marker>
          <c:dLbls>
            <c:dLbl>
              <c:idx val="34"/>
              <c:numFmt formatCode="0.0" sourceLinked="0"/>
              <c:spPr/>
              <c:txPr>
                <a:bodyPr/>
                <a:lstStyle/>
                <a:p>
                  <a:pPr>
                    <a:defRPr sz="1200" b="1">
                      <a:solidFill>
                        <a:srgbClr val="1A1A1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E73-4537-B09E-AE6127F0161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Sheet1!$C$2:$C$36</c:f>
              <c:numCache>
                <c:formatCode>0.0</c:formatCode>
                <c:ptCount val="35"/>
                <c:pt idx="0">
                  <c:v>39</c:v>
                </c:pt>
                <c:pt idx="1">
                  <c:v>39.6</c:v>
                </c:pt>
                <c:pt idx="2">
                  <c:v>41.4</c:v>
                </c:pt>
                <c:pt idx="3">
                  <c:v>43.2</c:v>
                </c:pt>
                <c:pt idx="4">
                  <c:v>45.9</c:v>
                </c:pt>
                <c:pt idx="5">
                  <c:v>47.6</c:v>
                </c:pt>
                <c:pt idx="6">
                  <c:v>48.7</c:v>
                </c:pt>
                <c:pt idx="7">
                  <c:v>48</c:v>
                </c:pt>
                <c:pt idx="8">
                  <c:v>51.1</c:v>
                </c:pt>
                <c:pt idx="9">
                  <c:v>52.1</c:v>
                </c:pt>
                <c:pt idx="10">
                  <c:v>53</c:v>
                </c:pt>
                <c:pt idx="11">
                  <c:v>54.6</c:v>
                </c:pt>
                <c:pt idx="12">
                  <c:v>55</c:v>
                </c:pt>
                <c:pt idx="13">
                  <c:v>55.3</c:v>
                </c:pt>
                <c:pt idx="14">
                  <c:v>56.5</c:v>
                </c:pt>
                <c:pt idx="15">
                  <c:v>58.2</c:v>
                </c:pt>
                <c:pt idx="16">
                  <c:v>60.2</c:v>
                </c:pt>
                <c:pt idx="17">
                  <c:v>61.4</c:v>
                </c:pt>
                <c:pt idx="18">
                  <c:v>61.3</c:v>
                </c:pt>
                <c:pt idx="19">
                  <c:v>62.8</c:v>
                </c:pt>
                <c:pt idx="20">
                  <c:v>63.2</c:v>
                </c:pt>
                <c:pt idx="21">
                  <c:v>63.2</c:v>
                </c:pt>
                <c:pt idx="22">
                  <c:v>63.5</c:v>
                </c:pt>
                <c:pt idx="23">
                  <c:v>63.5</c:v>
                </c:pt>
                <c:pt idx="24">
                  <c:v>63.8</c:v>
                </c:pt>
                <c:pt idx="25">
                  <c:v>65.2</c:v>
                </c:pt>
                <c:pt idx="26">
                  <c:v>66.099999999999994</c:v>
                </c:pt>
                <c:pt idx="27">
                  <c:v>66.900000000000006</c:v>
                </c:pt>
                <c:pt idx="28">
                  <c:v>66.8</c:v>
                </c:pt>
                <c:pt idx="29">
                  <c:v>64.3</c:v>
                </c:pt>
                <c:pt idx="30">
                  <c:v>64.900000000000006</c:v>
                </c:pt>
                <c:pt idx="31">
                  <c:v>65.099999999999994</c:v>
                </c:pt>
                <c:pt idx="32">
                  <c:v>64.3</c:v>
                </c:pt>
                <c:pt idx="33">
                  <c:v>63.8</c:v>
                </c:pt>
                <c:pt idx="34">
                  <c:v>63.1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E73-4537-B09E-AE6127F0161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Chile</c:v>
                </c:pt>
              </c:strCache>
            </c:strRef>
          </c:tx>
          <c:spPr>
            <a:ln w="25400">
              <a:solidFill>
                <a:srgbClr val="F28C00"/>
              </a:solidFill>
            </a:ln>
          </c:spPr>
          <c:marker>
            <c:symbol val="none"/>
          </c:marker>
          <c:dLbls>
            <c:dLbl>
              <c:idx val="34"/>
              <c:numFmt formatCode="0.0" sourceLinked="0"/>
              <c:spPr/>
              <c:txPr>
                <a:bodyPr/>
                <a:lstStyle/>
                <a:p>
                  <a:pPr>
                    <a:defRPr sz="1200" b="1">
                      <a:solidFill>
                        <a:srgbClr val="F28C00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E73-4537-B09E-AE6127F0161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Sheet1!$D$2:$D$36</c:f>
              <c:numCache>
                <c:formatCode>0.0</c:formatCode>
                <c:ptCount val="35"/>
                <c:pt idx="0">
                  <c:v>35.4</c:v>
                </c:pt>
                <c:pt idx="1">
                  <c:v>36.700000000000003</c:v>
                </c:pt>
                <c:pt idx="2">
                  <c:v>37.700000000000003</c:v>
                </c:pt>
                <c:pt idx="3">
                  <c:v>38.700000000000003</c:v>
                </c:pt>
                <c:pt idx="4">
                  <c:v>40.1</c:v>
                </c:pt>
                <c:pt idx="5">
                  <c:v>42.1</c:v>
                </c:pt>
                <c:pt idx="6">
                  <c:v>43.4</c:v>
                </c:pt>
                <c:pt idx="7">
                  <c:v>43.3</c:v>
                </c:pt>
                <c:pt idx="8">
                  <c:v>43</c:v>
                </c:pt>
                <c:pt idx="9">
                  <c:v>43.5</c:v>
                </c:pt>
                <c:pt idx="10">
                  <c:v>44.3</c:v>
                </c:pt>
                <c:pt idx="11">
                  <c:v>44.3</c:v>
                </c:pt>
                <c:pt idx="12">
                  <c:v>43.8</c:v>
                </c:pt>
                <c:pt idx="13">
                  <c:v>44.7</c:v>
                </c:pt>
                <c:pt idx="14">
                  <c:v>45</c:v>
                </c:pt>
                <c:pt idx="15">
                  <c:v>45.4</c:v>
                </c:pt>
                <c:pt idx="16">
                  <c:v>45.7</c:v>
                </c:pt>
                <c:pt idx="17">
                  <c:v>46</c:v>
                </c:pt>
                <c:pt idx="18">
                  <c:v>45.5</c:v>
                </c:pt>
                <c:pt idx="19">
                  <c:v>43.1</c:v>
                </c:pt>
                <c:pt idx="20">
                  <c:v>43.3</c:v>
                </c:pt>
                <c:pt idx="21">
                  <c:v>44.7</c:v>
                </c:pt>
                <c:pt idx="22">
                  <c:v>44.8</c:v>
                </c:pt>
                <c:pt idx="23">
                  <c:v>44.7</c:v>
                </c:pt>
                <c:pt idx="24">
                  <c:v>44.2</c:v>
                </c:pt>
                <c:pt idx="25">
                  <c:v>44.4</c:v>
                </c:pt>
                <c:pt idx="26">
                  <c:v>43.4</c:v>
                </c:pt>
                <c:pt idx="27">
                  <c:v>43.5</c:v>
                </c:pt>
                <c:pt idx="28">
                  <c:v>42.4</c:v>
                </c:pt>
                <c:pt idx="29">
                  <c:v>43.9</c:v>
                </c:pt>
                <c:pt idx="30">
                  <c:v>45.4</c:v>
                </c:pt>
                <c:pt idx="31">
                  <c:v>43.7</c:v>
                </c:pt>
                <c:pt idx="32">
                  <c:v>42.4</c:v>
                </c:pt>
                <c:pt idx="33">
                  <c:v>41.6</c:v>
                </c:pt>
                <c:pt idx="34">
                  <c:v>41.5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CE73-4537-B09E-AE6127F0161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China</c:v>
                </c:pt>
              </c:strCache>
            </c:strRef>
          </c:tx>
          <c:spPr>
            <a:ln w="25400">
              <a:solidFill>
                <a:srgbClr val="C62828"/>
              </a:solidFill>
            </a:ln>
          </c:spPr>
          <c:marker>
            <c:symbol val="none"/>
          </c:marker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Sheet1!$E$2:$E$36</c:f>
              <c:numCache>
                <c:formatCode>0.0</c:formatCode>
                <c:ptCount val="35"/>
                <c:pt idx="0">
                  <c:v>3.6</c:v>
                </c:pt>
                <c:pt idx="1">
                  <c:v>3.9</c:v>
                </c:pt>
                <c:pt idx="2">
                  <c:v>4.4000000000000004</c:v>
                </c:pt>
                <c:pt idx="3">
                  <c:v>4.9000000000000004</c:v>
                </c:pt>
                <c:pt idx="4">
                  <c:v>5.3</c:v>
                </c:pt>
                <c:pt idx="5">
                  <c:v>5.7</c:v>
                </c:pt>
                <c:pt idx="6">
                  <c:v>6</c:v>
                </c:pt>
                <c:pt idx="7">
                  <c:v>6.3</c:v>
                </c:pt>
                <c:pt idx="8">
                  <c:v>6.5</c:v>
                </c:pt>
                <c:pt idx="9">
                  <c:v>6.8</c:v>
                </c:pt>
                <c:pt idx="10">
                  <c:v>7.3</c:v>
                </c:pt>
                <c:pt idx="11">
                  <c:v>7.7</c:v>
                </c:pt>
                <c:pt idx="12">
                  <c:v>8.1999999999999993</c:v>
                </c:pt>
                <c:pt idx="13">
                  <c:v>8.6999999999999993</c:v>
                </c:pt>
                <c:pt idx="14">
                  <c:v>9.4</c:v>
                </c:pt>
                <c:pt idx="15">
                  <c:v>10.4</c:v>
                </c:pt>
                <c:pt idx="16">
                  <c:v>11.6</c:v>
                </c:pt>
                <c:pt idx="17">
                  <c:v>12.7</c:v>
                </c:pt>
                <c:pt idx="18">
                  <c:v>13.7</c:v>
                </c:pt>
                <c:pt idx="19">
                  <c:v>14.7</c:v>
                </c:pt>
                <c:pt idx="20">
                  <c:v>15.9</c:v>
                </c:pt>
                <c:pt idx="21">
                  <c:v>17</c:v>
                </c:pt>
                <c:pt idx="22">
                  <c:v>18.100000000000001</c:v>
                </c:pt>
                <c:pt idx="23">
                  <c:v>19.3</c:v>
                </c:pt>
                <c:pt idx="24">
                  <c:v>20.399999999999999</c:v>
                </c:pt>
                <c:pt idx="25">
                  <c:v>21.7</c:v>
                </c:pt>
                <c:pt idx="26">
                  <c:v>23</c:v>
                </c:pt>
                <c:pt idx="27">
                  <c:v>24.2</c:v>
                </c:pt>
                <c:pt idx="28">
                  <c:v>25.5</c:v>
                </c:pt>
                <c:pt idx="29">
                  <c:v>25.7</c:v>
                </c:pt>
                <c:pt idx="30">
                  <c:v>26.3</c:v>
                </c:pt>
                <c:pt idx="31">
                  <c:v>27.9</c:v>
                </c:pt>
                <c:pt idx="32">
                  <c:v>28.7</c:v>
                </c:pt>
                <c:pt idx="33">
                  <c:v>29.8</c:v>
                </c:pt>
                <c:pt idx="34">
                  <c:v>30.7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CE73-4537-B09E-AE6127F0161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México</c:v>
                </c:pt>
              </c:strCache>
            </c:strRef>
          </c:tx>
          <c:spPr>
            <a:ln w="25400">
              <a:solidFill>
                <a:srgbClr val="A6A6A6"/>
              </a:solidFill>
            </a:ln>
          </c:spPr>
          <c:marker>
            <c:symbol val="none"/>
          </c:marker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Sheet1!$F$2:$F$36</c:f>
              <c:numCache>
                <c:formatCode>0.0</c:formatCode>
                <c:ptCount val="35"/>
                <c:pt idx="0">
                  <c:v>54.7</c:v>
                </c:pt>
                <c:pt idx="1">
                  <c:v>53.2</c:v>
                </c:pt>
                <c:pt idx="2">
                  <c:v>52.4</c:v>
                </c:pt>
                <c:pt idx="3">
                  <c:v>53.1</c:v>
                </c:pt>
                <c:pt idx="4">
                  <c:v>49.8</c:v>
                </c:pt>
                <c:pt idx="5">
                  <c:v>49.7</c:v>
                </c:pt>
                <c:pt idx="6">
                  <c:v>49.3</c:v>
                </c:pt>
                <c:pt idx="7">
                  <c:v>49.8</c:v>
                </c:pt>
                <c:pt idx="8">
                  <c:v>48.6</c:v>
                </c:pt>
                <c:pt idx="9">
                  <c:v>48.9</c:v>
                </c:pt>
                <c:pt idx="10">
                  <c:v>47.6</c:v>
                </c:pt>
                <c:pt idx="11">
                  <c:v>46.1</c:v>
                </c:pt>
                <c:pt idx="12">
                  <c:v>44.5</c:v>
                </c:pt>
                <c:pt idx="13">
                  <c:v>43.9</c:v>
                </c:pt>
                <c:pt idx="14">
                  <c:v>42.5</c:v>
                </c:pt>
                <c:pt idx="15">
                  <c:v>42.7</c:v>
                </c:pt>
                <c:pt idx="16">
                  <c:v>42.2</c:v>
                </c:pt>
                <c:pt idx="17">
                  <c:v>41.9</c:v>
                </c:pt>
                <c:pt idx="18">
                  <c:v>38.700000000000003</c:v>
                </c:pt>
                <c:pt idx="19">
                  <c:v>38.6</c:v>
                </c:pt>
                <c:pt idx="20">
                  <c:v>38.799999999999997</c:v>
                </c:pt>
                <c:pt idx="21">
                  <c:v>38.6</c:v>
                </c:pt>
                <c:pt idx="22">
                  <c:v>38</c:v>
                </c:pt>
                <c:pt idx="23">
                  <c:v>38.299999999999997</c:v>
                </c:pt>
                <c:pt idx="24">
                  <c:v>38</c:v>
                </c:pt>
                <c:pt idx="25">
                  <c:v>37.9</c:v>
                </c:pt>
                <c:pt idx="26">
                  <c:v>37.700000000000003</c:v>
                </c:pt>
                <c:pt idx="27">
                  <c:v>37.1</c:v>
                </c:pt>
                <c:pt idx="28">
                  <c:v>35.6</c:v>
                </c:pt>
                <c:pt idx="29">
                  <c:v>33.9</c:v>
                </c:pt>
                <c:pt idx="30">
                  <c:v>32.4</c:v>
                </c:pt>
                <c:pt idx="31">
                  <c:v>32.6</c:v>
                </c:pt>
                <c:pt idx="32">
                  <c:v>32.200000000000003</c:v>
                </c:pt>
                <c:pt idx="33">
                  <c:v>31.5</c:v>
                </c:pt>
                <c:pt idx="34">
                  <c:v>30.7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CE73-4537-B09E-AE6127F016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0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  <c:max val="70"/>
          <c:min val="0"/>
        </c:scaling>
        <c:delete val="0"/>
        <c:axPos val="l"/>
        <c:majorGridlines>
          <c:spPr>
            <a:ln w="9525">
              <a:solidFill>
                <a:srgbClr val="DDDDD8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crossAx val="2118791784"/>
        <c:crosses val="autoZero"/>
        <c:crossBetween val="between"/>
        <c:majorUnit val="10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3C3C3C"/>
              </a:solidFill>
            </a:defRPr>
          </a:pPr>
          <a:endParaRPr lang="pt-BR"/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6B6B6B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solidFill>
              <a:srgbClr val="1A6FE0"/>
            </a:solidFill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rgbClr val="3C3C3C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Matemática</c:v>
                </c:pt>
                <c:pt idx="1">
                  <c:v>Leitura</c:v>
                </c:pt>
                <c:pt idx="2">
                  <c:v>Ciências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377</c:v>
                </c:pt>
                <c:pt idx="1">
                  <c:v>408</c:v>
                </c:pt>
                <c:pt idx="2">
                  <c:v>409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3D-4CF8-8B1D-FFB6EEB47CD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OCDE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rgbClr val="3C3C3C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Matemática</c:v>
                </c:pt>
                <c:pt idx="1">
                  <c:v>Leitura</c:v>
                </c:pt>
                <c:pt idx="2">
                  <c:v>Ciências</c:v>
                </c:pt>
              </c:strCache>
            </c:strRef>
          </c:cat>
          <c:val>
            <c:numRef>
              <c:f>Sheet1!$C$2:$C$4</c:f>
              <c:numCache>
                <c:formatCode>0.0</c:formatCode>
                <c:ptCount val="3"/>
                <c:pt idx="0">
                  <c:v>469</c:v>
                </c:pt>
                <c:pt idx="1">
                  <c:v>466</c:v>
                </c:pt>
                <c:pt idx="2">
                  <c:v>486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C3D-4CF8-8B1D-FFB6EEB47CD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1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50"/>
          <c:min val="0"/>
        </c:scaling>
        <c:delete val="0"/>
        <c:axPos val="l"/>
        <c:majorGridlines>
          <c:spPr>
            <a:ln w="9525">
              <a:solidFill>
                <a:srgbClr val="DDDDD8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  <c:crossBetween val="between"/>
        <c:majorUnit val="100"/>
      </c:valAx>
    </c:plotArea>
    <c:legend>
      <c:legendPos val="t"/>
      <c:overlay val="0"/>
      <c:txPr>
        <a:bodyPr/>
        <a:lstStyle/>
        <a:p>
          <a:pPr>
            <a:defRPr sz="1100">
              <a:solidFill>
                <a:srgbClr val="3C3C3C"/>
              </a:solidFill>
            </a:defRPr>
          </a:pPr>
          <a:endParaRPr lang="pt-BR"/>
        </a:p>
      </c:txPr>
    </c:legend>
    <c:plotVisOnly val="1"/>
    <c:dispBlanksAs val="gap"/>
    <c:showDLblsOverMax val="1"/>
  </c:chart>
  <c:txPr>
    <a:bodyPr/>
    <a:lstStyle/>
    <a:p>
      <a:pPr>
        <a:defRPr sz="1100">
          <a:solidFill>
            <a:srgbClr val="6B6B6B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E8D8C0-ECDE-4C8A-B4F2-9FC205690BC8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9A0F09-9859-4F54-977D-4C5528282F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093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Abertura. A eleição terminou; a pergunta agora é qual economia o próximo governo recebe em 1º de janeiro de 2027 e quais restrições ela impõe. Roteiro: (1) onde estamos; (2) por que o consumo das famílias perdeu fôlego; (3) a questão fiscal; (4) produtividade e educação como teto do crescimento; (5) agenda e riscos para 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Cinco blocos. Os dois primeiros atualizam a conjuntura; os três seguintes tratam dos temas estruturais que estarão na mesa do governo eleito.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Bloco 1 — conjuntura.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memorando EUA–Irã de junho levou o Brent a ~US$ 75, mas foi encerrado em julho; o Brent voltou a passar de US$ 100. A EIA elevou o Brent médio projetado para 2027 de US$ 65 para US$ 84. Para o Brasil, há um lado bom: o real se comporta como moeda de commodity e o petróleo pesa mais na pauta (produção &gt; 4,3 mi barris/dia), o que amortece o repasse cambial. O dólar fechou setembro em R$ 5,18, praticamente igual à véspera do conflito.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2T26 a demanda interna final ficou praticamente estável: consumo das famílias, indústria de transformação e construção caíram 0,4% cada. O IBC-Br caiu 0,9% em junho e 0,2% em julho, deixando carregamento negativo para o 3T. O Ipea revisou 2026 de 2,3% para 2,0% e 2027 de 2,0% para 1,7%. O BC projeta 1,8% e 1,4%.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Destaque: o consumo das famílias, que cresceu 5,1% em 2024, deve crescer só 1,0% em 2026 — a maior revisão do Ipea (tirou 0,6 p.p. do PIB). Agro sobe de 1,8% para 3,4% na projeção de 2026 com safra recorde. A FBCF ainda é condicionada pelo custo do financiamento.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IPCA: 4,22% em 12 meses em agosto (deflação de 0,32% no mês, ajudada pelo bônus de Itaipu, revertido em setembro — por isso o salto para ~4,6% em setembro). Serviços ainda em ~5,5% com mercado de trabalho apertado. Copom (281ª reunião, 16/09): Selic em 13,75%; projeção de 3,2% no 1T28 (horizonte relevante). Ipea projeta IPCA 2026 em 5,0%. Riscos: petróleo, fim da desoneração do diesel em dez/26, El Niño, câmbio.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Taxa de participação de 62,0%, abaixo dos 63,2% pré-pandemia: parte da queda do desemprego vem de menos gente procurando. Desalentados caíram 14% em 12 meses; subutilização em 13,0%. Rendimento médio real habitual de R$ 3.751 (+3,3%). A reserva de mão de obra é a menor em anos: limita o crescimento da massa salarial adiante — e a renda do trabalho foi o principal motor do consumo.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Bloco 2 — drivers do consumo das famílias (≈ 63% do PIB pela ótica da despesa).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Box 1 do Ipea: a distância entre renda e consumo corresponde à alta da taxa de poupança (+2,4 p.p. em um ano), concentrada no 4T25 e 1T26, quando a renda real cresceu 5–6%. Quatro hipóteses não excludentes: (1) suavização — a renda acelerou por pouco tempo; (2) juros altos estimulam aplicações; (3) usos fora do consumo medido, como apostas on-line (R$ 37 bi em 2025, 0,4% da renda); (4) erro de medida. Some-se a poupança precaucional pela incerteza (eleição, guerra).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Mesmo gráfico do Ipea (Gráfico 1.1), atualizado com o SGS. A literatura (Flodén et al., 2021; Drehmann, Juselius e Korinek, 2023; Garber et al., 2024) associa alto comprometimento de renda a consumo mais baixo e mais volátil. Bets: Carvalho et al. (2026) mostram que começar a apostar eleva a inadimplência — e a inadimplência aumenta a chance de começar a apostar. Leitura do Ipea: o canal atenua, mas não anula, o crescimento do consumo enquanto renda e crédito crescem.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RPM set/26: inadimplência no crédito livre PF em 7,8% e no SFN em 4,9% — recordes. Concessões de crédito livre PF caíram 1,3% no trimestre até julho, com recuo nas linhas de longo prazo (inclusive consignado privado) e alta das emergenciais. Em contrapartida, o saldo de crédito livre PF ainda cresce ~6% real (Ipea): a desaceleração é suave. A mudança contábil da Res. 4.966 responde por ~40% da alta da inadimplência desde dez/24.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de síntese para discussão. Pergunta à plateia: qual força domina em 2027? O Ipea aposta em retomada gradual do consumo (1,5%) porque renda e crédito seguem crescendo e o canal do fluxo de caixa só atenua. O efeito do fim das bets depende de conter a migração para plataformas ilegais. O BC espera que a política monetária restritiva continue desacelerando o crédito livre.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Bloco 3 — fiscal. Frase do Ipea: "É provável que 2027 traga ajustes voltados a conter o crescimento das despesas obrigatórias da União, qualquer que seja o resultado do segundo turno."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 12 meses até agosto, déficit primário do Governo Central de R$ 68,7 bi (~0,53% do PIB): receita líquida ~18,6% e despesa ~19,2% do PIB. O PLOA 2027 não usa receitas extraordinárias, mas a diferença para o mercado é grande. A LC 235 cria gatilhos que limitam o crescimento das despesas vinculadas quando há déficit projetado. Ponto para o debate: o novo governo terá de decidir já no 1º semestre se revisa a meta ou se faz ajuste nas obrigatórias (previdência, pisos de saúde e educação, vinculações ao salário mínimo).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Dívida pública federal de R$ 9,3 tri em agosto, prazo médio ~4 anos, predominância de pós-fixados. Mensagem: com Selic de 13,75% e PIB nominal crescendo ~6–7%, o diferencial juros–crescimento é muito desfavorável. Por isso o debate de 2027 combina (i) primário mais alto e (ii) queda dos juros — que depende da credibilidade fiscal. É um círculo que pode ser virtuoso ou vicioso.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Bloco 4 — longo prazo. Com o bônus demográfico acabando e o desemprego na mínima, crescer mais exige produzir mais por trabalhador.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Métrica: PIB por pessoa ocupada em PPC. O crescimento brasileiro das últimas décadas veio mais de incorporar trabalhadores do que de produzir mais por trabalhador. Esse motor está esgotado: desemprego na mínima, participação estável e população envelhecendo. Daí a ligação com educação no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Brasil 2025: 377 em matemática, 408 em leitura, 409 em ciências; em 2022 foram 379, 410 e 403. Ciências superou o nível pré-pandemia. Leitura: 49% no nível 2 ou acima (OCDE 69%); ciências: 48% (OCDE 74%). Praticamente nenhum aluno brasileiro chega aos níveis 5–6 em matemática (OCDE: 8%). Ligação com produtividade: escolaridade média subiu muito desde os anos 1990, mas a aprendizagem não acompanhou — anos de escola sem aprendizagem não viram produtividade.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Bloco 5 — agenda e riscos.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Grade para a discussão final: para cada tema, um indicador para acompanhar ao longo de 2027. Reforma tributária: 2026 foi o ano de teste (CBS 0,9% e IBS 0,1%); em 2027 a CBS entra em vigor plena e PIS/Cofins são extintos; o IBS sobe gradualmente de 2029 a 2032.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Ipea vê balanço de riscos de baixa para o crescimento de 2026 e riscos de alta para a inflação. O BC destaca a desancoragem das expectativas e a incerteza fiscal como elementos que exigem cautela.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Fechamento: amarrar os blocos. Fiscal → juros → famílias/consumo; produtividade → crescimento potencial.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Slides de apoio da apresentação de 15/09/2026, mantidos como estavam (não atualizados).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5A6268AB-14F2-F957-7E4C-FB5ED1F9D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:notes">
            <a:extLst>
              <a:ext uri="{FF2B5EF4-FFF2-40B4-BE49-F238E27FC236}">
                <a16:creationId xmlns:a16="http://schemas.microsoft.com/office/drawing/2014/main" id="{5932A65B-6CC1-8138-C6BA-B1511EA2FD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E37BAD7A-8C27-9F81-5D70-EB69D060DF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10198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64873871-09A2-C4AF-989C-CEE528F2F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:notes">
            <a:extLst>
              <a:ext uri="{FF2B5EF4-FFF2-40B4-BE49-F238E27FC236}">
                <a16:creationId xmlns:a16="http://schemas.microsoft.com/office/drawing/2014/main" id="{8216E326-5C89-5F4E-4CA9-4F6E1E612A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F7CB651E-D313-E6F8-6495-7C77A7211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78926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8D297A9B-A694-6683-C610-BB7643279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:notes">
            <a:extLst>
              <a:ext uri="{FF2B5EF4-FFF2-40B4-BE49-F238E27FC236}">
                <a16:creationId xmlns:a16="http://schemas.microsoft.com/office/drawing/2014/main" id="{5C062817-F733-DEA7-C9F5-867F211957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BA7314C1-0A92-3329-C6BC-182F5E1269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20621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D20E5A84-02E5-5C89-F665-40DCA84B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:notes">
            <a:extLst>
              <a:ext uri="{FF2B5EF4-FFF2-40B4-BE49-F238E27FC236}">
                <a16:creationId xmlns:a16="http://schemas.microsoft.com/office/drawing/2014/main" id="{7DECA796-976B-94B3-6AB5-E87E0C6B45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BE52AFB5-C912-63F6-7F08-3B37A87AEB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59517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591C8199-B3E6-98D3-FDE4-9DBC051C5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:notes">
            <a:extLst>
              <a:ext uri="{FF2B5EF4-FFF2-40B4-BE49-F238E27FC236}">
                <a16:creationId xmlns:a16="http://schemas.microsoft.com/office/drawing/2014/main" id="{C6BDBC8F-C988-2EF8-8879-86D5EF0913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533C8EFC-EA31-700F-F081-0672DA29A0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0595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8E97692B-ABD2-A257-0DB9-89A2B7073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:notes">
            <a:extLst>
              <a:ext uri="{FF2B5EF4-FFF2-40B4-BE49-F238E27FC236}">
                <a16:creationId xmlns:a16="http://schemas.microsoft.com/office/drawing/2014/main" id="{29B355FB-5865-974F-D708-1380F11478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BE412205-5C07-5426-C313-B24C481DD0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10558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38A36668-7E69-EF36-03B1-9C93BDDE1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:notes">
            <a:extLst>
              <a:ext uri="{FF2B5EF4-FFF2-40B4-BE49-F238E27FC236}">
                <a16:creationId xmlns:a16="http://schemas.microsoft.com/office/drawing/2014/main" id="{3D811321-50A9-CF80-0ACF-DF18E2E86F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6E2F1E61-F6B1-A894-B36B-579910F029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37509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18DD285F-D72B-7B00-32E7-ED6D6FEA7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:notes">
            <a:extLst>
              <a:ext uri="{FF2B5EF4-FFF2-40B4-BE49-F238E27FC236}">
                <a16:creationId xmlns:a16="http://schemas.microsoft.com/office/drawing/2014/main" id="{ADCCC637-3219-A1DC-472E-62D9BAAE28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EA4E874E-43A6-9B28-C5C0-13A322FD6C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0405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43D876-916D-9FE2-DA3B-35327691D8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17858AB-2100-8750-70ED-DCF4BB9FA0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8C1C87-A8B0-7B8D-C748-DEC789EDF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6C80-01DF-44A0-A7B7-6D736C94744A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8CEF7A-BA6E-F39F-34B9-C4B9772E3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539EC9-93A2-B22A-AB9C-E22F950AB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8BD56-A1FC-48F1-947B-9FC3B1B8C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7406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EB87E6-B6C4-05CB-FE12-4F54462A5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3A2550-1DDE-E121-529D-C38040578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C1FBFA-526A-B43D-AA54-0484EA63B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6C80-01DF-44A0-A7B7-6D736C94744A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D05801-C0B9-86C7-D048-B1BFF999A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F0DDCD-256C-CF14-6088-7E8BB678A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8BD56-A1FC-48F1-947B-9FC3B1B8C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2038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62B028-515E-C824-1E08-C4CD0D172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DE122BC-EBAC-8404-0FF6-FDFB439FE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ACD0D9-A2CF-FE14-B513-806B639A8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6C80-01DF-44A0-A7B7-6D736C94744A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1F891C-C9B2-0B94-1253-4D3D16253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FC0A-8266-97D9-323E-047C17FCC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8BD56-A1FC-48F1-947B-9FC3B1B8C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65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AAAE63-5297-EAB1-28D6-00E4CF8B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973C46-AA47-8463-4DB8-2A53A10D39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94FAEC2-5DC7-B417-94FD-841CE4F75D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A2DB769-53FD-0EC6-620F-EDDEEDF27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6C80-01DF-44A0-A7B7-6D736C94744A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91FEBE3-EE70-B4DE-9C81-B61B0000D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1CA4C2-2810-DB00-D9A8-59EF009C0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8BD56-A1FC-48F1-947B-9FC3B1B8C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4021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B8B98C-C72A-5DA4-0770-5DC341C1F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CEF4810-6FA9-0442-69F8-E12CA1797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73B5D4A-D2BF-8839-9DA9-C787B7A9C7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F0D35A4-64E5-6D17-C650-21399A3410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AA68F6A-8E6D-20D2-5D2E-85E48C18C4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B76AB09-F4D4-AA7E-2ED5-0459BF4EE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6C80-01DF-44A0-A7B7-6D736C94744A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81BC024-08E6-6A09-8474-93633247F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2B13710-8EE1-3883-B0D2-72AACD517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8BD56-A1FC-48F1-947B-9FC3B1B8C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2618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56B838-E784-EBAD-D544-227F97081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46904BE-7DBC-8AB0-983B-0153DB833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6C80-01DF-44A0-A7B7-6D736C94744A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9553535-20EB-37DA-9A7A-B74629AE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478D905-9351-21E7-3AC3-A67487E12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8BD56-A1FC-48F1-947B-9FC3B1B8C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9205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1EB5F66-4FD3-E2A3-80C8-E978A78AE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6C80-01DF-44A0-A7B7-6D736C94744A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AD304EB-1218-F3B6-2EE7-1CD11E90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C43088C-F595-EEC1-AE35-AB091694A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8BD56-A1FC-48F1-947B-9FC3B1B8C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4442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8D0F4B-C825-8C42-395D-85758D4CC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188BF0-BA3B-0A1A-DA8B-2A00FC6EF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B23E164-0FB5-3E9A-C36C-63D8949706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95A9254-32FC-9F43-62CC-1126F2651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6C80-01DF-44A0-A7B7-6D736C94744A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C99FE33-43A9-63BF-8BE9-965EAC5BA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C5CCE3F-464E-7550-44B2-2FA5A36B3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8BD56-A1FC-48F1-947B-9FC3B1B8C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0410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4AC26E-3E1A-9FB6-CC3D-549C15938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CF5959F-575D-3A55-F341-B309060113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FBF3C7F-B979-EFDB-B3EE-4B966D19F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4B7650-F4DF-9150-CBD8-EEAAB1D4A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6C80-01DF-44A0-A7B7-6D736C94744A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88F0AB2-5CD3-B592-CC5D-1981A1711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21C5531-AD88-0E82-D322-FDE9B433C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8BD56-A1FC-48F1-947B-9FC3B1B8C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341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E4E2AA-D462-C38E-EB39-B726B6169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A8E8E1D-70ED-EA50-A188-D2E3BBFE8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87C1C0-FEC3-8167-FF49-E96C4CD69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6C80-01DF-44A0-A7B7-6D736C94744A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CEEDF1-7CA1-5D18-424C-344EA8E75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B34DCA-20A5-946B-AAB1-5E5FD885C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8BD56-A1FC-48F1-947B-9FC3B1B8C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3172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69FF2C5-C295-C1A4-9632-4051D45708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E1965F9-B622-4909-0026-54F54A0481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20E262-639C-4206-8BBB-D39D02160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6C80-01DF-44A0-A7B7-6D736C94744A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96DDE9-F93D-2F81-C982-7353998F7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5DBA0C-7A02-865B-6466-799F9E311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8BD56-A1FC-48F1-947B-9FC3B1B8C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73671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36668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785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48022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25889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37052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4291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4520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90185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07153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75345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35585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>
            <a:spLocks noGrp="1"/>
          </p:cNvSpPr>
          <p:nvPr>
            <p:ph type="pic" idx="2"/>
          </p:nvPr>
        </p:nvSpPr>
        <p:spPr>
          <a:xfrm>
            <a:off x="3263901" y="2667001"/>
            <a:ext cx="2647200" cy="35520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14"/>
          <p:cNvSpPr>
            <a:spLocks noGrp="1"/>
          </p:cNvSpPr>
          <p:nvPr>
            <p:ph type="pic" idx="3"/>
          </p:nvPr>
        </p:nvSpPr>
        <p:spPr>
          <a:xfrm>
            <a:off x="9798669" y="4760940"/>
            <a:ext cx="1772800" cy="14584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>
            <a:spLocks noGrp="1"/>
          </p:cNvSpPr>
          <p:nvPr>
            <p:ph type="pic" idx="4"/>
          </p:nvPr>
        </p:nvSpPr>
        <p:spPr>
          <a:xfrm>
            <a:off x="4121967" y="1285467"/>
            <a:ext cx="1789200" cy="12420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14"/>
          <p:cNvSpPr>
            <a:spLocks noGrp="1"/>
          </p:cNvSpPr>
          <p:nvPr>
            <p:ph type="pic" idx="5"/>
          </p:nvPr>
        </p:nvSpPr>
        <p:spPr>
          <a:xfrm>
            <a:off x="6090469" y="1285468"/>
            <a:ext cx="5480800" cy="33628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14"/>
          <p:cNvSpPr>
            <a:spLocks noGrp="1"/>
          </p:cNvSpPr>
          <p:nvPr>
            <p:ph type="pic" idx="6"/>
          </p:nvPr>
        </p:nvSpPr>
        <p:spPr>
          <a:xfrm>
            <a:off x="620668" y="2667001"/>
            <a:ext cx="2463600" cy="35520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60724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>
            <a:spLocks noGrp="1"/>
          </p:cNvSpPr>
          <p:nvPr>
            <p:ph type="pic" idx="2"/>
          </p:nvPr>
        </p:nvSpPr>
        <p:spPr>
          <a:xfrm>
            <a:off x="8730747" y="1194072"/>
            <a:ext cx="2376400" cy="2376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0" name="Google Shape;60;p15"/>
          <p:cNvSpPr>
            <a:spLocks noGrp="1"/>
          </p:cNvSpPr>
          <p:nvPr>
            <p:ph type="pic" idx="3"/>
          </p:nvPr>
        </p:nvSpPr>
        <p:spPr>
          <a:xfrm>
            <a:off x="6182265" y="3287536"/>
            <a:ext cx="2376400" cy="2376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11409051" y="6333125"/>
            <a:ext cx="783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37024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0" y="1418357"/>
            <a:ext cx="5520800" cy="2376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11409051" y="6333125"/>
            <a:ext cx="783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3150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>
            <a:spLocks noGrp="1"/>
          </p:cNvSpPr>
          <p:nvPr>
            <p:ph type="pic" idx="2"/>
          </p:nvPr>
        </p:nvSpPr>
        <p:spPr>
          <a:xfrm>
            <a:off x="6192664" y="3287536"/>
            <a:ext cx="2376400" cy="2376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7" name="Google Shape;67;p17"/>
          <p:cNvSpPr>
            <a:spLocks noGrp="1"/>
          </p:cNvSpPr>
          <p:nvPr>
            <p:ph type="pic" idx="3"/>
          </p:nvPr>
        </p:nvSpPr>
        <p:spPr>
          <a:xfrm>
            <a:off x="8772960" y="3287536"/>
            <a:ext cx="2376400" cy="2376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sldNum" idx="12"/>
          </p:nvPr>
        </p:nvSpPr>
        <p:spPr>
          <a:xfrm>
            <a:off x="11409051" y="6333125"/>
            <a:ext cx="783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4667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>
            <a:spLocks noGrp="1"/>
          </p:cNvSpPr>
          <p:nvPr>
            <p:ph type="pic" idx="2"/>
          </p:nvPr>
        </p:nvSpPr>
        <p:spPr>
          <a:xfrm>
            <a:off x="2958756" y="1321655"/>
            <a:ext cx="2376400" cy="4214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1" name="Google Shape;71;p18"/>
          <p:cNvSpPr>
            <a:spLocks noGrp="1"/>
          </p:cNvSpPr>
          <p:nvPr>
            <p:ph type="pic" idx="3"/>
          </p:nvPr>
        </p:nvSpPr>
        <p:spPr>
          <a:xfrm>
            <a:off x="5513379" y="3159953"/>
            <a:ext cx="2376400" cy="2376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11409051" y="6333125"/>
            <a:ext cx="783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5099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6_Title Slide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>
            <a:spLocks noGrp="1"/>
          </p:cNvSpPr>
          <p:nvPr>
            <p:ph type="pic" idx="2"/>
          </p:nvPr>
        </p:nvSpPr>
        <p:spPr>
          <a:xfrm>
            <a:off x="4907803" y="3209027"/>
            <a:ext cx="2376400" cy="2465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5" name="Google Shape;75;p19"/>
          <p:cNvSpPr txBox="1">
            <a:spLocks noGrp="1"/>
          </p:cNvSpPr>
          <p:nvPr>
            <p:ph type="sldNum" idx="12"/>
          </p:nvPr>
        </p:nvSpPr>
        <p:spPr>
          <a:xfrm>
            <a:off x="11409051" y="6333125"/>
            <a:ext cx="783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08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Slide">
  <p:cSld name="7_Title Slid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>
            <a:spLocks noGrp="1"/>
          </p:cNvSpPr>
          <p:nvPr>
            <p:ph type="pic" idx="2"/>
          </p:nvPr>
        </p:nvSpPr>
        <p:spPr>
          <a:xfrm>
            <a:off x="4907803" y="1456427"/>
            <a:ext cx="2376400" cy="2215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8" name="Google Shape;78;p20"/>
          <p:cNvSpPr>
            <a:spLocks noGrp="1"/>
          </p:cNvSpPr>
          <p:nvPr>
            <p:ph type="pic" idx="3"/>
          </p:nvPr>
        </p:nvSpPr>
        <p:spPr>
          <a:xfrm>
            <a:off x="1752601" y="3867151"/>
            <a:ext cx="5531600" cy="1924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11409051" y="6333125"/>
            <a:ext cx="783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2065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Slide">
  <p:cSld name="8_Title Slid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>
            <a:spLocks noGrp="1"/>
          </p:cNvSpPr>
          <p:nvPr>
            <p:ph type="pic" idx="2"/>
          </p:nvPr>
        </p:nvSpPr>
        <p:spPr>
          <a:xfrm>
            <a:off x="1114247" y="1382743"/>
            <a:ext cx="4458400" cy="1924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2" name="Google Shape;82;p21"/>
          <p:cNvSpPr>
            <a:spLocks noGrp="1"/>
          </p:cNvSpPr>
          <p:nvPr>
            <p:ph type="pic" idx="3"/>
          </p:nvPr>
        </p:nvSpPr>
        <p:spPr>
          <a:xfrm>
            <a:off x="6264291" y="3751987"/>
            <a:ext cx="5927600" cy="1924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11409051" y="6333125"/>
            <a:ext cx="783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6173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 txBox="1">
            <a:spLocks noGrp="1"/>
          </p:cNvSpPr>
          <p:nvPr>
            <p:ph type="sldNum" idx="12"/>
          </p:nvPr>
        </p:nvSpPr>
        <p:spPr>
          <a:xfrm>
            <a:off x="11409051" y="6333125"/>
            <a:ext cx="783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3008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Slide">
  <p:cSld name="9_Title Sli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>
            <a:spLocks noGrp="1"/>
          </p:cNvSpPr>
          <p:nvPr>
            <p:ph type="pic" idx="2"/>
          </p:nvPr>
        </p:nvSpPr>
        <p:spPr>
          <a:xfrm>
            <a:off x="1228216" y="2526125"/>
            <a:ext cx="2112000" cy="2191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8" name="Google Shape;88;p23"/>
          <p:cNvSpPr>
            <a:spLocks noGrp="1"/>
          </p:cNvSpPr>
          <p:nvPr>
            <p:ph type="pic" idx="3"/>
          </p:nvPr>
        </p:nvSpPr>
        <p:spPr>
          <a:xfrm>
            <a:off x="5039973" y="2526125"/>
            <a:ext cx="2112000" cy="2191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9" name="Google Shape;89;p23"/>
          <p:cNvSpPr>
            <a:spLocks noGrp="1"/>
          </p:cNvSpPr>
          <p:nvPr>
            <p:ph type="pic" idx="4"/>
          </p:nvPr>
        </p:nvSpPr>
        <p:spPr>
          <a:xfrm>
            <a:off x="8851731" y="2526125"/>
            <a:ext cx="2112000" cy="2191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0" name="Google Shape;90;p23"/>
          <p:cNvSpPr txBox="1">
            <a:spLocks noGrp="1"/>
          </p:cNvSpPr>
          <p:nvPr>
            <p:ph type="sldNum" idx="12"/>
          </p:nvPr>
        </p:nvSpPr>
        <p:spPr>
          <a:xfrm>
            <a:off x="11409051" y="6333125"/>
            <a:ext cx="783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4767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Slide">
  <p:cSld name="10_Title Slid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>
            <a:spLocks noGrp="1"/>
          </p:cNvSpPr>
          <p:nvPr>
            <p:ph type="pic" idx="2"/>
          </p:nvPr>
        </p:nvSpPr>
        <p:spPr>
          <a:xfrm>
            <a:off x="4322763" y="1455737"/>
            <a:ext cx="3002000" cy="4000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3" name="Google Shape;93;p24"/>
          <p:cNvSpPr txBox="1">
            <a:spLocks noGrp="1"/>
          </p:cNvSpPr>
          <p:nvPr>
            <p:ph type="sldNum" idx="12"/>
          </p:nvPr>
        </p:nvSpPr>
        <p:spPr>
          <a:xfrm>
            <a:off x="11409051" y="6333125"/>
            <a:ext cx="783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6948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Title Slide">
  <p:cSld name="11_Title Slide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>
            <a:spLocks noGrp="1"/>
          </p:cNvSpPr>
          <p:nvPr>
            <p:ph type="pic" idx="2"/>
          </p:nvPr>
        </p:nvSpPr>
        <p:spPr>
          <a:xfrm>
            <a:off x="3516519" y="1553703"/>
            <a:ext cx="2776800" cy="4084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6" name="Google Shape;96;p25"/>
          <p:cNvSpPr txBox="1">
            <a:spLocks noGrp="1"/>
          </p:cNvSpPr>
          <p:nvPr>
            <p:ph type="sldNum" idx="12"/>
          </p:nvPr>
        </p:nvSpPr>
        <p:spPr>
          <a:xfrm>
            <a:off x="11409051" y="6333125"/>
            <a:ext cx="783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5019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Title Slide">
  <p:cSld name="12_Title Slid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>
            <a:spLocks noGrp="1"/>
          </p:cNvSpPr>
          <p:nvPr>
            <p:ph type="pic" idx="2"/>
          </p:nvPr>
        </p:nvSpPr>
        <p:spPr>
          <a:xfrm>
            <a:off x="7013020" y="1986029"/>
            <a:ext cx="2205200" cy="3991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9" name="Google Shape;99;p26"/>
          <p:cNvSpPr>
            <a:spLocks noGrp="1"/>
          </p:cNvSpPr>
          <p:nvPr>
            <p:ph type="pic" idx="3"/>
          </p:nvPr>
        </p:nvSpPr>
        <p:spPr>
          <a:xfrm>
            <a:off x="8608340" y="1284443"/>
            <a:ext cx="2205200" cy="3991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0" name="Google Shape;100;p26"/>
          <p:cNvSpPr txBox="1">
            <a:spLocks noGrp="1"/>
          </p:cNvSpPr>
          <p:nvPr>
            <p:ph type="sldNum" idx="12"/>
          </p:nvPr>
        </p:nvSpPr>
        <p:spPr>
          <a:xfrm>
            <a:off x="11409051" y="6333125"/>
            <a:ext cx="783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3871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Slide">
  <p:cSld name="13_Title Slide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7"/>
          <p:cNvSpPr>
            <a:spLocks noGrp="1"/>
          </p:cNvSpPr>
          <p:nvPr>
            <p:ph type="pic" idx="2"/>
          </p:nvPr>
        </p:nvSpPr>
        <p:spPr>
          <a:xfrm>
            <a:off x="1098057" y="1302992"/>
            <a:ext cx="4560800" cy="4252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3" name="Google Shape;103;p27"/>
          <p:cNvSpPr txBox="1">
            <a:spLocks noGrp="1"/>
          </p:cNvSpPr>
          <p:nvPr>
            <p:ph type="sldNum" idx="12"/>
          </p:nvPr>
        </p:nvSpPr>
        <p:spPr>
          <a:xfrm>
            <a:off x="11409051" y="6333125"/>
            <a:ext cx="783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0371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anco">
  <p:cSld name="Branco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1995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0CED207-BEAD-1EE4-41F2-6C5E115D4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DB704E-CB18-2B8B-945A-3B7AC8403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4397E7-0EE3-7B15-08FA-4FAD31007F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3E6C80-01DF-44A0-A7B7-6D736C94744A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2A0934-E7C8-D24E-498F-6B93DCBF2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1275589-7679-7627-094F-D076D6C073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78BD56-A1FC-48F1-947B-9FC3B1B8C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2317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025127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3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4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5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6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8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9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71323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0" i="0" dirty="0" err="1">
                <a:solidFill>
                  <a:srgbClr val="FFFFFF"/>
                </a:solidFill>
                <a:latin typeface="Segoe UI"/>
              </a:rPr>
              <a:t>Outubro</a:t>
            </a:r>
            <a:r>
              <a:rPr sz="1800" b="0" i="0" dirty="0">
                <a:solidFill>
                  <a:srgbClr val="FFFFFF"/>
                </a:solidFill>
                <a:latin typeface="Segoe UI"/>
              </a:rPr>
              <a:t> de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2331720"/>
            <a:ext cx="8412480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4000" b="1" i="0" dirty="0">
                <a:solidFill>
                  <a:srgbClr val="FFFFFF"/>
                </a:solidFill>
                <a:latin typeface="Century Gothic"/>
              </a:rPr>
              <a:t>Pós-</a:t>
            </a:r>
            <a:r>
              <a:rPr sz="4000" b="1" i="0" dirty="0" err="1">
                <a:solidFill>
                  <a:srgbClr val="FFFFFF"/>
                </a:solidFill>
                <a:latin typeface="Century Gothic"/>
              </a:rPr>
              <a:t>eleição</a:t>
            </a:r>
            <a:r>
              <a:rPr sz="4000" b="1" i="0" dirty="0">
                <a:solidFill>
                  <a:srgbClr val="FFFFFF"/>
                </a:solidFill>
                <a:latin typeface="Century Gothic"/>
              </a:rPr>
              <a:t>: </a:t>
            </a:r>
            <a:r>
              <a:rPr sz="4000" b="1" i="0" dirty="0" err="1">
                <a:solidFill>
                  <a:srgbClr val="8FB8F2"/>
                </a:solidFill>
                <a:latin typeface="Century Gothic"/>
              </a:rPr>
              <a:t>temas</a:t>
            </a:r>
            <a:r>
              <a:rPr sz="4000" b="1" i="0" dirty="0">
                <a:solidFill>
                  <a:srgbClr val="8FB8F2"/>
                </a:solidFill>
                <a:latin typeface="Century Gothic"/>
              </a:rPr>
              <a:t> </a:t>
            </a:r>
            <a:r>
              <a:rPr sz="4000" b="1" i="0" dirty="0" err="1">
                <a:solidFill>
                  <a:srgbClr val="8FB8F2"/>
                </a:solidFill>
                <a:latin typeface="Century Gothic"/>
              </a:rPr>
              <a:t>econômicos</a:t>
            </a:r>
            <a:endParaRPr sz="4000" b="1" i="0" dirty="0">
              <a:solidFill>
                <a:srgbClr val="8FB8F2"/>
              </a:solidFill>
              <a:latin typeface="Century Gothic"/>
            </a:endParaRPr>
          </a:p>
          <a:p>
            <a:pPr algn="l">
              <a:lnSpc>
                <a:spcPct val="100000"/>
              </a:lnSpc>
            </a:pPr>
            <a:r>
              <a:rPr sz="4000" b="1" i="0" dirty="0" err="1">
                <a:solidFill>
                  <a:srgbClr val="FFFFFF"/>
                </a:solidFill>
                <a:latin typeface="Century Gothic"/>
              </a:rPr>
              <a:t>relevantes</a:t>
            </a:r>
            <a:r>
              <a:rPr sz="4000" b="1" i="0" dirty="0">
                <a:solidFill>
                  <a:srgbClr val="FFFFFF"/>
                </a:solidFill>
                <a:latin typeface="Century Gothic"/>
              </a:rPr>
              <a:t> para 2027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4005072"/>
            <a:ext cx="4206240" cy="0"/>
          </a:xfrm>
          <a:prstGeom prst="line">
            <a:avLst/>
          </a:prstGeom>
          <a:ln w="22225">
            <a:solidFill>
              <a:srgbClr val="1A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03504" y="416052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0" i="0" dirty="0" err="1">
                <a:solidFill>
                  <a:srgbClr val="FFFFFF"/>
                </a:solidFill>
                <a:latin typeface="Segoe UI"/>
              </a:rPr>
              <a:t>Conjuntura</a:t>
            </a:r>
            <a:r>
              <a:rPr sz="2200" b="0" i="0" dirty="0">
                <a:solidFill>
                  <a:srgbClr val="FFFFFF"/>
                </a:solidFill>
                <a:latin typeface="Segoe UI"/>
              </a:rPr>
              <a:t>, </a:t>
            </a:r>
            <a:r>
              <a:rPr sz="2200" b="0" i="0" dirty="0" err="1">
                <a:solidFill>
                  <a:srgbClr val="FFFFFF"/>
                </a:solidFill>
                <a:latin typeface="Segoe UI"/>
              </a:rPr>
              <a:t>consumo</a:t>
            </a:r>
            <a:r>
              <a:rPr sz="2200" b="0" i="0" dirty="0">
                <a:solidFill>
                  <a:srgbClr val="FFFFFF"/>
                </a:solidFill>
                <a:latin typeface="Segoe UI"/>
              </a:rPr>
              <a:t> das </a:t>
            </a:r>
            <a:r>
              <a:rPr sz="2200" b="0" i="0" dirty="0" err="1">
                <a:solidFill>
                  <a:srgbClr val="FFFFFF"/>
                </a:solidFill>
                <a:latin typeface="Segoe UI"/>
              </a:rPr>
              <a:t>famílias</a:t>
            </a:r>
            <a:r>
              <a:rPr sz="2200" b="0" i="0" dirty="0">
                <a:solidFill>
                  <a:srgbClr val="FFFFFF"/>
                </a:solidFill>
                <a:latin typeface="Segoe UI"/>
              </a:rPr>
              <a:t>, </a:t>
            </a:r>
            <a:r>
              <a:rPr sz="2200" b="0" i="0" dirty="0" err="1">
                <a:solidFill>
                  <a:srgbClr val="FFFFFF"/>
                </a:solidFill>
                <a:latin typeface="Segoe UI"/>
              </a:rPr>
              <a:t>dívida</a:t>
            </a:r>
            <a:r>
              <a:rPr sz="22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2200" b="0" i="0" dirty="0" err="1">
                <a:solidFill>
                  <a:srgbClr val="FFFFFF"/>
                </a:solidFill>
                <a:latin typeface="Segoe UI"/>
              </a:rPr>
              <a:t>pública</a:t>
            </a:r>
            <a:r>
              <a:rPr sz="2200" b="0" i="0" dirty="0">
                <a:solidFill>
                  <a:srgbClr val="FFFFFF"/>
                </a:solidFill>
                <a:latin typeface="Segoe UI"/>
              </a:rPr>
              <a:t> e </a:t>
            </a:r>
            <a:r>
              <a:rPr sz="2200" b="0" i="0" dirty="0" err="1">
                <a:solidFill>
                  <a:srgbClr val="FFFFFF"/>
                </a:solidFill>
                <a:latin typeface="Segoe UI"/>
              </a:rPr>
              <a:t>produtividade</a:t>
            </a:r>
            <a:endParaRPr sz="2200" b="0" i="0" dirty="0">
              <a:solidFill>
                <a:srgbClr val="FFFFFF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01752"/>
            <a:ext cx="1040457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84080" y="301752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0" i="0">
                <a:solidFill>
                  <a:srgbClr val="6B6B6B"/>
                </a:solidFill>
                <a:latin typeface="Segoe UI"/>
              </a:rPr>
              <a:t>Outubro/2026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sz="3000" b="0" i="0">
                <a:solidFill>
                  <a:srgbClr val="1A1A1A"/>
                </a:solidFill>
                <a:latin typeface="Century Gothic"/>
              </a:rPr>
              <a:t>Roteiro </a:t>
            </a:r>
            <a:r>
              <a:rPr sz="3000" b="0" i="0">
                <a:solidFill>
                  <a:srgbClr val="1A6FE0"/>
                </a:solidFill>
                <a:latin typeface="Century Gothic"/>
              </a:rPr>
              <a:t>da conversa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1298448"/>
            <a:ext cx="1828800" cy="0"/>
          </a:xfrm>
          <a:prstGeom prst="line">
            <a:avLst/>
          </a:prstGeom>
          <a:ln w="22225">
            <a:solidFill>
              <a:srgbClr val="1A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77240" y="1911095"/>
            <a:ext cx="457200" cy="457200"/>
          </a:xfrm>
          <a:prstGeom prst="ellipse">
            <a:avLst/>
          </a:prstGeom>
          <a:solidFill>
            <a:srgbClr val="1A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74519"/>
            <a:ext cx="356616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900" b="1" i="0">
                <a:solidFill>
                  <a:srgbClr val="1A1A1A"/>
                </a:solidFill>
                <a:latin typeface="Century Gothic"/>
              </a:rPr>
              <a:t>Ponto de partida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874519"/>
            <a:ext cx="640080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0" i="0">
                <a:solidFill>
                  <a:srgbClr val="3C3C3C"/>
                </a:solidFill>
                <a:latin typeface="Segoe UI"/>
              </a:rPr>
              <a:t>PIB, inflação, juros e mercado de trabalho no fim de 2026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779776"/>
            <a:ext cx="457200" cy="457200"/>
          </a:xfrm>
          <a:prstGeom prst="ellipse">
            <a:avLst/>
          </a:prstGeom>
          <a:solidFill>
            <a:srgbClr val="1A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743200"/>
            <a:ext cx="356616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900" b="1" i="0">
                <a:solidFill>
                  <a:srgbClr val="1A1A1A"/>
                </a:solidFill>
                <a:latin typeface="Century Gothic"/>
              </a:rPr>
              <a:t>Consumo das famílias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743200"/>
            <a:ext cx="640080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0" i="0">
                <a:solidFill>
                  <a:srgbClr val="3C3C3C"/>
                </a:solidFill>
                <a:latin typeface="Segoe UI"/>
              </a:rPr>
              <a:t>Renda cresce, consumo não: endividamento, crédito e poupança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648456"/>
            <a:ext cx="457200" cy="457200"/>
          </a:xfrm>
          <a:prstGeom prst="ellipse">
            <a:avLst/>
          </a:prstGeom>
          <a:solidFill>
            <a:srgbClr val="1A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611879"/>
            <a:ext cx="356616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900" b="1" i="0">
                <a:solidFill>
                  <a:srgbClr val="1A1A1A"/>
                </a:solidFill>
                <a:latin typeface="Century Gothic"/>
              </a:rPr>
              <a:t>Contas públicas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611879"/>
            <a:ext cx="640080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0" i="0">
                <a:solidFill>
                  <a:srgbClr val="3C3C3C"/>
                </a:solidFill>
                <a:latin typeface="Segoe UI"/>
              </a:rPr>
              <a:t>Resultado primário de 2027 e a trajetória da dívida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517136"/>
            <a:ext cx="457200" cy="457200"/>
          </a:xfrm>
          <a:prstGeom prst="ellipse">
            <a:avLst/>
          </a:prstGeom>
          <a:solidFill>
            <a:srgbClr val="1A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480559"/>
            <a:ext cx="356616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900" b="1" i="0">
                <a:solidFill>
                  <a:srgbClr val="1A1A1A"/>
                </a:solidFill>
                <a:latin typeface="Century Gothic"/>
              </a:rPr>
              <a:t>Produtividade e educação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4480559"/>
            <a:ext cx="640080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0" i="0">
                <a:solidFill>
                  <a:srgbClr val="3C3C3C"/>
                </a:solidFill>
                <a:latin typeface="Segoe UI"/>
              </a:rPr>
              <a:t>O teto do crescimento de longo prazo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5385816"/>
            <a:ext cx="457200" cy="457200"/>
          </a:xfrm>
          <a:prstGeom prst="ellipse">
            <a:avLst/>
          </a:prstGeom>
          <a:solidFill>
            <a:srgbClr val="1A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349240"/>
            <a:ext cx="356616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900" b="1" i="0">
                <a:solidFill>
                  <a:srgbClr val="1A1A1A"/>
                </a:solidFill>
                <a:latin typeface="Century Gothic"/>
              </a:rPr>
              <a:t>Agenda 2027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5349240"/>
            <a:ext cx="640080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0" i="0">
                <a:solidFill>
                  <a:srgbClr val="3C3C3C"/>
                </a:solidFill>
                <a:latin typeface="Segoe UI"/>
              </a:rPr>
              <a:t>O que observar, riscos e mensagens finais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5989320"/>
            <a:ext cx="2508069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3504" y="2788920"/>
            <a:ext cx="7863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Century Gothic"/>
              </a:rPr>
              <a:t>Ponto de partida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4069080"/>
            <a:ext cx="3657600" cy="0"/>
          </a:xfrm>
          <a:prstGeom prst="line">
            <a:avLst/>
          </a:prstGeom>
          <a:ln w="22225">
            <a:solidFill>
              <a:srgbClr val="1A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4206240"/>
            <a:ext cx="768096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0" i="0" dirty="0">
                <a:solidFill>
                  <a:srgbClr val="D9DCE6"/>
                </a:solidFill>
                <a:latin typeface="Segoe UI"/>
              </a:rPr>
              <a:t>A </a:t>
            </a:r>
            <a:r>
              <a:rPr sz="1800" b="0" i="0" dirty="0" err="1">
                <a:solidFill>
                  <a:srgbClr val="D9DCE6"/>
                </a:solidFill>
                <a:latin typeface="Segoe UI"/>
              </a:rPr>
              <a:t>economia</a:t>
            </a:r>
            <a:r>
              <a:rPr sz="1800" b="0" i="0" dirty="0">
                <a:solidFill>
                  <a:srgbClr val="D9DCE6"/>
                </a:solidFill>
                <a:latin typeface="Segoe UI"/>
              </a:rPr>
              <a:t> </a:t>
            </a:r>
            <a:r>
              <a:rPr sz="1800" b="0" i="0" dirty="0" err="1">
                <a:solidFill>
                  <a:srgbClr val="D9DCE6"/>
                </a:solidFill>
                <a:latin typeface="Segoe UI"/>
              </a:rPr>
              <a:t>que</a:t>
            </a:r>
            <a:r>
              <a:rPr sz="1800" b="0" i="0" dirty="0">
                <a:solidFill>
                  <a:srgbClr val="D9DCE6"/>
                </a:solidFill>
                <a:latin typeface="Segoe UI"/>
              </a:rPr>
              <a:t> o </a:t>
            </a:r>
            <a:r>
              <a:rPr sz="1800" b="0" i="0" dirty="0" err="1">
                <a:solidFill>
                  <a:srgbClr val="D9DCE6"/>
                </a:solidFill>
                <a:latin typeface="Segoe UI"/>
              </a:rPr>
              <a:t>próximo</a:t>
            </a:r>
            <a:r>
              <a:rPr sz="1800" b="0" i="0" dirty="0">
                <a:solidFill>
                  <a:srgbClr val="D9DCE6"/>
                </a:solidFill>
                <a:latin typeface="Segoe UI"/>
              </a:rPr>
              <a:t> </a:t>
            </a:r>
            <a:r>
              <a:rPr sz="1800" b="0" i="0" dirty="0" err="1">
                <a:solidFill>
                  <a:srgbClr val="D9DCE6"/>
                </a:solidFill>
                <a:latin typeface="Segoe UI"/>
              </a:rPr>
              <a:t>governo</a:t>
            </a:r>
            <a:r>
              <a:rPr sz="1800" b="0" i="0" dirty="0">
                <a:solidFill>
                  <a:srgbClr val="D9DCE6"/>
                </a:solidFill>
                <a:latin typeface="Segoe UI"/>
              </a:rPr>
              <a:t> </a:t>
            </a:r>
            <a:r>
              <a:rPr sz="1800" b="0" i="0" dirty="0" err="1">
                <a:solidFill>
                  <a:srgbClr val="D9DCE6"/>
                </a:solidFill>
                <a:latin typeface="Segoe UI"/>
              </a:rPr>
              <a:t>recebe</a:t>
            </a:r>
            <a:r>
              <a:rPr sz="1800" b="0" i="0" dirty="0">
                <a:solidFill>
                  <a:srgbClr val="D9DCE6"/>
                </a:solidFill>
                <a:latin typeface="Segoe UI"/>
              </a:rPr>
              <a:t>: </a:t>
            </a:r>
            <a:r>
              <a:rPr sz="1800" b="0" i="0" dirty="0" err="1">
                <a:solidFill>
                  <a:srgbClr val="D9DCE6"/>
                </a:solidFill>
                <a:latin typeface="Segoe UI"/>
              </a:rPr>
              <a:t>crescimento</a:t>
            </a:r>
            <a:r>
              <a:rPr sz="1800" b="0" i="0" dirty="0">
                <a:solidFill>
                  <a:srgbClr val="D9DCE6"/>
                </a:solidFill>
                <a:latin typeface="Segoe UI"/>
              </a:rPr>
              <a:t> </a:t>
            </a:r>
            <a:r>
              <a:rPr sz="1800" b="0" i="0" dirty="0" err="1">
                <a:solidFill>
                  <a:srgbClr val="D9DCE6"/>
                </a:solidFill>
                <a:latin typeface="Segoe UI"/>
              </a:rPr>
              <a:t>em</a:t>
            </a:r>
            <a:r>
              <a:rPr sz="1800" b="0" i="0" dirty="0">
                <a:solidFill>
                  <a:srgbClr val="D9DCE6"/>
                </a:solidFill>
                <a:latin typeface="Segoe UI"/>
              </a:rPr>
              <a:t> </a:t>
            </a:r>
            <a:r>
              <a:rPr sz="1800" b="0" i="0" dirty="0" err="1">
                <a:solidFill>
                  <a:srgbClr val="D9DCE6"/>
                </a:solidFill>
                <a:latin typeface="Segoe UI"/>
              </a:rPr>
              <a:t>desaceleração</a:t>
            </a:r>
            <a:r>
              <a:rPr sz="1800" b="0" i="0" dirty="0">
                <a:solidFill>
                  <a:srgbClr val="D9DCE6"/>
                </a:solidFill>
                <a:latin typeface="Segoe UI"/>
              </a:rPr>
              <a:t>, </a:t>
            </a:r>
            <a:r>
              <a:rPr sz="1800" b="0" i="0" dirty="0" err="1">
                <a:solidFill>
                  <a:srgbClr val="D9DCE6"/>
                </a:solidFill>
                <a:latin typeface="Segoe UI"/>
              </a:rPr>
              <a:t>inflação</a:t>
            </a:r>
            <a:r>
              <a:rPr sz="1800" b="0" i="0" dirty="0">
                <a:solidFill>
                  <a:srgbClr val="D9DCE6"/>
                </a:solidFill>
                <a:latin typeface="Segoe UI"/>
              </a:rPr>
              <a:t> </a:t>
            </a:r>
            <a:r>
              <a:rPr sz="1800" b="0" i="0" dirty="0" err="1">
                <a:solidFill>
                  <a:srgbClr val="D9DCE6"/>
                </a:solidFill>
                <a:latin typeface="Segoe UI"/>
              </a:rPr>
              <a:t>acima</a:t>
            </a:r>
            <a:r>
              <a:rPr sz="1800" b="0" i="0" dirty="0">
                <a:solidFill>
                  <a:srgbClr val="D9DCE6"/>
                </a:solidFill>
                <a:latin typeface="Segoe UI"/>
              </a:rPr>
              <a:t> da meta e </a:t>
            </a:r>
            <a:r>
              <a:rPr sz="1800" b="0" i="0" dirty="0" err="1">
                <a:solidFill>
                  <a:srgbClr val="D9DCE6"/>
                </a:solidFill>
                <a:latin typeface="Segoe UI"/>
              </a:rPr>
              <a:t>juros</a:t>
            </a:r>
            <a:r>
              <a:rPr sz="1800" b="0" i="0" dirty="0">
                <a:solidFill>
                  <a:srgbClr val="D9DCE6"/>
                </a:solidFill>
                <a:latin typeface="Segoe UI"/>
              </a:rPr>
              <a:t> </a:t>
            </a:r>
            <a:r>
              <a:rPr sz="1800" b="0" i="0" dirty="0" err="1">
                <a:solidFill>
                  <a:srgbClr val="D9DCE6"/>
                </a:solidFill>
                <a:latin typeface="Segoe UI"/>
              </a:rPr>
              <a:t>ainda</a:t>
            </a:r>
            <a:r>
              <a:rPr sz="1800" b="0" i="0" dirty="0">
                <a:solidFill>
                  <a:srgbClr val="D9DCE6"/>
                </a:solidFill>
                <a:latin typeface="Segoe UI"/>
              </a:rPr>
              <a:t> </a:t>
            </a:r>
            <a:r>
              <a:rPr sz="1800" b="0" i="0" dirty="0" err="1">
                <a:solidFill>
                  <a:srgbClr val="D9DCE6"/>
                </a:solidFill>
                <a:latin typeface="Segoe UI"/>
              </a:rPr>
              <a:t>muito</a:t>
            </a:r>
            <a:r>
              <a:rPr sz="1800" b="0" i="0" dirty="0">
                <a:solidFill>
                  <a:srgbClr val="D9DCE6"/>
                </a:solidFill>
                <a:latin typeface="Segoe UI"/>
              </a:rPr>
              <a:t> </a:t>
            </a:r>
            <a:r>
              <a:rPr sz="1800" b="0" i="0" dirty="0" err="1">
                <a:solidFill>
                  <a:srgbClr val="D9DCE6"/>
                </a:solidFill>
                <a:latin typeface="Segoe UI"/>
              </a:rPr>
              <a:t>restritivos</a:t>
            </a:r>
            <a:endParaRPr sz="1800" b="0" i="0" dirty="0">
              <a:solidFill>
                <a:srgbClr val="D9DCE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01752"/>
            <a:ext cx="1040457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84080" y="301752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0" i="0">
                <a:solidFill>
                  <a:srgbClr val="6B6B6B"/>
                </a:solidFill>
                <a:latin typeface="Segoe UI"/>
              </a:rPr>
              <a:t>Outubro/2026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sz="3000" b="0" i="0">
                <a:solidFill>
                  <a:srgbClr val="1A1A1A"/>
                </a:solidFill>
                <a:latin typeface="Century Gothic"/>
              </a:rPr>
              <a:t>Cenário externo: </a:t>
            </a:r>
            <a:r>
              <a:rPr sz="3000" b="0" i="0">
                <a:solidFill>
                  <a:srgbClr val="1A6FE0"/>
                </a:solidFill>
                <a:latin typeface="Century Gothic"/>
              </a:rPr>
              <a:t>choque de petróleo e juros globais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1298448"/>
            <a:ext cx="1828800" cy="0"/>
          </a:xfrm>
          <a:prstGeom prst="line">
            <a:avLst/>
          </a:prstGeom>
          <a:ln w="22225">
            <a:solidFill>
              <a:srgbClr val="1A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110996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>
                <a:solidFill>
                  <a:srgbClr val="3C3C3C"/>
                </a:solidFill>
                <a:latin typeface="Segoe UI"/>
              </a:rPr>
              <a:t>O conflito no Oriente Médio se mostrou mais duradouro. Petróleo, fretes e alimentos voltaram a pressionar a inflação global, e o Fed voltou a subir juros. A economia mundial desacelera, mas segue crescendo.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667512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i="0">
                <a:solidFill>
                  <a:srgbClr val="1A6FE0"/>
                </a:solidFill>
                <a:latin typeface="Segoe UI"/>
              </a:rPr>
              <a:t>Projeções de crescimento do PIB em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05456"/>
            <a:ext cx="6675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 i="0">
                <a:solidFill>
                  <a:srgbClr val="6B6B6B"/>
                </a:solidFill>
                <a:latin typeface="Segoe UI"/>
              </a:rPr>
              <a:t>Mediana das projeções coletadas pela Bloomberg, % (por data da coleta)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2788920"/>
          <a:ext cx="676656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635240" y="2194560"/>
            <a:ext cx="402336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36408" y="2304288"/>
            <a:ext cx="365760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000" b="1" i="0">
                <a:solidFill>
                  <a:srgbClr val="F28C00"/>
                </a:solidFill>
                <a:latin typeface="Century Gothic"/>
              </a:rPr>
              <a:t>US$ 100+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8" y="2871215"/>
            <a:ext cx="3657600" cy="51206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3C3C3C"/>
                </a:solidFill>
                <a:latin typeface="Segoe UI"/>
              </a:rPr>
              <a:t>Brent voltou a superar US$ 100/barril em setembro (US$ 75 em junho)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3593592"/>
            <a:ext cx="402336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36408" y="3703320"/>
            <a:ext cx="365760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000" b="1" i="0">
                <a:solidFill>
                  <a:srgbClr val="1A6FE0"/>
                </a:solidFill>
                <a:latin typeface="Century Gothic"/>
              </a:rPr>
              <a:t>3,75–4,00%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4270248"/>
            <a:ext cx="3657600" cy="51206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3C3C3C"/>
                </a:solidFill>
                <a:latin typeface="Segoe UI"/>
              </a:rPr>
              <a:t>Fed sobe juros em setembro: primeira alta desde julho de 2023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992624"/>
            <a:ext cx="402336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36408" y="5102352"/>
            <a:ext cx="365760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000" b="1" i="0">
                <a:solidFill>
                  <a:srgbClr val="F28C00"/>
                </a:solidFill>
                <a:latin typeface="Century Gothic"/>
              </a:rPr>
              <a:t>+9%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6408" y="5669280"/>
            <a:ext cx="3657600" cy="51206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3C3C3C"/>
                </a:solidFill>
                <a:latin typeface="Segoe UI"/>
              </a:rPr>
              <a:t>Preços de alimentos (Banco Mundial) em set/26 frente a fev/26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6B6B6B"/>
                </a:solidFill>
                <a:latin typeface="Segoe UI"/>
              </a:rPr>
              <a:t>Fonte: Bloomberg, EIA, Fed e Banco Mundial, via Carta de Conjuntura Ipea nº 72 (out/2026). Elaboração própria.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01752"/>
            <a:ext cx="1040457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84080" y="301752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0" i="0">
                <a:solidFill>
                  <a:srgbClr val="6B6B6B"/>
                </a:solidFill>
                <a:latin typeface="Segoe UI"/>
              </a:rPr>
              <a:t>Outubro/2026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sz="3000" b="0" i="0">
                <a:solidFill>
                  <a:srgbClr val="1A1A1A"/>
                </a:solidFill>
                <a:latin typeface="Century Gothic"/>
              </a:rPr>
              <a:t>PIB: </a:t>
            </a:r>
            <a:r>
              <a:rPr sz="3000" b="0" i="0">
                <a:solidFill>
                  <a:srgbClr val="1A6FE0"/>
                </a:solidFill>
                <a:latin typeface="Century Gothic"/>
              </a:rPr>
              <a:t>crescimento em desaceleração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1298448"/>
            <a:ext cx="1828800" cy="0"/>
          </a:xfrm>
          <a:prstGeom prst="line">
            <a:avLst/>
          </a:prstGeom>
          <a:ln w="22225">
            <a:solidFill>
              <a:srgbClr val="1A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110996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>
                <a:solidFill>
                  <a:srgbClr val="3C3C3C"/>
                </a:solidFill>
                <a:latin typeface="Segoe UI"/>
              </a:rPr>
              <a:t>O PIB cresceu 0,5% no 2º trimestre (após 1,1% no 1º), mas puxado por agro e extrativa. Os dados de julho indicam PIB praticamente estável no 3º trimestre. O carregamento estatístico de 1,8% garante a maior parte de 2026.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694944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i="0">
                <a:solidFill>
                  <a:srgbClr val="1A6FE0"/>
                </a:solidFill>
                <a:latin typeface="Segoe UI"/>
              </a:rPr>
              <a:t>PIB: crescimento acumulado em 4 trimestres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05456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 i="0">
                <a:solidFill>
                  <a:srgbClr val="6B6B6B"/>
                </a:solidFill>
                <a:latin typeface="Segoe UI"/>
              </a:rPr>
              <a:t>%, 1º tri/2019 a 2º tri/2026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2788920"/>
          <a:ext cx="70408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863840" y="2194560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i="0">
                <a:solidFill>
                  <a:srgbClr val="1A6FE0"/>
                </a:solidFill>
                <a:latin typeface="Segoe UI"/>
              </a:rPr>
              <a:t>Projeções para o PIB (%)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863840" y="2651760"/>
          <a:ext cx="37947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solidFill>
                      <a:srgbClr val="1A6F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2026</a:t>
                      </a:r>
                    </a:p>
                  </a:txBody>
                  <a:tcPr anchor="ctr">
                    <a:solidFill>
                      <a:srgbClr val="1A6F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2027</a:t>
                      </a:r>
                    </a:p>
                  </a:txBody>
                  <a:tcPr anchor="ctr">
                    <a:solidFill>
                      <a:srgbClr val="1A6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Ipea (out/26)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6FE0"/>
                          </a:solidFill>
                          <a:latin typeface="Segoe UI"/>
                        </a:rPr>
                        <a:t>2,0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6FE0"/>
                          </a:solidFill>
                          <a:latin typeface="Segoe UI"/>
                        </a:rPr>
                        <a:t>1,7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Banco Central – RPM (set/26)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6FE0"/>
                          </a:solidFill>
                          <a:latin typeface="Segoe UI"/>
                        </a:rPr>
                        <a:t>1,8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6FE0"/>
                          </a:solidFill>
                          <a:latin typeface="Segoe UI"/>
                        </a:rPr>
                        <a:t>1,4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863840" y="4251960"/>
            <a:ext cx="3794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65008" y="4370832"/>
            <a:ext cx="3429000" cy="182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Segoe UI"/>
              </a:rPr>
              <a:t>Por que 2027 cresce menos? 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C3C3C"/>
                </a:solidFill>
                <a:latin typeface="Segoe UI"/>
              </a:rPr>
              <a:t>Carregamento menor para 2027 (0,6%), juros ainda altos e consumo contido pelo endividamento. A queda gradual da Selic e a expansão da extrativa são os vetores de alívio.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6B6B6B"/>
                </a:solidFill>
                <a:latin typeface="Segoe UI"/>
              </a:rPr>
              <a:t>Fonte: IBGE (Contas Nacionais Trimestrais), Ipea (Carta de Conjuntura nº 72) e BCB (RPM set/2026). Elaboração própria.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01752"/>
            <a:ext cx="1040457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84080" y="301752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0" i="0">
                <a:solidFill>
                  <a:srgbClr val="6B6B6B"/>
                </a:solidFill>
                <a:latin typeface="Segoe UI"/>
              </a:rPr>
              <a:t>Outubro/2026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sz="3000" b="0" i="0">
                <a:solidFill>
                  <a:srgbClr val="1A1A1A"/>
                </a:solidFill>
                <a:latin typeface="Century Gothic"/>
              </a:rPr>
              <a:t>Uma economia de </a:t>
            </a:r>
            <a:r>
              <a:rPr sz="3000" b="0" i="0">
                <a:solidFill>
                  <a:srgbClr val="1A6FE0"/>
                </a:solidFill>
                <a:latin typeface="Century Gothic"/>
              </a:rPr>
              <a:t>duas velocidades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1298448"/>
            <a:ext cx="1828800" cy="0"/>
          </a:xfrm>
          <a:prstGeom prst="line">
            <a:avLst/>
          </a:prstGeom>
          <a:ln w="22225">
            <a:solidFill>
              <a:srgbClr val="1A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110996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>
                <a:solidFill>
                  <a:srgbClr val="3C3C3C"/>
                </a:solidFill>
                <a:latin typeface="Segoe UI"/>
              </a:rPr>
              <a:t>Setores pouco sensíveis aos juros (agro e extrativa) sustentam o PIB; consumo e investimento, mais dependentes de crédito, perdem ritmo. Para 2027, a expectativa é de crescimento mais equilibrado, porém menor.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i="0">
                <a:solidFill>
                  <a:srgbClr val="1A6FE0"/>
                </a:solidFill>
                <a:latin typeface="Segoe UI"/>
              </a:rPr>
              <a:t>PIB pela ótica da produção e da despesa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05456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 i="0">
                <a:solidFill>
                  <a:srgbClr val="6B6B6B"/>
                </a:solidFill>
                <a:latin typeface="Segoe UI"/>
              </a:rPr>
              <a:t>Variação anual, % — 2025 observado; 2026 e 2027 projeções do Ipea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2788920"/>
          <a:ext cx="112471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6B6B6B"/>
                </a:solidFill>
                <a:latin typeface="Segoe UI"/>
              </a:rPr>
              <a:t>Fonte: IBGE e Ipea (Carta de Conjuntura nº 72, Tabela 6.1). Elaboração própria.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01752"/>
            <a:ext cx="1040457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84080" y="301752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0" i="0">
                <a:solidFill>
                  <a:srgbClr val="6B6B6B"/>
                </a:solidFill>
                <a:latin typeface="Segoe UI"/>
              </a:rPr>
              <a:t>Outubro/2026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sz="3000" b="0" i="0">
                <a:solidFill>
                  <a:srgbClr val="1A1A1A"/>
                </a:solidFill>
                <a:latin typeface="Century Gothic"/>
              </a:rPr>
              <a:t>Inflação e juros: </a:t>
            </a:r>
            <a:r>
              <a:rPr sz="3000" b="0" i="0">
                <a:solidFill>
                  <a:srgbClr val="1A6FE0"/>
                </a:solidFill>
                <a:latin typeface="Century Gothic"/>
              </a:rPr>
              <a:t>desinflação lenta, Selic em queda gradual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1298448"/>
            <a:ext cx="1828800" cy="0"/>
          </a:xfrm>
          <a:prstGeom prst="line">
            <a:avLst/>
          </a:prstGeom>
          <a:ln w="22225">
            <a:solidFill>
              <a:srgbClr val="1A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110996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>
                <a:solidFill>
                  <a:srgbClr val="3C3C3C"/>
                </a:solidFill>
                <a:latin typeface="Segoe UI"/>
              </a:rPr>
              <a:t>O IPCA em 12 meses recuou até agosto, mas voltou a 4,6% em setembro, acima do teto de 4,5%. O Copom projeta 5,2% no fim do ano e expectativas acima da meta até 2028. A Selic começou a cair em março, em passos de 0,25 p.p.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i="0">
                <a:solidFill>
                  <a:srgbClr val="1A6FE0"/>
                </a:solidFill>
                <a:latin typeface="Segoe UI"/>
              </a:rPr>
              <a:t>IPCA acumulado em 12 meses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0545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 i="0">
                <a:solidFill>
                  <a:srgbClr val="6B6B6B"/>
                </a:solidFill>
                <a:latin typeface="Segoe UI"/>
              </a:rPr>
              <a:t>%, jan/21 a set/26, e intervalo da meta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2788920"/>
          <a:ext cx="557784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55080" y="2194560"/>
            <a:ext cx="530352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i="0">
                <a:solidFill>
                  <a:srgbClr val="1A6FE0"/>
                </a:solidFill>
                <a:latin typeface="Segoe UI"/>
              </a:rPr>
              <a:t>Selic meta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505456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 i="0">
                <a:solidFill>
                  <a:srgbClr val="6B6B6B"/>
                </a:solidFill>
                <a:latin typeface="Segoe UI"/>
              </a:rPr>
              <a:t>% ao ano, fim do mês, jan/20 a out/26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263640" y="2788920"/>
          <a:ext cx="54406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6B6B6B"/>
                </a:solidFill>
                <a:latin typeface="Segoe UI"/>
              </a:rPr>
              <a:t>Fonte: IBGE, BCB (Copom e RPM set/2026). Elaboração própria.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01752"/>
            <a:ext cx="1040457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84080" y="301752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0" i="0">
                <a:solidFill>
                  <a:srgbClr val="6B6B6B"/>
                </a:solidFill>
                <a:latin typeface="Segoe UI"/>
              </a:rPr>
              <a:t>Outubro/2026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sz="3000" b="0" i="0">
                <a:solidFill>
                  <a:srgbClr val="1A1A1A"/>
                </a:solidFill>
                <a:latin typeface="Century Gothic"/>
              </a:rPr>
              <a:t>Mercado de trabalho: </a:t>
            </a:r>
            <a:r>
              <a:rPr sz="3000" b="0" i="0">
                <a:solidFill>
                  <a:srgbClr val="1A6FE0"/>
                </a:solidFill>
                <a:latin typeface="Century Gothic"/>
              </a:rPr>
              <a:t>desemprego na mínima histórica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1298448"/>
            <a:ext cx="1828800" cy="0"/>
          </a:xfrm>
          <a:prstGeom prst="line">
            <a:avLst/>
          </a:prstGeom>
          <a:ln w="22225">
            <a:solidFill>
              <a:srgbClr val="1A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110996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>
                <a:solidFill>
                  <a:srgbClr val="3C3C3C"/>
                </a:solidFill>
                <a:latin typeface="Segoe UI"/>
              </a:rPr>
              <a:t>A ocupação ainda cresce acima da força de trabalho, mas em ritmo menor. A massa de rendimentos segue em alta, porém já sem a força de 2024–25. Santa Catarina opera praticamente em pleno emprego.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694944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i="0">
                <a:solidFill>
                  <a:srgbClr val="1A6FE0"/>
                </a:solidFill>
                <a:latin typeface="Segoe UI"/>
              </a:rPr>
              <a:t>Taxa de desocupação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05456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 i="0">
                <a:solidFill>
                  <a:srgbClr val="6B6B6B"/>
                </a:solidFill>
                <a:latin typeface="Segoe UI"/>
              </a:rPr>
              <a:t>%, trimestral, Brasil e Santa Catarina, 1T12 a 2T26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2788920"/>
          <a:ext cx="70408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863840" y="2194560"/>
            <a:ext cx="379476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65008" y="2304288"/>
            <a:ext cx="342900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000" b="1" i="0">
                <a:solidFill>
                  <a:srgbClr val="1A6FE0"/>
                </a:solidFill>
                <a:latin typeface="Century Gothic"/>
              </a:rPr>
              <a:t>5,3%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5008" y="2871215"/>
            <a:ext cx="3429000" cy="51206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3C3C3C"/>
                </a:solidFill>
                <a:latin typeface="Segoe UI"/>
              </a:rPr>
              <a:t>Desocupação no trimestre até julho: menor da série para o período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593592"/>
            <a:ext cx="379476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65008" y="3703320"/>
            <a:ext cx="342900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000" b="1" i="0">
                <a:solidFill>
                  <a:srgbClr val="F28C00"/>
                </a:solidFill>
                <a:latin typeface="Century Gothic"/>
              </a:rPr>
              <a:t>7,2%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4270248"/>
            <a:ext cx="3429000" cy="51206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3C3C3C"/>
                </a:solidFill>
                <a:latin typeface="Segoe UI"/>
              </a:rPr>
              <a:t>Desemprego se a participação voltasse ao nível pré-pandemia (63,2%)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4992624"/>
            <a:ext cx="379476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65008" y="5102352"/>
            <a:ext cx="342900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000" b="1" i="0">
                <a:solidFill>
                  <a:srgbClr val="1A6FE0"/>
                </a:solidFill>
                <a:latin typeface="Century Gothic"/>
              </a:rPr>
              <a:t>+4,1%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5669280"/>
            <a:ext cx="3429000" cy="51206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3C3C3C"/>
                </a:solidFill>
                <a:latin typeface="Segoe UI"/>
              </a:rPr>
              <a:t>Massa de rendimentos real em 12 meses (era ~7% na virada do ano)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6B6B6B"/>
                </a:solidFill>
                <a:latin typeface="Segoe UI"/>
              </a:rPr>
              <a:t>Fonte: IBGE (PNAD Contínua) e Ipea (Carta de Conjuntura nº 72). Elaboração própria.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5989320"/>
            <a:ext cx="2508069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3504" y="214884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4000" b="1" i="0">
                <a:solidFill>
                  <a:srgbClr val="8FB8F2"/>
                </a:solidFill>
                <a:latin typeface="Century Gothic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788920"/>
            <a:ext cx="7863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Century Gothic"/>
              </a:rPr>
              <a:t>Consumo das famílias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4069080"/>
            <a:ext cx="3657600" cy="0"/>
          </a:xfrm>
          <a:prstGeom prst="line">
            <a:avLst/>
          </a:prstGeom>
          <a:ln w="22225">
            <a:solidFill>
              <a:srgbClr val="1A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4206240"/>
            <a:ext cx="768096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0" i="0">
                <a:solidFill>
                  <a:srgbClr val="D9DCE6"/>
                </a:solidFill>
                <a:latin typeface="Segoe UI"/>
              </a:rPr>
              <a:t>Renda em alta e desemprego baixo, mas o consumo perdeu fôlego: o que está por trás?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01752"/>
            <a:ext cx="1040457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84080" y="301752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0" i="0">
                <a:solidFill>
                  <a:srgbClr val="6B6B6B"/>
                </a:solidFill>
                <a:latin typeface="Segoe UI"/>
              </a:rPr>
              <a:t>Outubro/2026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sz="3000" b="0" i="0">
                <a:solidFill>
                  <a:srgbClr val="1A1A1A"/>
                </a:solidFill>
                <a:latin typeface="Century Gothic"/>
              </a:rPr>
              <a:t>O paradoxo: </a:t>
            </a:r>
            <a:r>
              <a:rPr sz="3000" b="0" i="0">
                <a:solidFill>
                  <a:srgbClr val="1A6FE0"/>
                </a:solidFill>
                <a:latin typeface="Century Gothic"/>
              </a:rPr>
              <a:t>renda cresce, consumo desacelera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1298448"/>
            <a:ext cx="1828800" cy="0"/>
          </a:xfrm>
          <a:prstGeom prst="line">
            <a:avLst/>
          </a:prstGeom>
          <a:ln w="22225">
            <a:solidFill>
              <a:srgbClr val="1A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110996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>
                <a:solidFill>
                  <a:srgbClr val="3C3C3C"/>
                </a:solidFill>
                <a:latin typeface="Segoe UI"/>
              </a:rPr>
              <a:t>A renda disponível das famílias cresceu 4,2% em termos reais, mas o consumo avançou só 0,9%. A diferença virou poupança: a taxa subiu para 13% da renda, a maior fora da pandemia.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694944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i="0">
                <a:solidFill>
                  <a:srgbClr val="1A6FE0"/>
                </a:solidFill>
                <a:latin typeface="Segoe UI"/>
              </a:rPr>
              <a:t>Consumo das famílias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05456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 i="0">
                <a:solidFill>
                  <a:srgbClr val="6B6B6B"/>
                </a:solidFill>
                <a:latin typeface="Segoe UI"/>
              </a:rPr>
              <a:t>Crescimento acumulado em 4 trimestres, %, 1T19 a 2T26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2788920"/>
          <a:ext cx="70408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863840" y="2194560"/>
            <a:ext cx="379476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65008" y="2304288"/>
            <a:ext cx="342900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000" b="1" i="0">
                <a:solidFill>
                  <a:srgbClr val="1E8E3E"/>
                </a:solidFill>
                <a:latin typeface="Century Gothic"/>
              </a:rPr>
              <a:t>+4,2%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5008" y="2871215"/>
            <a:ext cx="3429000" cy="51206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3C3C3C"/>
                </a:solidFill>
                <a:latin typeface="Segoe UI"/>
              </a:rPr>
              <a:t>Renda disponível bruta das famílias (real), 4 trimestres até o 2T26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593592"/>
            <a:ext cx="379476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65008" y="3703320"/>
            <a:ext cx="342900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000" b="1" i="0">
                <a:solidFill>
                  <a:srgbClr val="F28C00"/>
                </a:solidFill>
                <a:latin typeface="Century Gothic"/>
              </a:rPr>
              <a:t>13,0%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4270248"/>
            <a:ext cx="3429000" cy="51206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3C3C3C"/>
                </a:solidFill>
                <a:latin typeface="Segoe UI"/>
              </a:rPr>
              <a:t>Taxa de poupança das famílias (10,1% no fim de 2024)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4992624"/>
            <a:ext cx="379476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65008" y="5102352"/>
            <a:ext cx="342900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000" b="1" i="0">
                <a:solidFill>
                  <a:srgbClr val="C62828"/>
                </a:solidFill>
                <a:latin typeface="Century Gothic"/>
              </a:rPr>
              <a:t>0,9%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5669280"/>
            <a:ext cx="3429000" cy="51206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3C3C3C"/>
                </a:solidFill>
                <a:latin typeface="Segoe UI"/>
              </a:rPr>
              <a:t>Consumo das famílias em 4 trimestres (5,1% no fim de 2024)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6B6B6B"/>
                </a:solidFill>
                <a:latin typeface="Segoe UI"/>
              </a:rPr>
              <a:t>Fonte: IBGE, BCB e Ipea (Carta de Conjuntura nº 72, Box 1). Elaboração própria.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01752"/>
            <a:ext cx="1040457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84080" y="301752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0" i="0">
                <a:solidFill>
                  <a:srgbClr val="6B6B6B"/>
                </a:solidFill>
                <a:latin typeface="Segoe UI"/>
              </a:rPr>
              <a:t>Outubro/2026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sz="3000" b="0" i="0">
                <a:solidFill>
                  <a:srgbClr val="1A1A1A"/>
                </a:solidFill>
                <a:latin typeface="Century Gothic"/>
              </a:rPr>
              <a:t>Endividamento e </a:t>
            </a:r>
            <a:r>
              <a:rPr sz="3000" b="0" i="0">
                <a:solidFill>
                  <a:srgbClr val="1A6FE0"/>
                </a:solidFill>
                <a:latin typeface="Century Gothic"/>
              </a:rPr>
              <a:t>comprometimento de renda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1298448"/>
            <a:ext cx="1828800" cy="0"/>
          </a:xfrm>
          <a:prstGeom prst="line">
            <a:avLst/>
          </a:prstGeom>
          <a:ln w="22225">
            <a:solidFill>
              <a:srgbClr val="1A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110996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>
                <a:solidFill>
                  <a:srgbClr val="3C3C3C"/>
                </a:solidFill>
                <a:latin typeface="Segoe UI"/>
              </a:rPr>
              <a:t>O endividamento ficou estável, mas o serviço da dívida subiu com os juros: as famílias destinam parcela recorde da renda ao pagamento de juros e amortizações, o que reduz a renda livre para consumir.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7040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i="0">
                <a:solidFill>
                  <a:srgbClr val="1A6FE0"/>
                </a:solidFill>
                <a:latin typeface="Segoe UI"/>
              </a:rPr>
              <a:t>Endividamento e comprometimento de renda, exceto crédito imobiliário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05456"/>
            <a:ext cx="7040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 i="0">
                <a:solidFill>
                  <a:srgbClr val="6B6B6B"/>
                </a:solidFill>
                <a:latin typeface="Segoe UI"/>
              </a:rPr>
              <a:t>% da renda — mar/05 a jul/26; comprometimento com ajuste sazonal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2788920"/>
          <a:ext cx="71323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955279" y="2194560"/>
            <a:ext cx="37033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56448" y="2304288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000" b="1" i="0">
                <a:solidFill>
                  <a:srgbClr val="C62828"/>
                </a:solidFill>
                <a:latin typeface="Century Gothic"/>
              </a:rPr>
              <a:t>28,7%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2871215"/>
            <a:ext cx="3337560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3C3C3C"/>
                </a:solidFill>
                <a:latin typeface="Segoe UI"/>
              </a:rPr>
              <a:t>Comprometimento total da renda (jul/26): recorde da série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3520440"/>
            <a:ext cx="37033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56448" y="3630168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000" b="1" i="0">
                <a:solidFill>
                  <a:srgbClr val="F28C00"/>
                </a:solidFill>
                <a:latin typeface="Century Gothic"/>
              </a:rPr>
              <a:t>49,9%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4197096"/>
            <a:ext cx="3337560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3C3C3C"/>
                </a:solidFill>
                <a:latin typeface="Segoe UI"/>
              </a:rPr>
              <a:t>Endividamento total, incluindo imobiliário (jul/26), perto do recorde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4846320"/>
            <a:ext cx="37033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56448" y="4937760"/>
            <a:ext cx="3337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Segoe UI"/>
              </a:rPr>
              <a:t>Canal do fluxo de caixa: </a:t>
            </a:r>
            <a:r>
              <a:rPr sz="1300" b="0" i="0">
                <a:solidFill>
                  <a:srgbClr val="3C3C3C"/>
                </a:solidFill>
                <a:latin typeface="Segoe UI"/>
              </a:rPr>
              <a:t>dívidas curtas, rotativo e repactuações fazem a Selic chegar rápido ao serviço da dívida. As bets drenam o mesmo fluxo de caixa.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6B6B6B"/>
                </a:solidFill>
                <a:latin typeface="Segoe UI"/>
              </a:rPr>
              <a:t>Fonte: BCB (SGS 29034, 29035, 29037 e 29038). Elaboração própria, a partir do Gráfico 1.1 do Ipea (Carta nº 72).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01752"/>
            <a:ext cx="1040457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84080" y="301752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0" i="0">
                <a:solidFill>
                  <a:srgbClr val="6B6B6B"/>
                </a:solidFill>
                <a:latin typeface="Segoe UI"/>
              </a:rPr>
              <a:t>Outubro/2026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sz="3000" b="0" i="0">
                <a:solidFill>
                  <a:srgbClr val="1A1A1A"/>
                </a:solidFill>
                <a:latin typeface="Century Gothic"/>
              </a:rPr>
              <a:t>Crédito caro e </a:t>
            </a:r>
            <a:r>
              <a:rPr sz="3000" b="0" i="0">
                <a:solidFill>
                  <a:srgbClr val="1A6FE0"/>
                </a:solidFill>
                <a:latin typeface="Century Gothic"/>
              </a:rPr>
              <a:t>inadimplência recorde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1298448"/>
            <a:ext cx="1828800" cy="0"/>
          </a:xfrm>
          <a:prstGeom prst="line">
            <a:avLst/>
          </a:prstGeom>
          <a:ln w="22225">
            <a:solidFill>
              <a:srgbClr val="1A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110996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>
                <a:solidFill>
                  <a:srgbClr val="3C3C3C"/>
                </a:solidFill>
                <a:latin typeface="Segoe UI"/>
              </a:rPr>
              <a:t>Juros altos e mais uso de modalidades emergenciais (cartão rotativo, cheque especial) elevam o custo da dívida. A inadimplência das pessoas físicas atingiu o maior nível da série.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i="0">
                <a:solidFill>
                  <a:srgbClr val="1A6FE0"/>
                </a:solidFill>
                <a:latin typeface="Segoe UI"/>
              </a:rPr>
              <a:t>Taxa média de juros – pessoas físicas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0545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 i="0">
                <a:solidFill>
                  <a:srgbClr val="6B6B6B"/>
                </a:solidFill>
                <a:latin typeface="Segoe UI"/>
              </a:rPr>
              <a:t>% ao ano, mar/14 a ago/26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2788920"/>
          <a:ext cx="557784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55080" y="2194560"/>
            <a:ext cx="530352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i="0">
                <a:solidFill>
                  <a:srgbClr val="1A6FE0"/>
                </a:solidFill>
                <a:latin typeface="Segoe UI"/>
              </a:rPr>
              <a:t>Inadimplência – pessoas físicas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505456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 i="0">
                <a:solidFill>
                  <a:srgbClr val="6B6B6B"/>
                </a:solidFill>
                <a:latin typeface="Segoe UI"/>
              </a:rPr>
              <a:t>% da carteira com atraso &gt; 90 dias, mar/14 a ago/26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263640" y="2788920"/>
          <a:ext cx="54406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6B6B6B"/>
                </a:solidFill>
                <a:latin typeface="Segoe UI"/>
              </a:rPr>
              <a:t>Fonte: BCB (Estatísticas Monetárias e de Crédito). Elaboração própria. Nota: a Resolução CMN 4.966 (jan/25) explica cerca de 40% da alta recente da inadimplência.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01752"/>
            <a:ext cx="1040457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84080" y="301752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0" i="0">
                <a:solidFill>
                  <a:srgbClr val="6B6B6B"/>
                </a:solidFill>
                <a:latin typeface="Segoe UI"/>
              </a:rPr>
              <a:t>Outubro/2026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sz="3000" b="0" i="0">
                <a:solidFill>
                  <a:srgbClr val="1A1A1A"/>
                </a:solidFill>
                <a:latin typeface="Century Gothic"/>
              </a:rPr>
              <a:t>Drivers do consumo </a:t>
            </a:r>
            <a:r>
              <a:rPr sz="3000" b="0" i="0">
                <a:solidFill>
                  <a:srgbClr val="1A6FE0"/>
                </a:solidFill>
                <a:latin typeface="Century Gothic"/>
              </a:rPr>
              <a:t>para 2027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1298448"/>
            <a:ext cx="1828800" cy="0"/>
          </a:xfrm>
          <a:prstGeom prst="line">
            <a:avLst/>
          </a:prstGeom>
          <a:ln w="22225">
            <a:solidFill>
              <a:srgbClr val="1A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110996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>
                <a:solidFill>
                  <a:srgbClr val="3C3C3C"/>
                </a:solidFill>
                <a:latin typeface="Segoe UI"/>
              </a:rPr>
              <a:t>O consumo deve voltar a acelerar devagar: os impulsos de renda e juros competem com o peso da dívida.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 i="0">
                <a:solidFill>
                  <a:srgbClr val="1E8E3E"/>
                </a:solidFill>
                <a:latin typeface="Century Gothic"/>
              </a:rPr>
              <a:t>Impulsos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42032"/>
            <a:ext cx="54406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694944" y="2688336"/>
            <a:ext cx="365760" cy="365760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7" y="2587751"/>
            <a:ext cx="466344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 i="0">
                <a:solidFill>
                  <a:srgbClr val="1A1A1A"/>
                </a:solidFill>
                <a:latin typeface="Segoe UI"/>
              </a:rPr>
              <a:t>Selic em queda: </a:t>
            </a:r>
            <a:r>
              <a:rPr sz="1300" b="0" i="0">
                <a:solidFill>
                  <a:srgbClr val="3C3C3C"/>
                </a:solidFill>
                <a:latin typeface="Segoe UI"/>
              </a:rPr>
              <a:t>de 15,00% para 13,75%; ciclo gradual deve seguir em 2027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00984"/>
            <a:ext cx="54406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694944" y="3447288"/>
            <a:ext cx="365760" cy="365760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3346703"/>
            <a:ext cx="466344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 i="0">
                <a:solidFill>
                  <a:srgbClr val="1A1A1A"/>
                </a:solidFill>
                <a:latin typeface="Segoe UI"/>
              </a:rPr>
              <a:t>Bolsa Família: </a:t>
            </a:r>
            <a:r>
              <a:rPr sz="1300" b="0" i="0">
                <a:solidFill>
                  <a:srgbClr val="3C3C3C"/>
                </a:solidFill>
                <a:latin typeface="Segoe UI"/>
              </a:rPr>
              <a:t>reajuste de ~15% nos benefícios a partir de outubro/26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59935"/>
            <a:ext cx="54406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Oval 14"/>
          <p:cNvSpPr/>
          <p:nvPr/>
        </p:nvSpPr>
        <p:spPr>
          <a:xfrm>
            <a:off x="694944" y="4206240"/>
            <a:ext cx="365760" cy="365760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4105655"/>
            <a:ext cx="466344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 i="0">
                <a:solidFill>
                  <a:srgbClr val="1A1A1A"/>
                </a:solidFill>
                <a:latin typeface="Segoe UI"/>
              </a:rPr>
              <a:t>Fim das bets: </a:t>
            </a:r>
            <a:r>
              <a:rPr sz="1300" b="0" i="0">
                <a:solidFill>
                  <a:srgbClr val="3C3C3C"/>
                </a:solidFill>
                <a:latin typeface="Segoe UI"/>
              </a:rPr>
              <a:t>MP 1.394 bloqueia as plataformas; R$ 37 bi em 2025 (0,4% da renda)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18888"/>
            <a:ext cx="54406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694944" y="4965192"/>
            <a:ext cx="365760" cy="365760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864607"/>
            <a:ext cx="466344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 i="0">
                <a:solidFill>
                  <a:srgbClr val="1A1A1A"/>
                </a:solidFill>
                <a:latin typeface="Segoe UI"/>
              </a:rPr>
              <a:t>Novo Desenrola: </a:t>
            </a:r>
            <a:r>
              <a:rPr sz="1300" b="0" i="0">
                <a:solidFill>
                  <a:srgbClr val="3C3C3C"/>
                </a:solidFill>
                <a:latin typeface="Segoe UI"/>
              </a:rPr>
              <a:t>renegociação de dívidas a partir de fevereiro/27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77840"/>
            <a:ext cx="54406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Oval 20"/>
          <p:cNvSpPr/>
          <p:nvPr/>
        </p:nvSpPr>
        <p:spPr>
          <a:xfrm>
            <a:off x="694944" y="5724144"/>
            <a:ext cx="365760" cy="365760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7" y="5623559"/>
            <a:ext cx="466344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 i="0">
                <a:solidFill>
                  <a:srgbClr val="1A1A1A"/>
                </a:solidFill>
                <a:latin typeface="Segoe UI"/>
              </a:rPr>
              <a:t>Renda do trabalho: </a:t>
            </a:r>
            <a:r>
              <a:rPr sz="1300" b="0" i="0">
                <a:solidFill>
                  <a:srgbClr val="3C3C3C"/>
                </a:solidFill>
                <a:latin typeface="Segoe UI"/>
              </a:rPr>
              <a:t>desemprego baixo e massa salarial ainda em alta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05740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 i="0">
                <a:solidFill>
                  <a:srgbClr val="C62828"/>
                </a:solidFill>
                <a:latin typeface="Century Gothic"/>
              </a:rPr>
              <a:t>Freios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542032"/>
            <a:ext cx="54406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64224" y="2688336"/>
            <a:ext cx="365760" cy="36576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2587751"/>
            <a:ext cx="466344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 i="0">
                <a:solidFill>
                  <a:srgbClr val="1A1A1A"/>
                </a:solidFill>
                <a:latin typeface="Segoe UI"/>
              </a:rPr>
              <a:t>Serviço da dívida: </a:t>
            </a:r>
            <a:r>
              <a:rPr sz="1300" b="0" i="0">
                <a:solidFill>
                  <a:srgbClr val="3C3C3C"/>
                </a:solidFill>
                <a:latin typeface="Segoe UI"/>
              </a:rPr>
              <a:t>comprometimento de renda recorde (28,7%)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300984"/>
            <a:ext cx="54406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Oval 27"/>
          <p:cNvSpPr/>
          <p:nvPr/>
        </p:nvSpPr>
        <p:spPr>
          <a:xfrm>
            <a:off x="6364224" y="3447288"/>
            <a:ext cx="365760" cy="36576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6288" y="3346703"/>
            <a:ext cx="466344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 i="0">
                <a:solidFill>
                  <a:srgbClr val="1A1A1A"/>
                </a:solidFill>
                <a:latin typeface="Segoe UI"/>
              </a:rPr>
              <a:t>Inadimplência: </a:t>
            </a:r>
            <a:r>
              <a:rPr sz="1300" b="0" i="0">
                <a:solidFill>
                  <a:srgbClr val="3C3C3C"/>
                </a:solidFill>
                <a:latin typeface="Segoe UI"/>
              </a:rPr>
              <a:t>PF em 8,0%, máxima da série; bancos mais seletivos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059935"/>
            <a:ext cx="54406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Oval 30"/>
          <p:cNvSpPr/>
          <p:nvPr/>
        </p:nvSpPr>
        <p:spPr>
          <a:xfrm>
            <a:off x="6364224" y="4206240"/>
            <a:ext cx="365760" cy="36576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4105655"/>
            <a:ext cx="466344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 i="0">
                <a:solidFill>
                  <a:srgbClr val="1A1A1A"/>
                </a:solidFill>
                <a:latin typeface="Segoe UI"/>
              </a:rPr>
              <a:t>Poupança precaucional: </a:t>
            </a:r>
            <a:r>
              <a:rPr sz="1300" b="0" i="0">
                <a:solidFill>
                  <a:srgbClr val="3C3C3C"/>
                </a:solidFill>
                <a:latin typeface="Segoe UI"/>
              </a:rPr>
              <a:t>incerteza pós-eleitoral, fiscal e geopolítica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818888"/>
            <a:ext cx="54406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Oval 33"/>
          <p:cNvSpPr/>
          <p:nvPr/>
        </p:nvSpPr>
        <p:spPr>
          <a:xfrm>
            <a:off x="6364224" y="4965192"/>
            <a:ext cx="365760" cy="36576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6288" y="4864607"/>
            <a:ext cx="466344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 i="0">
                <a:solidFill>
                  <a:srgbClr val="1A1A1A"/>
                </a:solidFill>
                <a:latin typeface="Segoe UI"/>
              </a:rPr>
              <a:t>Mercado de trabalho no limite: </a:t>
            </a:r>
            <a:r>
              <a:rPr sz="1300" b="0" i="0">
                <a:solidFill>
                  <a:srgbClr val="3C3C3C"/>
                </a:solidFill>
                <a:latin typeface="Segoe UI"/>
              </a:rPr>
              <a:t>pouca mão de obra ociosa; massa salarial desacelera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577840"/>
            <a:ext cx="54406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Oval 36"/>
          <p:cNvSpPr/>
          <p:nvPr/>
        </p:nvSpPr>
        <p:spPr>
          <a:xfrm>
            <a:off x="6364224" y="5724144"/>
            <a:ext cx="365760" cy="36576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76288" y="5623559"/>
            <a:ext cx="466344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 i="0">
                <a:solidFill>
                  <a:srgbClr val="1A1A1A"/>
                </a:solidFill>
                <a:latin typeface="Segoe UI"/>
              </a:rPr>
              <a:t>Inflação de alimentos e energia: </a:t>
            </a:r>
            <a:r>
              <a:rPr sz="1300" b="0" i="0">
                <a:solidFill>
                  <a:srgbClr val="3C3C3C"/>
                </a:solidFill>
                <a:latin typeface="Segoe UI"/>
              </a:rPr>
              <a:t>riscos de petróleo e El Niño corroem a renda real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6B6B6B"/>
                </a:solidFill>
                <a:latin typeface="Segoe UI"/>
              </a:rPr>
              <a:t>Projeção do Ipea para o consumo das famílias: +1,0% em 2026 e +1,5% em 2027. Fontes: Ipea (Carta nº 72) e BCB (RPM set/2026).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5989320"/>
            <a:ext cx="2508069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3504" y="214884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4000" b="1" i="0">
                <a:solidFill>
                  <a:srgbClr val="8FB8F2"/>
                </a:solidFill>
                <a:latin typeface="Century Gothic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788920"/>
            <a:ext cx="7863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Century Gothic"/>
              </a:rPr>
              <a:t>Contas públicas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4069080"/>
            <a:ext cx="3657600" cy="0"/>
          </a:xfrm>
          <a:prstGeom prst="line">
            <a:avLst/>
          </a:prstGeom>
          <a:ln w="22225">
            <a:solidFill>
              <a:srgbClr val="1A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4206240"/>
            <a:ext cx="768096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0" i="0">
                <a:solidFill>
                  <a:srgbClr val="D9DCE6"/>
                </a:solidFill>
                <a:latin typeface="Segoe UI"/>
              </a:rPr>
              <a:t>O ajuste de 2027 é inevitável, qualquer que seja o governo: a dívida segue em alta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01752"/>
            <a:ext cx="1040457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84080" y="301752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0" i="0">
                <a:solidFill>
                  <a:srgbClr val="6B6B6B"/>
                </a:solidFill>
                <a:latin typeface="Segoe UI"/>
              </a:rPr>
              <a:t>Outubro/2026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sz="3000" b="0" i="0">
                <a:solidFill>
                  <a:srgbClr val="1A1A1A"/>
                </a:solidFill>
                <a:latin typeface="Century Gothic"/>
              </a:rPr>
              <a:t>2027: governo e mercado </a:t>
            </a:r>
            <a:r>
              <a:rPr sz="3000" b="0" i="0">
                <a:solidFill>
                  <a:srgbClr val="1A6FE0"/>
                </a:solidFill>
                <a:latin typeface="Century Gothic"/>
              </a:rPr>
              <a:t>divergem sobre o primário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1298448"/>
            <a:ext cx="1828800" cy="0"/>
          </a:xfrm>
          <a:prstGeom prst="line">
            <a:avLst/>
          </a:prstGeom>
          <a:ln w="22225">
            <a:solidFill>
              <a:srgbClr val="1A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110996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>
                <a:solidFill>
                  <a:srgbClr val="3C3C3C"/>
                </a:solidFill>
                <a:latin typeface="Segoe UI"/>
              </a:rPr>
              <a:t>O orçamento de 2027 prevê superávit e cumprimento da meta; a mediana do mercado espera déficit e resultado abaixo do piso. As despesas obrigatórias crescem acima do limite do arcabouço.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603504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i="0">
                <a:solidFill>
                  <a:srgbClr val="1A6FE0"/>
                </a:solidFill>
                <a:latin typeface="Segoe UI"/>
              </a:rPr>
              <a:t>Resultado primário do Governo Central em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05456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 i="0">
                <a:solidFill>
                  <a:srgbClr val="6B6B6B"/>
                </a:solidFill>
                <a:latin typeface="Segoe UI"/>
              </a:rPr>
              <a:t>R$ bilhões — PLOA 2027 x mediana de mercado (QPC)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2788920"/>
          <a:ext cx="61264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949440" y="2194560"/>
            <a:ext cx="47091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78040" y="2377440"/>
            <a:ext cx="4297680" cy="3840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</a:rPr>
              <a:t>Meta 2027: </a:t>
            </a:r>
            <a:r>
              <a:rPr sz="1400" b="0" i="0">
                <a:solidFill>
                  <a:srgbClr val="3C3C3C"/>
                </a:solidFill>
                <a:latin typeface="Segoe UI"/>
              </a:rPr>
              <a:t>superávit de R$ 73 bi (0,5% do PIB); piso de R$ 37 bi</a:t>
            </a:r>
          </a:p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</a:rPr>
              <a:t>Despesas obrigatórias: </a:t>
            </a:r>
            <a:r>
              <a:rPr sz="1400" b="0" i="0">
                <a:solidFill>
                  <a:srgbClr val="3C3C3C"/>
                </a:solidFill>
                <a:latin typeface="Segoe UI"/>
              </a:rPr>
              <a:t>previdência +4,0% e pessoal +6,7% reais no ano, acima do limite de 2,5%</a:t>
            </a:r>
          </a:p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</a:rPr>
              <a:t>Emendas: </a:t>
            </a:r>
            <a:r>
              <a:rPr sz="1400" b="0" i="0">
                <a:solidFill>
                  <a:srgbClr val="3C3C3C"/>
                </a:solidFill>
                <a:latin typeface="Segoe UI"/>
              </a:rPr>
              <a:t>despesas discricionárias +44,6% reais até julho</a:t>
            </a:r>
          </a:p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</a:rPr>
              <a:t>Medidas recentes: </a:t>
            </a:r>
            <a:r>
              <a:rPr sz="1400" b="0" i="0">
                <a:solidFill>
                  <a:srgbClr val="3C3C3C"/>
                </a:solidFill>
                <a:latin typeface="Segoe UI"/>
              </a:rPr>
              <a:t>Bolsa Família e fim das bets custam R$ 27,8 bi frente ao PLOA</a:t>
            </a:r>
          </a:p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</a:rPr>
              <a:t>LC 235/2026: </a:t>
            </a:r>
            <a:r>
              <a:rPr sz="1400" b="0" i="0">
                <a:solidFill>
                  <a:srgbClr val="3C3C3C"/>
                </a:solidFill>
                <a:latin typeface="Segoe UI"/>
              </a:rPr>
              <a:t>gatilhos contêm ~R$ 9 bi de despesas obrigatórias em 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6B6B6B"/>
                </a:solidFill>
                <a:latin typeface="Segoe UI"/>
              </a:rPr>
              <a:t>Fonte: BCB (RPM set/2026), STN e Ipea (Carta de Conjuntura nº 72). Elaboração própria.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01752"/>
            <a:ext cx="1040457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84080" y="301752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0" i="0">
                <a:solidFill>
                  <a:srgbClr val="6B6B6B"/>
                </a:solidFill>
                <a:latin typeface="Segoe UI"/>
              </a:rPr>
              <a:t>Outubro/2026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sz="3000" b="0" i="0">
                <a:solidFill>
                  <a:srgbClr val="1A1A1A"/>
                </a:solidFill>
                <a:latin typeface="Century Gothic"/>
              </a:rPr>
              <a:t>Dívida pública: </a:t>
            </a:r>
            <a:r>
              <a:rPr sz="3000" b="0" i="0">
                <a:solidFill>
                  <a:srgbClr val="1A6FE0"/>
                </a:solidFill>
                <a:latin typeface="Century Gothic"/>
              </a:rPr>
              <a:t>trajetória ainda ascendente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1298448"/>
            <a:ext cx="1828800" cy="0"/>
          </a:xfrm>
          <a:prstGeom prst="line">
            <a:avLst/>
          </a:prstGeom>
          <a:ln w="22225">
            <a:solidFill>
              <a:srgbClr val="1A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110996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>
                <a:solidFill>
                  <a:srgbClr val="3C3C3C"/>
                </a:solidFill>
                <a:latin typeface="Segoe UI"/>
              </a:rPr>
              <a:t>A dívida bruta chegou a 82,9% do PIB em agosto. O mercado projeta 95% em 2030 e 100% em 2033; o Tesouro vê pico de 88% em 2029. Com juros implícitos de ~13% a.a., a dívida cresce mesmo com déficit pequeno.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7498079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i="0">
                <a:solidFill>
                  <a:srgbClr val="1A6FE0"/>
                </a:solidFill>
                <a:latin typeface="Segoe UI"/>
              </a:rPr>
              <a:t>Dívida bruta (DBGG) e líquida (DLSP) do setor público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05456"/>
            <a:ext cx="749807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 i="0">
                <a:solidFill>
                  <a:srgbClr val="6B6B6B"/>
                </a:solidFill>
                <a:latin typeface="Segoe UI"/>
              </a:rPr>
              <a:t>% do PIB, fim de ano (2026: agosto) e projeções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2788920"/>
          <a:ext cx="75895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412480" y="2194560"/>
            <a:ext cx="324612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13648" y="2304288"/>
            <a:ext cx="288036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600" b="1" i="0">
                <a:solidFill>
                  <a:srgbClr val="C62828"/>
                </a:solidFill>
                <a:latin typeface="Century Gothic"/>
              </a:rPr>
              <a:t>~13% a.a.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648" y="2871215"/>
            <a:ext cx="2880360" cy="51206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3C3C3C"/>
                </a:solidFill>
                <a:latin typeface="Segoe UI"/>
              </a:rPr>
              <a:t>Taxa implícita da dívida bruta (ago/26)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3593592"/>
            <a:ext cx="324612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13648" y="3703320"/>
            <a:ext cx="288036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600" b="1" i="0">
                <a:solidFill>
                  <a:srgbClr val="F28C00"/>
                </a:solidFill>
                <a:latin typeface="Century Gothic"/>
              </a:rPr>
              <a:t>15,0%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13648" y="4270248"/>
            <a:ext cx="2880360" cy="51206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3C3C3C"/>
                </a:solidFill>
                <a:latin typeface="Segoe UI"/>
              </a:rPr>
              <a:t>Custo da LFT em 12 meses; pós-fixados dominam a dívida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4992624"/>
            <a:ext cx="324612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59" y="5074920"/>
            <a:ext cx="2926080" cy="114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>
                <a:solidFill>
                  <a:srgbClr val="1A1A1A"/>
                </a:solidFill>
                <a:latin typeface="Segoe UI"/>
              </a:rPr>
              <a:t>Regra de bolso: </a:t>
            </a:r>
            <a:r>
              <a:rPr sz="1200" b="0" i="0">
                <a:solidFill>
                  <a:srgbClr val="3C3C3C"/>
                </a:solidFill>
                <a:latin typeface="Segoe UI"/>
              </a:rPr>
              <a:t>se os juros superam o crescimento nominal do PIB, a dívida só se estabiliza com superávit primário.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6B6B6B"/>
                </a:solidFill>
                <a:latin typeface="Segoe UI"/>
              </a:rPr>
              <a:t>Fonte: BCB (SGS 13762 e 4513; Focus de 11/09/2026), Tesouro Nacional (RPF 1º sem./2026) e Ipea. Elaboração própria.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5989320"/>
            <a:ext cx="2508069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3504" y="214884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4000" b="1" i="0">
                <a:solidFill>
                  <a:srgbClr val="8FB8F2"/>
                </a:solidFill>
                <a:latin typeface="Century Gothic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788920"/>
            <a:ext cx="7863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Century Gothic"/>
              </a:rPr>
              <a:t>Produtividade e educação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4069080"/>
            <a:ext cx="3657600" cy="0"/>
          </a:xfrm>
          <a:prstGeom prst="line">
            <a:avLst/>
          </a:prstGeom>
          <a:ln w="22225">
            <a:solidFill>
              <a:srgbClr val="1A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4206240"/>
            <a:ext cx="768096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0" i="0">
                <a:solidFill>
                  <a:srgbClr val="D9DCE6"/>
                </a:solidFill>
                <a:latin typeface="Segoe UI"/>
              </a:rPr>
              <a:t>Sem ganho de produtividade, o crescimento potencial do Brasil segue perto de 2% ao ano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01752"/>
            <a:ext cx="1040457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84080" y="301752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0" i="0">
                <a:solidFill>
                  <a:srgbClr val="6B6B6B"/>
                </a:solidFill>
                <a:latin typeface="Segoe UI"/>
              </a:rPr>
              <a:t>Outubro/2026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sz="3000" b="0" i="0">
                <a:solidFill>
                  <a:srgbClr val="1A1A1A"/>
                </a:solidFill>
                <a:latin typeface="Century Gothic"/>
              </a:rPr>
              <a:t>Produtividade do trabalho: </a:t>
            </a:r>
            <a:r>
              <a:rPr sz="3000" b="0" i="0">
                <a:solidFill>
                  <a:srgbClr val="1A6FE0"/>
                </a:solidFill>
                <a:latin typeface="Century Gothic"/>
              </a:rPr>
              <a:t>três décadas de estagnação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1298448"/>
            <a:ext cx="1828800" cy="0"/>
          </a:xfrm>
          <a:prstGeom prst="line">
            <a:avLst/>
          </a:prstGeom>
          <a:ln w="22225">
            <a:solidFill>
              <a:srgbClr val="1A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110996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>
                <a:solidFill>
                  <a:srgbClr val="3C3C3C"/>
                </a:solidFill>
                <a:latin typeface="Segoe UI"/>
              </a:rPr>
              <a:t>O trabalhador brasileiro produz hoje cerca de um quarto do que produz um trabalhador americano, uma proporção menor que em 1991. Coreia, Chile e China avançaram; o Brasil ficou para trás.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7498079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i="0">
                <a:solidFill>
                  <a:srgbClr val="1A6FE0"/>
                </a:solidFill>
                <a:latin typeface="Segoe UI"/>
              </a:rPr>
              <a:t>PIB por pessoa ocupada em relação aos EUA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05456"/>
            <a:ext cx="749807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 i="0">
                <a:solidFill>
                  <a:srgbClr val="6B6B6B"/>
                </a:solidFill>
                <a:latin typeface="Segoe UI"/>
              </a:rPr>
              <a:t>% (EUA = 100), em US$ PPC constantes de 2021, 1991–2025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2788920"/>
          <a:ext cx="75895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412480" y="2194560"/>
            <a:ext cx="324612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13648" y="2304288"/>
            <a:ext cx="288036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800" b="1" i="0">
                <a:solidFill>
                  <a:srgbClr val="1A6FE0"/>
                </a:solidFill>
                <a:latin typeface="Century Gothic"/>
              </a:rPr>
              <a:t>26,7%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648" y="2871215"/>
            <a:ext cx="2880360" cy="51206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3C3C3C"/>
                </a:solidFill>
                <a:latin typeface="Segoe UI"/>
              </a:rPr>
              <a:t>Produtividade do Brasil em relação aos EUA em 2025 (34,7% em 1991)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3593592"/>
            <a:ext cx="324612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13648" y="3703320"/>
            <a:ext cx="288036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600" b="1" i="0">
                <a:solidFill>
                  <a:srgbClr val="F28C00"/>
                </a:solidFill>
                <a:latin typeface="Century Gothic"/>
              </a:rPr>
              <a:t>0,8% a.a.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13648" y="4270248"/>
            <a:ext cx="2880360" cy="51206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 i="0">
                <a:solidFill>
                  <a:srgbClr val="3C3C3C"/>
                </a:solidFill>
                <a:latin typeface="Segoe UI"/>
              </a:rPr>
              <a:t>Crescimento médio da produtividade no Brasil desde 1991 (EUA: 1,6%; Coreia: 3,0%)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4992624"/>
            <a:ext cx="324612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59" y="5074920"/>
            <a:ext cx="2926080" cy="114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>
                <a:solidFill>
                  <a:srgbClr val="1A1A1A"/>
                </a:solidFill>
                <a:latin typeface="Segoe UI"/>
              </a:rPr>
              <a:t>Fontes de ganho: </a:t>
            </a:r>
            <a:r>
              <a:rPr sz="1200" b="0" i="0">
                <a:solidFill>
                  <a:srgbClr val="3C3C3C"/>
                </a:solidFill>
                <a:latin typeface="Segoe UI"/>
              </a:rPr>
              <a:t>educação, infraestrutura, abertura comercial, ambiente de negócios e crédito mais barato.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6B6B6B"/>
                </a:solidFill>
                <a:latin typeface="Segoe UI"/>
              </a:rPr>
              <a:t>Fonte: Banco Mundial, World Development Indicators (SL.GDP.PCAP.EM.KD), atualização de 08/10/2026. Elaboração própria.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01752"/>
            <a:ext cx="1040457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84080" y="301752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0" i="0">
                <a:solidFill>
                  <a:srgbClr val="6B6B6B"/>
                </a:solidFill>
                <a:latin typeface="Segoe UI"/>
              </a:rPr>
              <a:t>Outubro/2026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sz="3000" b="0" i="0">
                <a:solidFill>
                  <a:srgbClr val="1A1A1A"/>
                </a:solidFill>
                <a:latin typeface="Century Gothic"/>
              </a:rPr>
              <a:t>Educação: </a:t>
            </a:r>
            <a:r>
              <a:rPr sz="3000" b="0" i="0">
                <a:solidFill>
                  <a:srgbClr val="1A6FE0"/>
                </a:solidFill>
                <a:latin typeface="Century Gothic"/>
              </a:rPr>
              <a:t>o gargalo do capital humano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1298448"/>
            <a:ext cx="1828800" cy="0"/>
          </a:xfrm>
          <a:prstGeom prst="line">
            <a:avLst/>
          </a:prstGeom>
          <a:ln w="22225">
            <a:solidFill>
              <a:srgbClr val="1A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110996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>
                <a:solidFill>
                  <a:srgbClr val="3C3C3C"/>
                </a:solidFill>
                <a:latin typeface="Segoe UI"/>
              </a:rPr>
              <a:t>No PISA 2025, o Brasil ficou estável e reduziu a distância para a OCDE desde 2006, mas ainda está muito atrás: a diferença em matemática equivale a cerca de 4,6 anos de escolaridade.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640080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i="0">
                <a:solidFill>
                  <a:srgbClr val="1A6FE0"/>
                </a:solidFill>
                <a:latin typeface="Segoe UI"/>
              </a:rPr>
              <a:t>PISA 2025: pontuação média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0545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 i="0">
                <a:solidFill>
                  <a:srgbClr val="6B6B6B"/>
                </a:solidFill>
                <a:latin typeface="Segoe UI"/>
              </a:rPr>
              <a:t>Brasil x média da OCDE, pontos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2788920"/>
          <a:ext cx="649224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315200" y="2194560"/>
            <a:ext cx="434340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16368" y="2304288"/>
            <a:ext cx="3977639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000" b="1" i="0">
                <a:solidFill>
                  <a:srgbClr val="C62828"/>
                </a:solidFill>
                <a:latin typeface="Century Gothic"/>
              </a:rPr>
              <a:t>28%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16368" y="2871215"/>
            <a:ext cx="3977639" cy="51206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3C3C3C"/>
                </a:solidFill>
                <a:latin typeface="Segoe UI"/>
              </a:rPr>
              <a:t>dos alunos brasileiros atingem o nível básico (2) em matemática; na OCDE, 65%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3593592"/>
            <a:ext cx="434340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16368" y="3703320"/>
            <a:ext cx="3977639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600" b="1" i="0">
                <a:solidFill>
                  <a:srgbClr val="F28C00"/>
                </a:solidFill>
                <a:latin typeface="Century Gothic"/>
              </a:rPr>
              <a:t>131 → 92 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6368" y="4270248"/>
            <a:ext cx="3977639" cy="51206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3C3C3C"/>
                </a:solidFill>
                <a:latin typeface="Segoe UI"/>
              </a:rPr>
              <a:t>Distância para a OCDE em matemática, de 2006 a 2025 (≈ 20 pontos = 1 ano escolar)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4992624"/>
            <a:ext cx="434340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16368" y="5102352"/>
            <a:ext cx="3977639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600" b="1" i="0">
                <a:solidFill>
                  <a:srgbClr val="1A6FE0"/>
                </a:solidFill>
                <a:latin typeface="Century Gothic"/>
              </a:rPr>
              <a:t>406 x 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8" y="5669280"/>
            <a:ext cx="3977639" cy="51206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3C3C3C"/>
                </a:solidFill>
                <a:latin typeface="Segoe UI"/>
              </a:rPr>
              <a:t>Resolução de problemas com ferramentas digitais (novo domínio): Brasil x OCDE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6B6B6B"/>
                </a:solidFill>
                <a:latin typeface="Segoe UI"/>
              </a:rPr>
              <a:t>Fonte: OCDE, PISA 2025 Results (divulgado em 08/09/2026), via Agência Brasil e Inep. Elaboração própria.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5989320"/>
            <a:ext cx="2508069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3504" y="214884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4000" b="1" i="0">
                <a:solidFill>
                  <a:srgbClr val="8FB8F2"/>
                </a:solidFill>
                <a:latin typeface="Century Gothic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788920"/>
            <a:ext cx="7863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Century Gothic"/>
              </a:rPr>
              <a:t>Agenda 2027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4069080"/>
            <a:ext cx="3657600" cy="0"/>
          </a:xfrm>
          <a:prstGeom prst="line">
            <a:avLst/>
          </a:prstGeom>
          <a:ln w="22225">
            <a:solidFill>
              <a:srgbClr val="1A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4206240"/>
            <a:ext cx="768096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0" i="0">
                <a:solidFill>
                  <a:srgbClr val="D9DCE6"/>
                </a:solidFill>
                <a:latin typeface="Segoe UI"/>
              </a:rPr>
              <a:t>O que observar no primeiro ano do novo governo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01752"/>
            <a:ext cx="1040457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84080" y="301752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0" i="0">
                <a:solidFill>
                  <a:srgbClr val="6B6B6B"/>
                </a:solidFill>
                <a:latin typeface="Segoe UI"/>
              </a:rPr>
              <a:t>Outubro/2026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sz="3000" b="0" i="0">
                <a:solidFill>
                  <a:srgbClr val="1A1A1A"/>
                </a:solidFill>
                <a:latin typeface="Century Gothic"/>
              </a:rPr>
              <a:t>Agenda econômica: </a:t>
            </a:r>
            <a:r>
              <a:rPr sz="3000" b="0" i="0">
                <a:solidFill>
                  <a:srgbClr val="1A6FE0"/>
                </a:solidFill>
                <a:latin typeface="Century Gothic"/>
              </a:rPr>
              <a:t>o que observar em 2027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1298448"/>
            <a:ext cx="1828800" cy="0"/>
          </a:xfrm>
          <a:prstGeom prst="line">
            <a:avLst/>
          </a:prstGeom>
          <a:ln w="22225">
            <a:solidFill>
              <a:srgbClr val="1A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600200"/>
            <a:ext cx="35204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749808" y="1801368"/>
            <a:ext cx="420624" cy="420624"/>
          </a:xfrm>
          <a:prstGeom prst="ellipse">
            <a:avLst/>
          </a:prstGeom>
          <a:solidFill>
            <a:srgbClr val="1A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78308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1A1A1A"/>
                </a:solidFill>
                <a:latin typeface="Century Gothic"/>
              </a:rPr>
              <a:t>Regra fiscal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310896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3C3C3C"/>
                </a:solidFill>
                <a:latin typeface="Segoe UI"/>
              </a:rPr>
              <a:t>Meta de 0,5% do PIB, gatilhos da LC 235 e revisão de despesas obrigatórias (previdência, pisos, vinculações).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832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>
                <a:solidFill>
                  <a:srgbClr val="1A6FE0"/>
                </a:solidFill>
                <a:latin typeface="Segoe UI"/>
              </a:rPr>
              <a:t>Indicador: </a:t>
            </a:r>
            <a:r>
              <a:rPr sz="1200" b="0" i="0">
                <a:solidFill>
                  <a:srgbClr val="1A6FE0"/>
                </a:solidFill>
                <a:latin typeface="Segoe UI"/>
              </a:rPr>
              <a:t>Primário e DBGG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600200"/>
            <a:ext cx="35204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4498847" y="1801368"/>
            <a:ext cx="420624" cy="420624"/>
          </a:xfrm>
          <a:prstGeom prst="ellipse">
            <a:avLst/>
          </a:prstGeom>
          <a:solidFill>
            <a:srgbClr val="1A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7488" y="178308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1A1A1A"/>
                </a:solidFill>
                <a:latin typeface="Century Gothic"/>
              </a:rPr>
              <a:t>Juros e inflação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2377440"/>
            <a:ext cx="310896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3C3C3C"/>
                </a:solidFill>
                <a:latin typeface="Segoe UI"/>
              </a:rPr>
              <a:t>Ritmo de corte da Selic depende de expectativas ancoradas e de credibilidade fiscal; IPCA ainda acima da meta.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33832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>
                <a:solidFill>
                  <a:srgbClr val="1A6FE0"/>
                </a:solidFill>
                <a:latin typeface="Segoe UI"/>
              </a:rPr>
              <a:t>Indicador: </a:t>
            </a:r>
            <a:r>
              <a:rPr sz="1200" b="0" i="0">
                <a:solidFill>
                  <a:srgbClr val="1A6FE0"/>
                </a:solidFill>
                <a:latin typeface="Segoe UI"/>
              </a:rPr>
              <a:t>Focus e Copom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600200"/>
            <a:ext cx="35204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47888" y="1801368"/>
            <a:ext cx="420624" cy="420624"/>
          </a:xfrm>
          <a:prstGeom prst="ellipse">
            <a:avLst/>
          </a:prstGeom>
          <a:solidFill>
            <a:srgbClr val="1A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96528" y="178308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1A1A1A"/>
                </a:solidFill>
                <a:latin typeface="Century Gothic"/>
              </a:rPr>
              <a:t>Famílias e crédito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377440"/>
            <a:ext cx="310896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3C3C3C"/>
                </a:solidFill>
                <a:latin typeface="Segoe UI"/>
              </a:rPr>
              <a:t>Novo Desenrola, fim das bets e queda dos juros devem aliviar o serviço da dívida ao longo do ano.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33832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>
                <a:solidFill>
                  <a:srgbClr val="1A6FE0"/>
                </a:solidFill>
                <a:latin typeface="Segoe UI"/>
              </a:rPr>
              <a:t>Indicador: </a:t>
            </a:r>
            <a:r>
              <a:rPr sz="1200" b="0" i="0">
                <a:solidFill>
                  <a:srgbClr val="1A6FE0"/>
                </a:solidFill>
                <a:latin typeface="Segoe UI"/>
              </a:rPr>
              <a:t>Comprometimento de renda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77639"/>
            <a:ext cx="35204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Oval 21"/>
          <p:cNvSpPr/>
          <p:nvPr/>
        </p:nvSpPr>
        <p:spPr>
          <a:xfrm>
            <a:off x="749808" y="4178807"/>
            <a:ext cx="420624" cy="420624"/>
          </a:xfrm>
          <a:prstGeom prst="ellipse">
            <a:avLst/>
          </a:prstGeom>
          <a:solidFill>
            <a:srgbClr val="1A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416052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1A1A1A"/>
                </a:solidFill>
                <a:latin typeface="Century Gothic"/>
              </a:rPr>
              <a:t>Reforma tributária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754879"/>
            <a:ext cx="310896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3C3C3C"/>
                </a:solidFill>
                <a:latin typeface="Segoe UI"/>
              </a:rPr>
              <a:t>2027: CBS substitui PIS/Cofins, IPI zerado (exceto ZFM) e início do Imposto Seletivo.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7607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>
                <a:solidFill>
                  <a:srgbClr val="1A6FE0"/>
                </a:solidFill>
                <a:latin typeface="Segoe UI"/>
              </a:rPr>
              <a:t>Indicador: </a:t>
            </a:r>
            <a:r>
              <a:rPr sz="1200" b="0" i="0">
                <a:solidFill>
                  <a:srgbClr val="1A6FE0"/>
                </a:solidFill>
                <a:latin typeface="Segoe UI"/>
              </a:rPr>
              <a:t>Preços e arrecadação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79" y="3977639"/>
            <a:ext cx="35204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Oval 26"/>
          <p:cNvSpPr/>
          <p:nvPr/>
        </p:nvSpPr>
        <p:spPr>
          <a:xfrm>
            <a:off x="4498847" y="4178807"/>
            <a:ext cx="420624" cy="420624"/>
          </a:xfrm>
          <a:prstGeom prst="ellipse">
            <a:avLst/>
          </a:prstGeom>
          <a:solidFill>
            <a:srgbClr val="1A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7488" y="416052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1A1A1A"/>
                </a:solidFill>
                <a:latin typeface="Century Gothic"/>
              </a:rPr>
              <a:t>Produtividade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79" y="4754879"/>
            <a:ext cx="310896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3C3C3C"/>
                </a:solidFill>
                <a:latin typeface="Segoe UI"/>
              </a:rPr>
              <a:t>Educação básica, infraestrutura e ambiente de negócios definem o crescimento potencial.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79" y="57607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>
                <a:solidFill>
                  <a:srgbClr val="1A6FE0"/>
                </a:solidFill>
                <a:latin typeface="Segoe UI"/>
              </a:rPr>
              <a:t>Indicador: </a:t>
            </a:r>
            <a:r>
              <a:rPr sz="1200" b="0" i="0">
                <a:solidFill>
                  <a:srgbClr val="1A6FE0"/>
                </a:solidFill>
                <a:latin typeface="Segoe UI"/>
              </a:rPr>
              <a:t>PIB por trabalhador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19" y="3977639"/>
            <a:ext cx="35204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Oval 31"/>
          <p:cNvSpPr/>
          <p:nvPr/>
        </p:nvSpPr>
        <p:spPr>
          <a:xfrm>
            <a:off x="8247888" y="4178807"/>
            <a:ext cx="420624" cy="420624"/>
          </a:xfrm>
          <a:prstGeom prst="ellipse">
            <a:avLst/>
          </a:prstGeom>
          <a:solidFill>
            <a:srgbClr val="1A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96528" y="416052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1A1A1A"/>
                </a:solidFill>
                <a:latin typeface="Century Gothic"/>
              </a:rPr>
              <a:t>Cenário externo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19" y="4754879"/>
            <a:ext cx="310896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3C3C3C"/>
                </a:solidFill>
                <a:latin typeface="Segoe UI"/>
              </a:rPr>
              <a:t>Petróleo, juros americanos e tarifas: o real como moeda de commodity amortece choques.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19" y="57607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>
                <a:solidFill>
                  <a:srgbClr val="1A6FE0"/>
                </a:solidFill>
                <a:latin typeface="Segoe UI"/>
              </a:rPr>
              <a:t>Indicador: </a:t>
            </a:r>
            <a:r>
              <a:rPr sz="1200" b="0" i="0">
                <a:solidFill>
                  <a:srgbClr val="1A6FE0"/>
                </a:solidFill>
                <a:latin typeface="Segoe UI"/>
              </a:rPr>
              <a:t>Brent e câmbio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6B6B6B"/>
                </a:solidFill>
                <a:latin typeface="Segoe UI"/>
              </a:rPr>
              <a:t>Fonte: elaboração própria a partir de Ipea (Carta nº 72), BCB (RPM set/2026) e LC 214/2025.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01752"/>
            <a:ext cx="1040457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84080" y="301752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0" i="0">
                <a:solidFill>
                  <a:srgbClr val="6B6B6B"/>
                </a:solidFill>
                <a:latin typeface="Segoe UI"/>
              </a:rPr>
              <a:t>Outubro/2026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sz="3000" b="0" i="0">
                <a:solidFill>
                  <a:srgbClr val="1A1A1A"/>
                </a:solidFill>
                <a:latin typeface="Century Gothic"/>
              </a:rPr>
              <a:t>Balanço de </a:t>
            </a:r>
            <a:r>
              <a:rPr sz="3000" b="0" i="0">
                <a:solidFill>
                  <a:srgbClr val="1A6FE0"/>
                </a:solidFill>
                <a:latin typeface="Century Gothic"/>
              </a:rPr>
              <a:t>riscos para 2027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1298448"/>
            <a:ext cx="1828800" cy="0"/>
          </a:xfrm>
          <a:prstGeom prst="line">
            <a:avLst/>
          </a:prstGeom>
          <a:ln w="22225">
            <a:solidFill>
              <a:srgbClr val="1A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110996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>
                <a:solidFill>
                  <a:srgbClr val="3C3C3C"/>
                </a:solidFill>
                <a:latin typeface="Segoe UI"/>
              </a:rPr>
              <a:t>O cenário central é de crescimento perto de 1,5% e inflação em queda lenta. Os riscos estão dos dois lados.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5440680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214884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1" i="0">
                <a:solidFill>
                  <a:srgbClr val="C62828"/>
                </a:solidFill>
                <a:latin typeface="Century Gothic"/>
              </a:rPr>
              <a:t>Para pior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697480"/>
            <a:ext cx="4937760" cy="3474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</a:rPr>
              <a:t>Fiscal: </a:t>
            </a:r>
            <a:r>
              <a:rPr sz="1400" b="0" i="0">
                <a:solidFill>
                  <a:srgbClr val="3C3C3C"/>
                </a:solidFill>
                <a:latin typeface="Segoe UI"/>
              </a:rPr>
              <a:t>meta de 2027 revisada ou ajuste adiado elevam o prêmio de risco e travam o corte de juros.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</a:rPr>
              <a:t>Petróleo e guerra: </a:t>
            </a:r>
            <a:r>
              <a:rPr sz="1400" b="0" i="0">
                <a:solidFill>
                  <a:srgbClr val="3C3C3C"/>
                </a:solidFill>
                <a:latin typeface="Segoe UI"/>
              </a:rPr>
              <a:t>conflito prolongado pressiona combustíveis, fretes e alimentos.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</a:rPr>
              <a:t>Juros globais: </a:t>
            </a:r>
            <a:r>
              <a:rPr sz="1400" b="0" i="0">
                <a:solidFill>
                  <a:srgbClr val="3C3C3C"/>
                </a:solidFill>
                <a:latin typeface="Segoe UI"/>
              </a:rPr>
              <a:t>novas altas do Fed e Treasury de 10 anos a 5% apertam as condições financeiras.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</a:rPr>
              <a:t>Clima: </a:t>
            </a:r>
            <a:r>
              <a:rPr sz="1400" b="0" i="0">
                <a:solidFill>
                  <a:srgbClr val="3C3C3C"/>
                </a:solidFill>
                <a:latin typeface="Segoe UI"/>
              </a:rPr>
              <a:t>El Niño afeta safra e energia (bandeiras tarifárias).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</a:rPr>
              <a:t>Crédito: </a:t>
            </a:r>
            <a:r>
              <a:rPr sz="1400" b="0" i="0">
                <a:solidFill>
                  <a:srgbClr val="3C3C3C"/>
                </a:solidFill>
                <a:latin typeface="Segoe UI"/>
              </a:rPr>
              <a:t>inadimplência recorde pode travar a oferta de crédito às famílias.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440680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1" i="0">
                <a:solidFill>
                  <a:srgbClr val="1E8E3E"/>
                </a:solidFill>
                <a:latin typeface="Century Gothic"/>
              </a:rPr>
              <a:t>Para melhor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97480"/>
            <a:ext cx="4937760" cy="3474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</a:rPr>
              <a:t>Credibilidade: </a:t>
            </a:r>
            <a:r>
              <a:rPr sz="1400" b="0" i="0">
                <a:solidFill>
                  <a:srgbClr val="3C3C3C"/>
                </a:solidFill>
                <a:latin typeface="Segoe UI"/>
              </a:rPr>
              <a:t>ajuste crível nas despesas obrigatórias acelera a queda da Selic.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</a:rPr>
              <a:t>Commodities: </a:t>
            </a:r>
            <a:r>
              <a:rPr sz="1400" b="0" i="0">
                <a:solidFill>
                  <a:srgbClr val="3C3C3C"/>
                </a:solidFill>
                <a:latin typeface="Segoe UI"/>
              </a:rPr>
              <a:t>petróleo e agro sustentam câmbio, exportações e receitas.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</a:rPr>
              <a:t>Famílias: </a:t>
            </a:r>
            <a:r>
              <a:rPr sz="1400" b="0" i="0">
                <a:solidFill>
                  <a:srgbClr val="3C3C3C"/>
                </a:solidFill>
                <a:latin typeface="Segoe UI"/>
              </a:rPr>
              <a:t>Desenrola e fim das bets liberam renda para consumo.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</a:rPr>
              <a:t>Desinflação: </a:t>
            </a:r>
            <a:r>
              <a:rPr sz="1400" b="0" i="0">
                <a:solidFill>
                  <a:srgbClr val="3C3C3C"/>
                </a:solidFill>
                <a:latin typeface="Segoe UI"/>
              </a:rPr>
              <a:t>atividade mais fraca e câmbio estável aliviam serviços e bens.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</a:rPr>
              <a:t>Investimento: </a:t>
            </a:r>
            <a:r>
              <a:rPr sz="1400" b="0" i="0">
                <a:solidFill>
                  <a:srgbClr val="3C3C3C"/>
                </a:solidFill>
                <a:latin typeface="Segoe UI"/>
              </a:rPr>
              <a:t>juros menores destravam FBCF e construção.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6B6B6B"/>
                </a:solidFill>
                <a:latin typeface="Segoe UI"/>
              </a:rPr>
              <a:t>Fonte: elaboração própria a partir de Ipea (Carta nº 72) e BCB (RPM set/2026).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6126480"/>
            <a:ext cx="2351314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3504" y="5486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Century Gothic"/>
              </a:rPr>
              <a:t>Mensagens finais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2743200" cy="0"/>
          </a:xfrm>
          <a:prstGeom prst="line">
            <a:avLst/>
          </a:prstGeom>
          <a:ln w="22225">
            <a:solidFill>
              <a:srgbClr val="1A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40080" y="1746504"/>
            <a:ext cx="457200" cy="457200"/>
          </a:xfrm>
          <a:prstGeom prst="ellipse">
            <a:avLst/>
          </a:prstGeom>
          <a:solidFill>
            <a:srgbClr val="1A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691640"/>
            <a:ext cx="7498079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2027 começa com PIB desacelerando (1,4% a 1,7%), desemprego mínimo e inflação ainda acima da meta.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587752"/>
            <a:ext cx="457200" cy="457200"/>
          </a:xfrm>
          <a:prstGeom prst="ellipse">
            <a:avLst/>
          </a:prstGeom>
          <a:solidFill>
            <a:srgbClr val="1A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532888"/>
            <a:ext cx="7498079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O consumo perdeu fôlego não por falta de renda, mas pelo peso da dívida: comprometimento de renda recorde e poupança em alta.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1A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374136"/>
            <a:ext cx="7498079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O ajuste fiscal é inevitável: a dívida caminha para 95% do PIB sem mudança nas despesas obrigatórias.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70248"/>
            <a:ext cx="457200" cy="457200"/>
          </a:xfrm>
          <a:prstGeom prst="ellipse">
            <a:avLst/>
          </a:prstGeom>
          <a:solidFill>
            <a:srgbClr val="1A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215384"/>
            <a:ext cx="7498079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Juros só caem de forma sustentada com credibilidade fiscal: é o elo entre o bloco fiscal e o das famílias.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5111496"/>
            <a:ext cx="457200" cy="457200"/>
          </a:xfrm>
          <a:prstGeom prst="ellipse">
            <a:avLst/>
          </a:prstGeom>
          <a:solidFill>
            <a:srgbClr val="1A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5056632"/>
            <a:ext cx="7498079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No longo prazo, o teto é a produtividade: sem aprendizagem de qualidade, o Brasil segue crescendo perto de 2%.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5989320"/>
            <a:ext cx="2508069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3504" y="214884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4000" b="1" i="0">
                <a:solidFill>
                  <a:srgbClr val="8FB8F2"/>
                </a:solidFill>
                <a:latin typeface="Century Gothic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788920"/>
            <a:ext cx="7863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Century Gothic"/>
              </a:rPr>
              <a:t>Anexo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4069080"/>
            <a:ext cx="3657600" cy="0"/>
          </a:xfrm>
          <a:prstGeom prst="line">
            <a:avLst/>
          </a:prstGeom>
          <a:ln w="22225">
            <a:solidFill>
              <a:srgbClr val="1A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4206240"/>
            <a:ext cx="768096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0" i="0">
                <a:solidFill>
                  <a:srgbClr val="D9DCE6"/>
                </a:solidFill>
                <a:latin typeface="Segoe UI"/>
              </a:rPr>
              <a:t>Indicadores da análise de conjuntura de 15/09/2026 (mundo e Santa Catarina)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AD5016DD-36BA-655B-A7FA-5E7F14FE9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5D20FEFC-2CF4-431B-98B2-A62A696EC8B6}"/>
              </a:ext>
            </a:extLst>
          </p:cNvPr>
          <p:cNvGrpSpPr/>
          <p:nvPr/>
        </p:nvGrpSpPr>
        <p:grpSpPr>
          <a:xfrm>
            <a:off x="1580230" y="4803113"/>
            <a:ext cx="9699161" cy="822491"/>
            <a:chOff x="2312418" y="3037620"/>
            <a:chExt cx="8234515" cy="698288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DB6AA5A5-E728-BE6E-9382-D1762FD2D5F8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15A83C27-18FD-022D-50E6-5143661AC5BF}"/>
                </a:ext>
              </a:extLst>
            </p:cNvPr>
            <p:cNvSpPr txBox="1"/>
            <p:nvPr/>
          </p:nvSpPr>
          <p:spPr>
            <a:xfrm>
              <a:off x="2514799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51B5854C-448F-65F9-7E56-08D49618202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3E58D4F9-AB93-F141-0629-7A14A97F0B6A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D6FCC576-6AD0-1429-C962-0B5869B40C22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9C6DDEA6-967E-719E-F19D-A25BE704653A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CCF066F9-52FB-2C60-6076-9282D0823CD9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3D12EA75-C5F0-5F3E-CDC9-D6265C706ABD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5884093C-1C57-5B07-611B-D3A59E1A173C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444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50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CCA3740C-D958-D2AB-1275-115FB53270D5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BD52D409-473E-EB4C-303B-6E664ABEFD99}"/>
              </a:ext>
            </a:extLst>
          </p:cNvPr>
          <p:cNvGrpSpPr/>
          <p:nvPr/>
        </p:nvGrpSpPr>
        <p:grpSpPr>
          <a:xfrm>
            <a:off x="4097402" y="3887459"/>
            <a:ext cx="3997164" cy="598796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793C3C9E-9602-0E76-8097-322C13F518DD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2330E93E-55EC-786A-7FF5-3E32D5DD6B31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23B7D3EF-A1CC-50D8-B858-E8A418632F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D4E5A51F-6242-1C1E-0DA5-7ECC5CB09B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6E30DA0A-707C-F9F1-73BA-A5BECED9B3C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2192000" cy="6950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9644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0E096D2D-EBD5-0485-33C9-AF99D1BA0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75EC33F7-36C6-68C0-142E-F505E3E00DD7}"/>
              </a:ext>
            </a:extLst>
          </p:cNvPr>
          <p:cNvGrpSpPr/>
          <p:nvPr/>
        </p:nvGrpSpPr>
        <p:grpSpPr>
          <a:xfrm>
            <a:off x="1580230" y="4803113"/>
            <a:ext cx="9699161" cy="822491"/>
            <a:chOff x="2312418" y="3037620"/>
            <a:chExt cx="8234515" cy="698288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2A45B3BB-AE4E-CA21-F100-4C3C72C34DD9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1D117AE7-7FA4-198C-E45C-367E6BBDA206}"/>
                </a:ext>
              </a:extLst>
            </p:cNvPr>
            <p:cNvSpPr txBox="1"/>
            <p:nvPr/>
          </p:nvSpPr>
          <p:spPr>
            <a:xfrm>
              <a:off x="2514799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367A377F-9664-05CF-927A-A939EC1636B1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A4BC5115-E10E-221A-2504-38C2A41A6D9F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AEAC0F51-7CBD-6687-1A3D-B2549F6686C8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5C9FD2BF-21F0-857F-2D29-B53D73879B8C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1B6DC75B-723E-117F-458B-1E7D0CA3E14D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37D1922B-0279-812C-5923-89629178FDEE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78516749-703C-94BD-324F-D1AF6664C337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444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50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1CADE247-83C0-B1B7-11BD-A8228876A84B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F0B40B41-4722-CFB6-AABF-96D8E5D2CF71}"/>
              </a:ext>
            </a:extLst>
          </p:cNvPr>
          <p:cNvGrpSpPr/>
          <p:nvPr/>
        </p:nvGrpSpPr>
        <p:grpSpPr>
          <a:xfrm>
            <a:off x="4097402" y="3887459"/>
            <a:ext cx="3997164" cy="598796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2617CAD0-B178-05BA-47BC-4B52F6E7A305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955BE5B0-B089-C68D-C1D0-47BF104D591B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63A2440B-C64A-C97B-4FB3-C1B7B12C25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CB067BC1-4CA8-3F8C-F7A5-F072230B43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0523EC39-5D0A-DB3E-6CF6-9EC50B13E63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8620"/>
            <a:ext cx="12192000" cy="684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9272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852E4703-B8DF-048F-8D81-04311F2E9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433FEC7F-36EA-9CBC-1C33-B11CBDF04DF2}"/>
              </a:ext>
            </a:extLst>
          </p:cNvPr>
          <p:cNvGrpSpPr/>
          <p:nvPr/>
        </p:nvGrpSpPr>
        <p:grpSpPr>
          <a:xfrm>
            <a:off x="1580230" y="4803113"/>
            <a:ext cx="9699161" cy="822491"/>
            <a:chOff x="2312418" y="3037620"/>
            <a:chExt cx="8234515" cy="698288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4B248614-D872-D4F8-5DA0-9446870D9EA7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895902AD-A2C0-AAF6-A7C0-FBF067A3051B}"/>
                </a:ext>
              </a:extLst>
            </p:cNvPr>
            <p:cNvSpPr txBox="1"/>
            <p:nvPr/>
          </p:nvSpPr>
          <p:spPr>
            <a:xfrm>
              <a:off x="2514799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A62F90A1-7A79-FAD7-FF83-E35521E7434D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FF966876-91CF-A7FC-B577-EC289134AA96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C20DA1DC-4233-B652-CEA1-137776213219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0915CAE5-B4FB-F671-428F-FF6C721C8CD1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C780108C-CEC0-51A7-DB31-A7EF82A01944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7F9ECF8E-8AC3-AC1B-4856-0508E6DF218F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F7307B25-BA7B-744F-4C73-8BCDF992B5D5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444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50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7495B15E-FC3B-727E-10BF-5D074C8CC799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521CB8E4-6322-F4B5-280B-0E026FB82867}"/>
              </a:ext>
            </a:extLst>
          </p:cNvPr>
          <p:cNvGrpSpPr/>
          <p:nvPr/>
        </p:nvGrpSpPr>
        <p:grpSpPr>
          <a:xfrm>
            <a:off x="4097402" y="3887459"/>
            <a:ext cx="3997164" cy="598796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E4BD7B70-931E-779D-5858-E2F2CB963BD1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B11F30B7-5027-B0B2-BA4A-6A153F2879D0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3D475F02-3781-DBAF-5462-9035264E5F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D952EACF-E2AB-E343-EACB-F6DF72798A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D84A21A2-8447-E5E4-F9C9-5CED1623981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2" y="0"/>
            <a:ext cx="121777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9428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B92C278D-F59F-AA65-3CC9-3BE04C85B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04183E2F-C949-43CB-6D0E-59C712A62D93}"/>
              </a:ext>
            </a:extLst>
          </p:cNvPr>
          <p:cNvGrpSpPr/>
          <p:nvPr/>
        </p:nvGrpSpPr>
        <p:grpSpPr>
          <a:xfrm>
            <a:off x="1580230" y="4803113"/>
            <a:ext cx="9699161" cy="822491"/>
            <a:chOff x="2312418" y="3037620"/>
            <a:chExt cx="8234515" cy="698288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A0857913-1BC6-C56F-B3B2-2C32FB3D9527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97602642-BF09-8387-2985-CDA3D123F03C}"/>
                </a:ext>
              </a:extLst>
            </p:cNvPr>
            <p:cNvSpPr txBox="1"/>
            <p:nvPr/>
          </p:nvSpPr>
          <p:spPr>
            <a:xfrm>
              <a:off x="2514799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B974403C-F421-72AD-A682-8F0A5E01A2B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BF13A4D2-C781-ABA8-B712-589BCCDA195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FEC86C32-896B-79F1-A832-EBBE01D718FA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CEB8618F-57A6-58F6-9FC7-5E242C91C086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CBCDDB64-D744-6004-17C5-3117D391F603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17FBE155-9608-1B80-8807-F7B85ED281E4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D327595B-6BC4-FCFA-CBE3-2EC2F67AFA96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444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50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7275AF3E-46E4-40AB-8008-EE8EC8378BE5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B64CA2BA-8026-E6BA-49A1-70FEEE60AFA1}"/>
              </a:ext>
            </a:extLst>
          </p:cNvPr>
          <p:cNvGrpSpPr/>
          <p:nvPr/>
        </p:nvGrpSpPr>
        <p:grpSpPr>
          <a:xfrm>
            <a:off x="4097402" y="3887459"/>
            <a:ext cx="3997164" cy="598796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941F9141-B8DE-71FE-E47C-3535CCFDA1B0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1D2C614A-BB8C-1175-3DB3-690256375ACA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78EC85F7-808D-B436-8A65-ACE0CF263C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613BC08F-5CB4-AB21-AAE9-D5A435FF02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73205B1B-2923-1286-A6BB-8E4DC85EDF0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22412"/>
            <a:ext cx="12192000" cy="681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2782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9CD94D53-5051-5F5F-CDEA-15394EB7E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31425B27-74D8-E174-7DD2-A97DE93C1618}"/>
              </a:ext>
            </a:extLst>
          </p:cNvPr>
          <p:cNvGrpSpPr/>
          <p:nvPr/>
        </p:nvGrpSpPr>
        <p:grpSpPr>
          <a:xfrm>
            <a:off x="1580230" y="4803113"/>
            <a:ext cx="9699161" cy="822491"/>
            <a:chOff x="2312418" y="3037620"/>
            <a:chExt cx="8234515" cy="698288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05C0A890-263F-8FC2-E9BD-9ED83EFEE12C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5C9A7B9E-78EF-7484-395D-FDACD8355C17}"/>
                </a:ext>
              </a:extLst>
            </p:cNvPr>
            <p:cNvSpPr txBox="1"/>
            <p:nvPr/>
          </p:nvSpPr>
          <p:spPr>
            <a:xfrm>
              <a:off x="2514799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7D2F56CC-8B8B-CA6A-9743-B242EED2AC9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70F02CF0-2F6A-4AC1-A0FE-D31FAC8AAEB0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3D69609A-F61E-DC6E-7658-6506066F29CB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8E5D8781-93C1-28E8-9331-9441DC5620CC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7B8B30BF-4852-0E50-9391-F79AE914CE4E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91F554A4-D1F4-C24E-8869-6DDFFEF8C6E8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DF346CB1-9452-4564-9C7C-E07567185FB1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444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50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8BD7C5E9-1160-F228-830B-68E42BC1F2AC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C4E5548F-36C0-723C-3F17-DB92756FC108}"/>
              </a:ext>
            </a:extLst>
          </p:cNvPr>
          <p:cNvGrpSpPr/>
          <p:nvPr/>
        </p:nvGrpSpPr>
        <p:grpSpPr>
          <a:xfrm>
            <a:off x="4097402" y="3887459"/>
            <a:ext cx="3997164" cy="598796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C046427D-65C9-9F8A-A24B-D12084D6F340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203A14E9-DFAB-A859-8F7C-1AAEB56C156C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5228C5F4-4528-2128-85FA-A1261C0B12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276CC341-774F-11FC-92D2-B8F2020036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EF50BE4A-FD4D-100B-450F-4A059CBE7DC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8907"/>
            <a:ext cx="12192000" cy="682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6396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F5B53B6E-2937-1F86-F619-EFE3CAEFD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176342EE-9287-55A4-C977-860C36D1E009}"/>
              </a:ext>
            </a:extLst>
          </p:cNvPr>
          <p:cNvGrpSpPr/>
          <p:nvPr/>
        </p:nvGrpSpPr>
        <p:grpSpPr>
          <a:xfrm>
            <a:off x="1580230" y="4803113"/>
            <a:ext cx="9699161" cy="822491"/>
            <a:chOff x="2312418" y="3037620"/>
            <a:chExt cx="8234515" cy="698288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8DF7369A-BF37-E083-84EE-707F522AE8C4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1838FECD-B2D6-0EB0-9934-A4BBDC44391F}"/>
                </a:ext>
              </a:extLst>
            </p:cNvPr>
            <p:cNvSpPr txBox="1"/>
            <p:nvPr/>
          </p:nvSpPr>
          <p:spPr>
            <a:xfrm>
              <a:off x="2514799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8FE8494D-4EBC-EF18-6C3E-AAAE4574699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FF6B89A1-BF29-FBC8-5AE6-62C0BFF98FB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16F9ECA9-09B2-0F5F-602F-EBE3C71B5004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D269AE3A-FB93-8489-9F58-E0AF4E76655A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7C83AFA0-DA15-46DF-C27A-58213D286EA1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FA356D6E-E212-A727-8D39-F2455B08DA01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EC5A404B-792C-3EF4-EF35-72413ACB11A3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444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50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A7FD914D-4068-D770-DDF1-4FFAF912403D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F502EEF6-DFBF-A9BF-CC4F-E97E4373FE7A}"/>
              </a:ext>
            </a:extLst>
          </p:cNvPr>
          <p:cNvGrpSpPr/>
          <p:nvPr/>
        </p:nvGrpSpPr>
        <p:grpSpPr>
          <a:xfrm>
            <a:off x="4097402" y="3887459"/>
            <a:ext cx="3997164" cy="598796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D24D7440-FB0B-8ABA-4A12-464BE1896E5D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1F51037D-2053-FE2C-7E3C-C5B01634D664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F9201B3B-430D-FC01-7DDD-CAB4D2BC66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6BA91E7E-1B99-8CDF-3EF8-E60BE64A7F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10438A49-6B7D-145B-7283-99C07E396BD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8873" y="0"/>
            <a:ext cx="122227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9827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880E1165-144B-BFDA-9051-BF5370D79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38A880F1-1378-FCDD-597A-B36008F9BA7F}"/>
              </a:ext>
            </a:extLst>
          </p:cNvPr>
          <p:cNvGrpSpPr/>
          <p:nvPr/>
        </p:nvGrpSpPr>
        <p:grpSpPr>
          <a:xfrm>
            <a:off x="1580230" y="4803113"/>
            <a:ext cx="9699161" cy="822491"/>
            <a:chOff x="2312418" y="3037620"/>
            <a:chExt cx="8234515" cy="698288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134E7AF2-6638-2B08-D6EE-E910A37ACBE9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545E732A-808A-BFD6-F055-9A6CF5F29ACF}"/>
                </a:ext>
              </a:extLst>
            </p:cNvPr>
            <p:cNvSpPr txBox="1"/>
            <p:nvPr/>
          </p:nvSpPr>
          <p:spPr>
            <a:xfrm>
              <a:off x="2514799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90A223B8-A4F6-A66C-A094-2AEED23FDDA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8E584091-E364-3337-4F71-89EC750BD0F9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68D5C21E-CE82-9D65-9E4E-B1D8C9753075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1B8E673A-2BD4-D2AD-212B-EA8320385EE5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723E8F55-2142-FC63-862E-7B9291821477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9216FA2A-9B22-1A17-DC60-0F95CF980B83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283DC75B-0C43-179C-9459-1BFD1505257D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444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50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3EE22F0C-63C9-2EFC-8347-53EC7205D36F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1BB3B9AA-5092-C00A-E548-1396ACB02AF3}"/>
              </a:ext>
            </a:extLst>
          </p:cNvPr>
          <p:cNvGrpSpPr/>
          <p:nvPr/>
        </p:nvGrpSpPr>
        <p:grpSpPr>
          <a:xfrm>
            <a:off x="4097402" y="3887459"/>
            <a:ext cx="3997164" cy="598796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23CFD2E2-BBC7-B826-677A-CDA769FB1091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1C738D31-986C-9BFF-C96C-5DB6A0826A3C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C0408033-C5A0-3D86-183C-A446BAABFF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8314CCE1-8BB7-96CE-652D-95F3C7165C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91D3C51A-312E-A5A5-796E-233CFA8BB80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434" y="-1"/>
            <a:ext cx="12166566" cy="6872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8844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D4E840AC-00BE-9886-2AEF-BE489C320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D4897F63-4791-5E32-91AA-095B8B18998B}"/>
              </a:ext>
            </a:extLst>
          </p:cNvPr>
          <p:cNvGrpSpPr/>
          <p:nvPr/>
        </p:nvGrpSpPr>
        <p:grpSpPr>
          <a:xfrm>
            <a:off x="1580230" y="4803113"/>
            <a:ext cx="9699161" cy="822491"/>
            <a:chOff x="2312418" y="3037620"/>
            <a:chExt cx="8234515" cy="698288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F9929670-7D99-3FC1-2244-9D99E9167502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1C71E479-0A4D-3686-A9F8-FD5106F572BA}"/>
                </a:ext>
              </a:extLst>
            </p:cNvPr>
            <p:cNvSpPr txBox="1"/>
            <p:nvPr/>
          </p:nvSpPr>
          <p:spPr>
            <a:xfrm>
              <a:off x="2514799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BCF6A5DA-A66B-5AE4-5B5F-E7818758E31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ADE6EB6F-776F-F9C7-00E7-2E4FAC035F4C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9CA7C124-C42B-19D9-7167-99C934CFD6D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C26AA8AE-8CBD-7F37-2A83-EF6A0F35C854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F1E25729-3661-3C5D-9356-28AB7FA4A315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CB0E224D-EA1D-82F2-2F7F-5ABFA06A642E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C4DC0833-9118-75EB-2F6D-ADF42FA1938F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444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50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FE9E7340-4998-8436-7E02-61688F7BEC3E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76CBE4E7-377A-9122-B383-D8C287DC6707}"/>
              </a:ext>
            </a:extLst>
          </p:cNvPr>
          <p:cNvGrpSpPr/>
          <p:nvPr/>
        </p:nvGrpSpPr>
        <p:grpSpPr>
          <a:xfrm>
            <a:off x="4097402" y="3887459"/>
            <a:ext cx="3997164" cy="598796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A8ED437E-8648-9C48-60B0-A0163E164FE3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4A1FBCE5-5C78-DDE0-6A28-F39D3FC73FF4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89E78AE5-D753-9802-098F-BBC60F2166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E4FA395B-0E12-B18B-76E0-A31047C3A3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AFAED731-9662-D606-C76C-F0F2B8115D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4023"/>
            <a:ext cx="12192000" cy="6849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1328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D142C45-182D-4058-8F41-2F5C3C44E064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0d95aa2c-75db-4488-87e1-a68cdba316b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443</TotalTime>
  <Words>4346</Words>
  <Application>Microsoft Office PowerPoint</Application>
  <PresentationFormat>Widescreen</PresentationFormat>
  <Paragraphs>321</Paragraphs>
  <Slides>32</Slides>
  <Notes>32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32</vt:i4>
      </vt:variant>
    </vt:vector>
  </HeadingPairs>
  <TitlesOfParts>
    <vt:vector size="40" baseType="lpstr">
      <vt:lpstr>Aptos</vt:lpstr>
      <vt:lpstr>Aptos Display</vt:lpstr>
      <vt:lpstr>Arial</vt:lpstr>
      <vt:lpstr>Century Gothic</vt:lpstr>
      <vt:lpstr>Montserrat SemiBold</vt:lpstr>
      <vt:lpstr>Segoe UI</vt:lpstr>
      <vt:lpstr>Tema do Office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GIULIANO MANERA LONGHI</dc:creator>
  <cp:lastModifiedBy>Bruno Haeming</cp:lastModifiedBy>
  <cp:revision>44</cp:revision>
  <dcterms:created xsi:type="dcterms:W3CDTF">2026-07-28T19:26:35Z</dcterms:created>
  <dcterms:modified xsi:type="dcterms:W3CDTF">2026-10-27T07:22:44Z</dcterms:modified>
</cp:coreProperties>
</file>