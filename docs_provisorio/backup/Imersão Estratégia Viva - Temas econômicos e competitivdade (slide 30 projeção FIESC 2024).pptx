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39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4" r:id="rId12"/>
    <p:sldId id="425" r:id="rId13"/>
    <p:sldId id="426" r:id="rId14"/>
    <p:sldId id="389" r:id="rId15"/>
    <p:sldId id="427" r:id="rId16"/>
    <p:sldId id="428" r:id="rId17"/>
    <p:sldId id="429" r:id="rId18"/>
    <p:sldId id="430" r:id="rId19"/>
    <p:sldId id="431" r:id="rId20"/>
    <p:sldId id="432" r:id="rId21"/>
    <p:sldId id="396" r:id="rId22"/>
    <p:sldId id="433" r:id="rId23"/>
    <p:sldId id="434" r:id="rId24"/>
    <p:sldId id="399" r:id="rId25"/>
    <p:sldId id="435" r:id="rId26"/>
    <p:sldId id="436" r:id="rId27"/>
    <p:sldId id="437" r:id="rId28"/>
    <p:sldId id="438" r:id="rId29"/>
    <p:sldId id="439" r:id="rId30"/>
    <p:sldId id="444" r:id="rId31"/>
    <p:sldId id="447" r:id="rId52"/>
    <p:sldId id="446" r:id="rId51"/>
    <p:sldId id="445" r:id="rId50"/>
    <p:sldId id="440" r:id="rId32"/>
    <p:sldId id="441" r:id="rId33"/>
    <p:sldId id="416" r:id="rId34"/>
    <p:sldId id="409" r:id="rId35"/>
    <p:sldId id="443" r:id="rId36"/>
    <p:sldId id="412" r:id="rId37"/>
    <p:sldId id="413" r:id="rId38"/>
  </p:sldIdLst>
  <p:sldSz cx="9144000" cy="5143500" type="screen16x9"/>
  <p:notesSz cx="6858000" cy="9144000"/>
  <p:embeddedFontLst>
    <p:embeddedFont>
      <p:font typeface="Montserrat" pitchFamily="2" charset="0"/>
      <p:regular r:id="rId40"/>
      <p:bold r:id="rId41"/>
    </p:embeddedFont>
    <p:embeddedFont>
      <p:font typeface="Montserrat ExtraBold" pitchFamily="2" charset="0"/>
      <p:bold r:id="rId42"/>
    </p:embeddedFont>
    <p:embeddedFont>
      <p:font typeface="Montserrat Medium" pitchFamily="2" charset="0"/>
      <p:regular r:id="rId43"/>
    </p:embeddedFont>
    <p:embeddedFont>
      <p:font typeface="Montserrat SemiBold" pitchFamily="2" charset="0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80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18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notesMaster" Target="notesMasters/notesMaster1.xml"/><Relationship Id="rId40" Type="http://schemas.openxmlformats.org/officeDocument/2006/relationships/font" Target="fonts/font1.fntdata"/><Relationship Id="rId41" Type="http://schemas.openxmlformats.org/officeDocument/2006/relationships/font" Target="fonts/font2.fntdata"/><Relationship Id="rId42" Type="http://schemas.openxmlformats.org/officeDocument/2006/relationships/font" Target="fonts/font3.fntdata"/><Relationship Id="rId43" Type="http://schemas.openxmlformats.org/officeDocument/2006/relationships/font" Target="fonts/font4.fntdata"/><Relationship Id="rId44" Type="http://schemas.openxmlformats.org/officeDocument/2006/relationships/font" Target="fonts/font5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3.xml"/><Relationship Id="rId51" Type="http://schemas.openxmlformats.org/officeDocument/2006/relationships/slide" Target="slides/slide32.xml"/><Relationship Id="rId52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Crescimento do PIB real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220999999999999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Índice (média 1985-2019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por barril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por US$</a:t>
                </a:r>
              </a:p>
            </c:rich>
          </c:tx>
          <c:overlay val="0"/>
        </c:title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US$ bilhões FOB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PIB, var. em 4 trimestres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Produção, var. em 12 meses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Atividade (jan/23 = 100)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força de trabalho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IPCA em 12 meses e Selic (%)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Juro real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Consumo, var. em 4 trimestres (%)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9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renda das famílias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da carteira com atraso &gt; 90 dias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Critério de apuração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R$ bilhões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PIB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Dependentes por 100 em idade ativa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Produtividade, % da dos EUA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Investimento (FBCF), % do PIB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67"/>
          <c:y val="2.5887497569748227E-2"/>
          <c:w val="0.82499999999999996"/>
          <c:h val="0.6413999999999999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Taxa de juros (% a.a.)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05"/>
          <c:y val="0.05"/>
          <c:w val="0.82499999999999996"/>
          <c:h val="0.6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% do valor adicionado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Graduados STEM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(US$ mil de 2015)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Concluintes em engenharia por 100 mil habitantes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PIB per capita (R$ mil)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 rot="-540000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País ou grupo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title>
          <c:tx>
            <c:rich>
              <a:bodyPr rot="0"/>
              <a:lstStyle/>
              <a:p>
                <a:r>
                  <a:rPr lang="pt-BR" sz="800" b="0">
                    <a:solidFill>
                      <a:srgbClr val="6B7280"/>
                    </a:solidFill>
                    <a:latin typeface="Montserrat"/>
                  </a:rPr>
                  <a:t>Gasto em P&amp;D, % do PIB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PIB per capita</c:v>
                </c:pt>
              </c:strCache>
            </c:strRef>
          </c:tx>
          <c:spPr>
            <a:solidFill>
              <a:srgbClr val="B9BEC8"/>
            </a:solidFill>
          </c:spPr>
          <c:dPt>
            <c:idx val="4"/>
            <c:spPr>
              <a:solidFill>
                <a:srgbClr val="0240CA"/>
              </a:solidFill>
            </c:spPr>
          </c:dPt>
          <c:dPt>
            <c:idx val="8"/>
            <c:spPr>
              <a:solidFill>
                <a:srgbClr val="7F9BE6"/>
              </a:solidFill>
            </c:spPr>
          </c:dPt>
          <c:dLbls>
            <c:dLbl>
              <c:idx val="4"/>
              <c:spPr/>
              <c:txPr>
                <a:bodyPr/>
                <a:lstStyle/>
                <a:p>
                  <a:pPr>
                    <a:defRPr b="1" sz="800">
                      <a:solidFill>
                        <a:srgbClr val="0240CA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800">
                    <a:solidFill>
                      <a:srgbClr val="1E1E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Distrito Federal</c:v>
                </c:pt>
                <c:pt idx="1">
                  <c:v>Rio de Janeiro</c:v>
                </c:pt>
                <c:pt idx="2">
                  <c:v>Mato Grosso</c:v>
                </c:pt>
                <c:pt idx="3">
                  <c:v>São Paulo</c:v>
                </c:pt>
                <c:pt idx="4">
                  <c:v>Santa Catarina</c:v>
                </c:pt>
                <c:pt idx="5">
                  <c:v>Mato Grosso do Sul</c:v>
                </c:pt>
                <c:pt idx="6">
                  <c:v>Rio Grande do Sul</c:v>
                </c:pt>
                <c:pt idx="7">
                  <c:v>Paraná</c:v>
                </c:pt>
                <c:pt idx="8">
                  <c:v>Brasil</c:v>
                </c:pt>
                <c:pt idx="9">
                  <c:v>Espírito Santo</c:v>
                </c:pt>
                <c:pt idx="10">
                  <c:v>Goiás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118.2</c:v>
                </c:pt>
                <c:pt idx="1">
                  <c:v>73.8</c:v>
                </c:pt>
                <c:pt idx="2">
                  <c:v>73.1</c:v>
                </c:pt>
                <c:pt idx="3">
                  <c:v>72.1</c:v>
                </c:pt>
                <c:pt idx="4">
                  <c:v>69.1</c:v>
                </c:pt>
                <c:pt idx="5">
                  <c:v>63.0</c:v>
                </c:pt>
                <c:pt idx="6">
                  <c:v>58.0</c:v>
                </c:pt>
                <c:pt idx="7">
                  <c:v>56.5</c:v>
                </c:pt>
                <c:pt idx="8">
                  <c:v>50.6</c:v>
                </c:pt>
                <c:pt idx="9">
                  <c:v>46.7</c:v>
                </c:pt>
                <c:pt idx="10">
                  <c:v>46.0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CE3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dirty="0">
                <a:solidFill>
                  <a:srgbClr val="0240CA"/>
                </a:solidFill>
                <a:latin typeface="Montserrat"/>
              </a:rPr>
              <a:t>Longo </a:t>
            </a:r>
            <a:r>
              <a:rPr sz="1300" b="1" dirty="0" err="1">
                <a:solidFill>
                  <a:srgbClr val="0240CA"/>
                </a:solidFill>
                <a:latin typeface="Montserrat"/>
              </a:rPr>
              <a:t>prazo</a:t>
            </a:r>
            <a:endParaRPr sz="1300" b="1" dirty="0">
              <a:solidFill>
                <a:srgbClr val="0240CA"/>
              </a:solidFill>
              <a:latin typeface="Montserrat"/>
            </a:endParaRPr>
          </a:p>
          <a:p>
            <a:pPr algn="ctr">
              <a:spcBef>
                <a:spcPts val="300"/>
              </a:spcBef>
            </a:pPr>
            <a:r>
              <a:rPr sz="1000" b="0" dirty="0" err="1">
                <a:solidFill>
                  <a:srgbClr val="1E1E29"/>
                </a:solidFill>
                <a:latin typeface="Montserrat"/>
              </a:rPr>
              <a:t>Demografia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produtividade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investimento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indústria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,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formação</a:t>
            </a:r>
            <a:r>
              <a:rPr sz="1000" b="0" dirty="0">
                <a:solidFill>
                  <a:srgbClr val="1E1E29"/>
                </a:solidFill>
                <a:latin typeface="Montserrat"/>
              </a:rPr>
              <a:t> e </a:t>
            </a:r>
            <a:r>
              <a:rPr sz="1000" b="0" dirty="0" err="1">
                <a:solidFill>
                  <a:srgbClr val="1E1E29"/>
                </a:solidFill>
                <a:latin typeface="Montserrat"/>
              </a:rPr>
              <a:t>inovação</a:t>
            </a:r>
            <a:endParaRPr sz="1000" b="0" dirty="0">
              <a:solidFill>
                <a:srgbClr val="1E1E29"/>
              </a:solidFill>
              <a:latin typeface="Montserrat"/>
            </a:endParaRP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Petróleo volta a atingir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os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028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13330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382"/>
              </p:ext>
            </p:extLst>
          </p:nvPr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1551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Santa Catarina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tem o 5º maior PIB per capita do país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per capita por UF (2024*)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Dez maiores UFs e Brasil, em R$ mil</a:t>
            </a:r>
          </a:p>
        </p:txBody>
      </p:sp>
      <p:graphicFrame>
        <p:nvGraphicFramePr>
          <p:cNvPr id="339" name="grafico"/>
          <p:cNvGraphicFramePr>
            <a:graphicFrameLocks noGrp="1"/>
          </p:cNvGraphicFramePr>
          <p:nvPr/>
        </p:nvGraphicFramePr>
        <p:xfrm>
          <a:off x="320040" y="1691640"/>
          <a:ext cx="5440680" cy="288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4805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da FIESC para PIB e PIB per capita em 2024.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Em 2024,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Distrito Federal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tinha o maior PIB per capita do país,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R$ 118,2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seguido por Rio de Janeiro (R$ 73,8 mil) e Mato Grosso (R$ 73,1 mil).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ficou em 5º lugar, com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R$ 69,1 mil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, o equivalente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1,37 vez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o PIB per capita nacional (R$ 50,6 mil).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(2025) e 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Estados mais ricos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são os mais competitivos na indústria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Índice de Competitividade Industrial por UF (2024)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Índice; quanto maior, mais competitiva a indústria do estado</a:t>
            </a:r>
          </a:p>
        </p:txBody>
      </p:sp>
      <p:pic>
        <p:nvPicPr>
          <p:cNvPr id="339" name="mapa_ici" descr="Mapa do Brasil com o Índice de Competitividade Industrial por UF em 2024. SC 0,133; SP 0,126; RS 0,118; PR 0,112; AM 0,091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976" y="1691640"/>
            <a:ext cx="3080807" cy="288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Os estados com maior PIB per capita também se destacam como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mais competitivos industrialmente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.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 lidera o índice (0,133)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à frente de São Paulo (0,126), Rio Grande do Sul (0,118) e Paraná (0,112).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Não por acaso,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quatro dos cinco líderes estão no Sul e no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regiões com indústrias mais complexas, integradas e tecnologicamente avançadas.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O padrão revela relação direta entre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estrutura produtiva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, sobretudo a força da indústria, 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nível de desenvolvimento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dos estados.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Polos industriais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se concentram no Sul e no Sudeste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do Brasil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Por nível de inserção: nacional e internacional</a:t>
            </a:r>
          </a:p>
        </p:txBody>
      </p:sp>
      <p:pic>
        <p:nvPicPr>
          <p:cNvPr id="339" name="mapa_polos_br" descr="Mapa do Brasil com a localização dos polos industriais de inserção nacional e internacional, concentrados no Sul e no Sudest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31" y="1691640"/>
            <a:ext cx="3234098" cy="288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No Brasil, os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polos industriais de maior relevância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nacional e internacional se concentram nas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regiões Sul e Sudeste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que torna essas regiões estruturalmente mais complexas, produtivas e competitivas.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Essa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concentração industrial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 xml:space="preserve"> amplia as disparidades regionais e influencia diretamente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desempenho econômico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acesso à inovação, a geração de empregos qualificados e a qualidade de vida.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70D1A-955F-FFC8-462E-EE223A67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>
            <a:extLst>
              <a:ext uri="{FF2B5EF4-FFF2-40B4-BE49-F238E27FC236}">
                <a16:creationId xmlns:a16="http://schemas.microsoft.com/office/drawing/2014/main" id="{7531ED6E-A302-4903-F008-D19DF47B80A0}"/>
              </a:ext>
            </a:extLst>
          </p:cNvPr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240CA"/>
                </a:solidFill>
                <a:effectLst/>
                <a:uLnTx/>
                <a:uFillTx/>
                <a:latin typeface="Montserrat" pitchFamily="2" charset="0"/>
                <a:cs typeface="Arial"/>
                <a:sym typeface="Arial"/>
              </a:rPr>
              <a:t xml:space="preserve">SC é o 3º estado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número de polos industriais</a:t>
            </a:r>
            <a:endParaRPr kumimoji="0" lang="pt-BR" sz="2000" b="0" i="0" u="none" strike="noStrike" kern="0" cap="none" spc="0" normalizeH="0" baseline="0" noProof="0" dirty="0">
              <a:ln>
                <a:noFill/>
              </a:ln>
              <a:solidFill>
                <a:srgbClr val="0240CA"/>
              </a:solidFill>
              <a:effectLst/>
              <a:uLnTx/>
              <a:uFillTx/>
              <a:latin typeface="Montserrat" pitchFamily="2" charset="0"/>
              <a:cs typeface="Arial"/>
              <a:sym typeface="Arial"/>
            </a:endParaRPr>
          </a:p>
        </p:txBody>
      </p:sp>
      <p:cxnSp>
        <p:nvCxnSpPr>
          <p:cNvPr id="337" name="Google Shape;337;p46">
            <a:extLst>
              <a:ext uri="{FF2B5EF4-FFF2-40B4-BE49-F238E27FC236}">
                <a16:creationId xmlns:a16="http://schemas.microsoft.com/office/drawing/2014/main" id="{B847168E-FD13-F2CF-DB6D-42CF0CAB92F2}"/>
              </a:ext>
            </a:extLst>
          </p:cNvPr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4C18FB09-847F-D0CF-78D0-FCE816754A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Polos industriais por nível de inserção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Número de polos; três UFs com mais polos</a:t>
            </a:r>
          </a:p>
        </p:txBody>
      </p:sp>
      <p:graphicFrame>
        <p:nvGraphicFramePr>
          <p:cNvPr id="346" name="tabela_polos"/>
          <p:cNvGraphicFramePr>
            <a:graphicFrameLocks noGrp="1"/>
          </p:cNvGraphicFramePr>
          <p:nvPr/>
        </p:nvGraphicFramePr>
        <p:xfrm>
          <a:off x="411480" y="1691640"/>
          <a:ext cx="5440680" cy="777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Regionais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Estaduais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Internacionais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Total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7" name="mapa_polos_sc" descr="Mapa de Santa Catarina com os polos industriais por arranjo setorial e nível de inserção (regional, estadual, nacional e internacional)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000"/>
            <a:ext cx="4090641" cy="2020000"/>
          </a:xfrm>
          <a:prstGeom prst="rect">
            <a:avLst/>
          </a:prstGeom>
        </p:spPr>
      </p:pic>
      <p:sp>
        <p:nvSpPr>
          <p:cNvPr id="342" name="texto"/>
          <p:cNvSpPr txBox="1"/>
          <p:nvPr/>
        </p:nvSpPr>
        <p:spPr>
          <a:xfrm>
            <a:off x="6035040" y="132588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Santa Catarina tem uma das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estruturas industriais mais distribuídas e complexas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do país. Com apenas 1% do território nacional,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ocupa a 3ª posição em polos industriais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>, atrás de São Paulo e Paraná.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Entre os polos de maior inserção internacional, destacam-se: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Madeira e Móveis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Papel e Celulose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Equipamentos Elétricos</a:t>
            </a:r>
          </a:p>
          <a:p>
            <a:pPr algn="l" marL="228600" indent="-228600">
              <a:lnSpc>
                <a:spcPct val="112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Alimentos e Bebidas</a:t>
            </a:r>
          </a:p>
          <a:p>
            <a:pPr algn="l" marL="228600" indent="-228600">
              <a:lnSpc>
                <a:spcPct val="112000"/>
              </a:lnSpc>
              <a:spcAft>
                <a:spcPts val="900"/>
              </a:spcAft>
              <a:buFont typeface="+mj-lt"/>
              <a:buAutoNum type="arabicPeriod"/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>Minerais Não Metálicos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Madeira e Móveis está presente em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5 das 6 mesorregiões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do estado, sinal da </a:t>
            </a:r>
            <a:r>
              <a:rPr lang="pt-BR" sz="1000" dirty="0">
                <a:solidFill>
                  <a:srgbClr val="0240CA"/>
                </a:solidFill>
                <a:latin typeface="Montserrat SemiBold"/>
              </a:rPr>
              <a:t>capilaridade</a:t>
            </a:r>
            <a:r>
              <a:rPr lang="pt-BR" sz="1000" dirty="0">
                <a:solidFill>
                  <a:srgbClr val="1E1E29"/>
                </a:solidFill>
                <a:latin typeface="Montserrat"/>
              </a:rPr>
              <a:t xml:space="preserve"> da indústria catarinense.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OBSERVATÓRIO FIESC (2025)</a:t>
            </a:r>
          </a:p>
        </p:txBody>
      </p:sp>
    </p:spTree>
    <p:extLst>
      <p:ext uri="{BB962C8B-B14F-4D97-AF65-F5344CB8AC3E}">
        <p14:creationId xmlns:p14="http://schemas.microsoft.com/office/powerpoint/2010/main" val="3280845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rgbClr val="0240CA"/>
                </a:solidFill>
                <a:latin typeface="Montserrat"/>
              </a:rPr>
              <a:t>Balanço de riscos</a:t>
            </a:r>
            <a:r>
              <a:rPr lang="pt-BR" sz="2000" noProof="0" dirty="0">
                <a:solidFill>
                  <a:srgbClr val="0240CA"/>
                </a:solidFill>
                <a:latin typeface="Montserrat"/>
              </a:rPr>
              <a:t> e 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  <p:sp>
        <p:nvSpPr>
          <p:cNvPr id="341" name="cab_pior"/>
          <p:cNvSpPr txBox="1"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1200" b="1" noProof="0" dirty="0">
                <a:solidFill>
                  <a:srgbClr val="1E1E29"/>
                </a:solidFill>
                <a:latin typeface="Montserrat"/>
              </a:rPr>
              <a:t>Cenário adverso</a:t>
            </a:r>
          </a:p>
        </p:txBody>
      </p:sp>
      <p:sp>
        <p:nvSpPr>
          <p:cNvPr id="342" name="cab_tema"/>
          <p:cNvSpPr txBox="1"/>
          <p:nvPr/>
        </p:nvSpPr>
        <p:spPr>
          <a:xfrm>
            <a:off x="3520440" y="1261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900" b="0" noProof="0" dirty="0">
                <a:solidFill>
                  <a:srgbClr val="6B7280"/>
                </a:solidFill>
                <a:latin typeface="Montserrat"/>
              </a:rPr>
              <a:t>Tema e indicador</a:t>
            </a:r>
          </a:p>
        </p:txBody>
      </p:sp>
      <p:sp>
        <p:nvSpPr>
          <p:cNvPr id="343" name="cab_melhor"/>
          <p:cNvSpPr txBox="1"/>
          <p:nvPr/>
        </p:nvSpPr>
        <p:spPr>
          <a:xfrm>
            <a:off x="5715000" y="126187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200" b="1" noProof="0" dirty="0">
                <a:solidFill>
                  <a:srgbClr val="0240CA"/>
                </a:solidFill>
                <a:latin typeface="Montserrat"/>
              </a:rPr>
              <a:t>Cenário favorável</a:t>
            </a:r>
          </a:p>
        </p:txBody>
      </p:sp>
      <p:sp>
        <p:nvSpPr>
          <p:cNvPr id="344" name="tema_1"/>
          <p:cNvSpPr/>
          <p:nvPr/>
        </p:nvSpPr>
        <p:spPr>
          <a:xfrm>
            <a:off x="3520440" y="1664208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Fiscal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Resultado primário e dívida bruta</a:t>
            </a:r>
          </a:p>
        </p:txBody>
      </p:sp>
      <p:cxnSp>
        <p:nvCxnSpPr>
          <p:cNvPr id="345" name="Connector 344"/>
          <p:cNvCxnSpPr/>
          <p:nvPr/>
        </p:nvCxnSpPr>
        <p:spPr>
          <a:xfrm flipH="1">
            <a:off x="3172968" y="1901952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46" name="Connector 345"/>
          <p:cNvCxnSpPr/>
          <p:nvPr/>
        </p:nvCxnSpPr>
        <p:spPr>
          <a:xfrm>
            <a:off x="5696712" y="1901952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47" name="pior_1"/>
          <p:cNvSpPr txBox="1"/>
          <p:nvPr/>
        </p:nvSpPr>
        <p:spPr>
          <a:xfrm>
            <a:off x="41148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Revisão da meta ou adiamento do ajuste elevam o prêmio de risco</a:t>
            </a:r>
          </a:p>
        </p:txBody>
      </p:sp>
      <p:sp>
        <p:nvSpPr>
          <p:cNvPr id="348" name="melhor_1"/>
          <p:cNvSpPr txBox="1"/>
          <p:nvPr/>
        </p:nvSpPr>
        <p:spPr>
          <a:xfrm>
            <a:off x="6080760" y="1664208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Ajuste crível nas despesas obrigatórias acelera a queda da Selic</a:t>
            </a:r>
          </a:p>
        </p:txBody>
      </p:sp>
      <p:sp>
        <p:nvSpPr>
          <p:cNvPr id="349" name="tema_2"/>
          <p:cNvSpPr/>
          <p:nvPr/>
        </p:nvSpPr>
        <p:spPr>
          <a:xfrm>
            <a:off x="3520440" y="2249424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Juros e inflação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Focus e comunicação do Copom</a:t>
            </a:r>
          </a:p>
        </p:txBody>
      </p:sp>
      <p:cxnSp>
        <p:nvCxnSpPr>
          <p:cNvPr id="350" name="Connector 349"/>
          <p:cNvCxnSpPr/>
          <p:nvPr/>
        </p:nvCxnSpPr>
        <p:spPr>
          <a:xfrm flipH="1">
            <a:off x="3172968" y="2487168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1" name="Connector 350"/>
          <p:cNvCxnSpPr/>
          <p:nvPr/>
        </p:nvCxnSpPr>
        <p:spPr>
          <a:xfrm>
            <a:off x="5696712" y="2487168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2" name="pior_2"/>
          <p:cNvSpPr txBox="1"/>
          <p:nvPr/>
        </p:nvSpPr>
        <p:spPr>
          <a:xfrm>
            <a:off x="41148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Novas altas do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Fed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e juro de 10 anos dos EUA em 5%</a:t>
            </a:r>
          </a:p>
        </p:txBody>
      </p:sp>
      <p:sp>
        <p:nvSpPr>
          <p:cNvPr id="353" name="melhor_2"/>
          <p:cNvSpPr txBox="1"/>
          <p:nvPr/>
        </p:nvSpPr>
        <p:spPr>
          <a:xfrm>
            <a:off x="6080760" y="224942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Atividade mais fraca alivia os preços de serviços</a:t>
            </a:r>
          </a:p>
        </p:txBody>
      </p:sp>
      <p:sp>
        <p:nvSpPr>
          <p:cNvPr id="354" name="tema_3"/>
          <p:cNvSpPr/>
          <p:nvPr/>
        </p:nvSpPr>
        <p:spPr>
          <a:xfrm>
            <a:off x="3520440" y="283464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Famílias e crédito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Comprometimento de renda</a:t>
            </a:r>
          </a:p>
        </p:txBody>
      </p:sp>
      <p:cxnSp>
        <p:nvCxnSpPr>
          <p:cNvPr id="355" name="Connector 354"/>
          <p:cNvCxnSpPr/>
          <p:nvPr/>
        </p:nvCxnSpPr>
        <p:spPr>
          <a:xfrm flipH="1">
            <a:off x="3172968" y="3072384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56" name="Connector 355"/>
          <p:cNvCxnSpPr/>
          <p:nvPr/>
        </p:nvCxnSpPr>
        <p:spPr>
          <a:xfrm>
            <a:off x="5696712" y="3072384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57" name="pior_3"/>
          <p:cNvSpPr txBox="1"/>
          <p:nvPr/>
        </p:nvSpPr>
        <p:spPr>
          <a:xfrm>
            <a:off x="41148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Inadimplência recorde restringe a oferta de crédito</a:t>
            </a:r>
          </a:p>
        </p:txBody>
      </p:sp>
      <p:sp>
        <p:nvSpPr>
          <p:cNvPr id="358" name="melhor_3"/>
          <p:cNvSpPr txBox="1"/>
          <p:nvPr/>
        </p:nvSpPr>
        <p:spPr>
          <a:xfrm>
            <a:off x="6080760" y="2834640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Renegociação de dívidas e fim das apostas liberam renda</a:t>
            </a:r>
          </a:p>
        </p:txBody>
      </p:sp>
      <p:sp>
        <p:nvSpPr>
          <p:cNvPr id="359" name="tema_4"/>
          <p:cNvSpPr/>
          <p:nvPr/>
        </p:nvSpPr>
        <p:spPr>
          <a:xfrm>
            <a:off x="3520440" y="3419856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Brent e câmbio</a:t>
            </a:r>
          </a:p>
        </p:txBody>
      </p:sp>
      <p:cxnSp>
        <p:nvCxnSpPr>
          <p:cNvPr id="360" name="Connector 359"/>
          <p:cNvCxnSpPr/>
          <p:nvPr/>
        </p:nvCxnSpPr>
        <p:spPr>
          <a:xfrm flipH="1">
            <a:off x="3172968" y="3657600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1" name="Connector 360"/>
          <p:cNvCxnSpPr/>
          <p:nvPr/>
        </p:nvCxnSpPr>
        <p:spPr>
          <a:xfrm>
            <a:off x="5696712" y="3657600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2" name="pior_4"/>
          <p:cNvSpPr txBox="1"/>
          <p:nvPr/>
        </p:nvSpPr>
        <p:spPr>
          <a:xfrm>
            <a:off x="41148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Petróleo, geopolítica e El </a:t>
            </a:r>
            <a:r>
              <a:rPr lang="pt-BR" sz="950" b="0" noProof="0" dirty="0" err="1">
                <a:solidFill>
                  <a:srgbClr val="1E1E29"/>
                </a:solidFill>
                <a:latin typeface="Montserrat"/>
              </a:rPr>
              <a:t>Niño</a:t>
            </a:r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 pressionam preços, fretes e safra</a:t>
            </a:r>
          </a:p>
        </p:txBody>
      </p:sp>
      <p:sp>
        <p:nvSpPr>
          <p:cNvPr id="363" name="melhor_4"/>
          <p:cNvSpPr txBox="1"/>
          <p:nvPr/>
        </p:nvSpPr>
        <p:spPr>
          <a:xfrm>
            <a:off x="6080760" y="3419856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Petróleo e agro sustentam câmbio e receitas</a:t>
            </a:r>
          </a:p>
        </p:txBody>
      </p:sp>
      <p:sp>
        <p:nvSpPr>
          <p:cNvPr id="364" name="tema_5"/>
          <p:cNvSpPr/>
          <p:nvPr/>
        </p:nvSpPr>
        <p:spPr>
          <a:xfrm>
            <a:off x="3520440" y="4005072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6ECFA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100" b="1" noProof="0" dirty="0">
                <a:solidFill>
                  <a:srgbClr val="0240CA"/>
                </a:solidFill>
                <a:latin typeface="Montserrat"/>
              </a:rPr>
              <a:t>Investimento</a:t>
            </a:r>
          </a:p>
          <a:p>
            <a:pPr algn="ctr">
              <a:spcBef>
                <a:spcPts val="100"/>
              </a:spcBef>
            </a:pPr>
            <a:r>
              <a:rPr lang="pt-BR" sz="800" b="0" noProof="0" dirty="0">
                <a:solidFill>
                  <a:srgbClr val="6B7280"/>
                </a:solidFill>
                <a:latin typeface="Montserrat"/>
              </a:rPr>
              <a:t>FBCF e produção industrial</a:t>
            </a:r>
          </a:p>
        </p:txBody>
      </p:sp>
      <p:cxnSp>
        <p:nvCxnSpPr>
          <p:cNvPr id="365" name="Connector 364"/>
          <p:cNvCxnSpPr/>
          <p:nvPr/>
        </p:nvCxnSpPr>
        <p:spPr>
          <a:xfrm flipH="1">
            <a:off x="3172968" y="4242816"/>
            <a:ext cx="274320" cy="0"/>
          </a:xfrm>
          <a:prstGeom prst="line">
            <a:avLst/>
          </a:prstGeom>
          <a:ln w="19050">
            <a:solidFill>
              <a:srgbClr val="B9BEC8"/>
            </a:solidFill>
            <a:tailEnd type="triangle" w="med" len="med"/>
          </a:ln>
        </p:spPr>
      </p:cxnSp>
      <p:cxnSp>
        <p:nvCxnSpPr>
          <p:cNvPr id="366" name="Connector 365"/>
          <p:cNvCxnSpPr/>
          <p:nvPr/>
        </p:nvCxnSpPr>
        <p:spPr>
          <a:xfrm>
            <a:off x="5696712" y="4242816"/>
            <a:ext cx="274320" cy="0"/>
          </a:xfrm>
          <a:prstGeom prst="line">
            <a:avLst/>
          </a:prstGeom>
          <a:ln w="19050">
            <a:solidFill>
              <a:srgbClr val="0240CA"/>
            </a:solidFill>
            <a:tailEnd type="triangle" w="med" len="med"/>
          </a:ln>
        </p:spPr>
      </p:cxnSp>
      <p:sp>
        <p:nvSpPr>
          <p:cNvPr id="367" name="pior_5"/>
          <p:cNvSpPr txBox="1"/>
          <p:nvPr/>
        </p:nvSpPr>
        <p:spPr>
          <a:xfrm>
            <a:off x="41148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Crédito caro adia projetos e compra de bens de capital</a:t>
            </a:r>
          </a:p>
        </p:txBody>
      </p:sp>
      <p:sp>
        <p:nvSpPr>
          <p:cNvPr id="368" name="melhor_5"/>
          <p:cNvSpPr txBox="1"/>
          <p:nvPr/>
        </p:nvSpPr>
        <p:spPr>
          <a:xfrm>
            <a:off x="6080760" y="4005072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950" b="0" noProof="0" dirty="0">
                <a:solidFill>
                  <a:srgbClr val="1E1E29"/>
                </a:solidFill>
                <a:latin typeface="Montserrat"/>
              </a:rPr>
              <a:t>Juros menores destravam FBCF, construção e bens de capital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279400">
            <a:solidFill>
              <a:srgbClr val="B9BEC8"/>
            </a:solidFill>
          </a:ln>
        </p:spPr>
      </p:cxnSp>
      <p:cxnSp>
        <p:nvCxnSpPr>
          <p:cNvPr id="339" name="reta_de_chegada"/>
          <p:cNvCxnSpPr/>
          <p:nvPr/>
        </p:nvCxnSpPr>
        <p:spPr>
          <a:xfrm>
            <a:off x="0" y="2194560"/>
            <a:ext cx="9144000" cy="0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</p:cxnSp>
      <p:sp>
        <p:nvSpPr>
          <p:cNvPr id="340" name="mensagem_marco_1"/>
          <p:cNvSpPr/>
          <p:nvPr/>
        </p:nvSpPr>
        <p:spPr>
          <a:xfrm>
            <a:off x="106984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41" name="mensagem_1"/>
          <p:cNvSpPr txBox="1"/>
          <p:nvPr/>
        </p:nvSpPr>
        <p:spPr>
          <a:xfrm>
            <a:off x="274320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Crescimento menor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PIB do Brasil entre 1,3% e 1,7% em 2027, com desemprego mínimo. SC segue acima da média nacional.</a:t>
            </a:r>
          </a:p>
        </p:txBody>
      </p:sp>
      <p:sp>
        <p:nvSpPr>
          <p:cNvPr id="342" name="mensagem_marco_2"/>
          <p:cNvSpPr/>
          <p:nvPr/>
        </p:nvSpPr>
        <p:spPr>
          <a:xfrm>
            <a:off x="323392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43" name="mensagem_2"/>
          <p:cNvSpPr txBox="1"/>
          <p:nvPr/>
        </p:nvSpPr>
        <p:spPr>
          <a:xfrm>
            <a:off x="2438399" y="2651760"/>
            <a:ext cx="2103120" cy="915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Fiscal Impacta juros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inflação acima da meta e dívida em alta, o ajuste é necessário qualquer que seja o resultado eleitoral.</a:t>
            </a:r>
          </a:p>
        </p:txBody>
      </p:sp>
      <p:sp>
        <p:nvSpPr>
          <p:cNvPr id="344" name="mensagem_marco_3"/>
          <p:cNvSpPr/>
          <p:nvPr/>
        </p:nvSpPr>
        <p:spPr>
          <a:xfrm>
            <a:off x="5398007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45" name="mensagem_3"/>
          <p:cNvSpPr txBox="1"/>
          <p:nvPr/>
        </p:nvSpPr>
        <p:spPr>
          <a:xfrm>
            <a:off x="4602479" y="2651760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Indústria em transição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A retomada depende dos cortes de juros chegarem ao crédito. CBS e fim do IPI exigem preparo das empresas.</a:t>
            </a:r>
          </a:p>
        </p:txBody>
      </p:sp>
      <p:sp>
        <p:nvSpPr>
          <p:cNvPr id="346" name="mensagem_marco_4"/>
          <p:cNvSpPr/>
          <p:nvPr/>
        </p:nvSpPr>
        <p:spPr>
          <a:xfrm>
            <a:off x="7562088" y="1938528"/>
            <a:ext cx="512064" cy="512064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pt-BR" sz="1500" b="1" noProof="0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47" name="mensagem_4"/>
          <p:cNvSpPr txBox="1"/>
          <p:nvPr/>
        </p:nvSpPr>
        <p:spPr>
          <a:xfrm>
            <a:off x="6766560" y="2692909"/>
            <a:ext cx="21031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1300" b="1" noProof="0" dirty="0">
                <a:solidFill>
                  <a:srgbClr val="0240CA"/>
                </a:solidFill>
                <a:latin typeface="Montserrat"/>
              </a:rPr>
              <a:t>Foco na produtividade</a:t>
            </a:r>
          </a:p>
          <a:p>
            <a:pPr algn="ctr">
              <a:spcBef>
                <a:spcPts val="300"/>
              </a:spcBef>
            </a:pPr>
            <a:r>
              <a:rPr lang="pt-BR" sz="1100" b="0" noProof="0" dirty="0">
                <a:solidFill>
                  <a:srgbClr val="1E1E29"/>
                </a:solidFill>
                <a:latin typeface="Montserrat"/>
              </a:rPr>
              <a:t>Com o fim do bônus demográfico, só investimento, inovação e capital humano sustentam o crescimento.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4253</Words>
  <Application>Microsoft Office PowerPoint</Application>
  <PresentationFormat>Apresentação na tela (16:9)</PresentationFormat>
  <Paragraphs>519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Montserrat SemiBold</vt:lpstr>
      <vt:lpstr>Montserrat </vt:lpstr>
      <vt:lpstr>Arial</vt:lpstr>
      <vt:lpstr>Montserrat</vt:lpstr>
      <vt:lpstr>Montserrat ExtraBold</vt:lpstr>
      <vt:lpstr>Montserrat Medium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79</cp:revision>
  <dcterms:modified xsi:type="dcterms:W3CDTF">2026-10-28T13:02:33Z</dcterms:modified>
</cp:coreProperties>
</file>