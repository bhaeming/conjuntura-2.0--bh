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9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4" r:id="rId12"/>
    <p:sldId id="425" r:id="rId13"/>
    <p:sldId id="426" r:id="rId14"/>
    <p:sldId id="389" r:id="rId15"/>
    <p:sldId id="427" r:id="rId16"/>
    <p:sldId id="428" r:id="rId17"/>
    <p:sldId id="429" r:id="rId18"/>
    <p:sldId id="430" r:id="rId19"/>
    <p:sldId id="431" r:id="rId20"/>
    <p:sldId id="432" r:id="rId21"/>
    <p:sldId id="396" r:id="rId22"/>
    <p:sldId id="433" r:id="rId23"/>
    <p:sldId id="434" r:id="rId24"/>
    <p:sldId id="399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16" r:id="rId33"/>
    <p:sldId id="409" r:id="rId34"/>
    <p:sldId id="442" r:id="rId35"/>
    <p:sldId id="443" r:id="rId36"/>
    <p:sldId id="412" r:id="rId37"/>
    <p:sldId id="413" r:id="rId38"/>
  </p:sldIdLst>
  <p:sldSz cx="9144000" cy="5143500" type="screen16x9"/>
  <p:notesSz cx="6858000" cy="9144000"/>
  <p:embeddedFontLst>
    <p:embeddedFont>
      <p:font typeface="Montserrat" pitchFamily="2" charset="0"/>
      <p:regular r:id="rId40"/>
      <p:bold r:id="rId41"/>
    </p:embeddedFont>
    <p:embeddedFont>
      <p:font typeface="Montserrat ExtraBold" pitchFamily="2" charset="0"/>
      <p:bold r:id="rId42"/>
    </p:embeddedFont>
    <p:embeddedFont>
      <p:font typeface="Montserrat Medium" pitchFamily="2" charset="0"/>
      <p:regular r:id="rId43"/>
    </p:embeddedFont>
    <p:embeddedFont>
      <p:font typeface="Montserrat SemiBold" pitchFamily="2" charset="0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86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Crescimento do PIB real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22099999999999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Índice (média 1985-2019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por barril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por US$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bilhões FOB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PIB, var. em 4 trimestres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Produção, var. em 12 meses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Atividade (jan/23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força de trabalho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IPCA em 12 meses e Selic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Juro real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Consumo, var. em 4 trimestres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9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renda das famílias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carteira com atraso &gt; 90 dias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Critério de apuração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bilhões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PIB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Dependentes por 100 em idade ativa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Produtividade, % da dos EUA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Investimento (FBCF), % do PIB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2.5887497569748227E-2"/>
          <c:w val="0.82499999999999996"/>
          <c:h val="0.641399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Taxa de juros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valor adicionado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Graduados STEM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(US$ mil de 2015)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Concluintes em engenharia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(R$ mil)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Gasto em P&amp;D, % do PIB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Longo prazo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Demografia, produtividade, investimento, indústria, formação e inovação</a:t>
            </a: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Petróleo volta a atingir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os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13330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382"/>
              </p:ext>
            </p:extLst>
          </p:nvPr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1551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Macroeconomia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Regra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Meta de superávit de 0,5% do PIB, gatilhos da LC 235 e revisão de despesas obrigatórias. Indicadores: resultado primário e dívida bruta.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e 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ritmo de corte da Selic depende de expectativas ancoradas e de credibilidade fiscal. Indicadores: Focus e comunicação do Copom.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 e 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Desenrola, proibição das apostas e juros menores aliviam o serviço da dívida. Indicador: comprometimento de renda.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Estrutura e ambiente externo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2027, a CBS substitui o PIS/Cofins, o IPI é zerado (exceto ZFM) e começa o Imposto Seletivo. Indicadores: preços e arrecadação.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Investimento, P&amp;D e educação definem o crescimento potencial com o fim do bônus demográfico. Indicadores: FBCF e PIB por trabalhador.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Cenário externo.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Petróleo, juros americanos e tarifas; o real amortece choques de commodities. Indicadores: Brent e câmbio.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2677090" y="4727448"/>
            <a:ext cx="378981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(2026), BRASIL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11395902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Balanço de riscos para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pior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Revisão da meta ou adiamento do ajuste elevam o prêmio de risco.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Petróleo e geopolítica.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Pressão sobre combustíveis, fretes, fertilizantes e alimentos.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globais.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Novas altas do Fed e juro de 10 anos dos EUA em 5%.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Clima.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El Niño intenso afeta safra e energia.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Inadimplência recorde restringe a oferta às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melhor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Credibilidade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Ajuste crível nas despesas obrigatórias acelera a queda da Selic.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Commodities.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agro sustentam câmbio e receitas.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Renegociação de dívidas e fim das apostas liberam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mais fraca alivia os preços de serviços.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Juros menores destravam FBCF, construção e bens de capital.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Brasil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Desaceleração.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começa com PIB projetado entre 1,3% e 1,7%, desemprego mínimo e inflação acima da meta.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Consumo.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Perdeu fôlego pelo peso da dívida, não por falta de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ajuste é necessário qualquer que seja o resultado eleitoral: a dívida bruta caminha para 90% do PIB em 2028.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Só caem de forma sustentada com credibilidade fiscal, o elo entre contas públicas e crédito.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Indústria e Santa Catarina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transformação está estagnada; a retomada depende da transmissão dos cortes de juros ao crédito e ao investimento.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e emprego acima da média nacional, com forte integração ao comércio exterior.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marca o início da CBS e o fim do IPI: a transição exige preparação das empresas.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Longo prazo.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 o fim do bônus demográfico, só a produtividade sustenta o crescimento: investimento, inovação e capital humano nas empresas.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4520</Words>
  <Application>Microsoft Office PowerPoint</Application>
  <PresentationFormat>Apresentação na tela (16:9)</PresentationFormat>
  <Paragraphs>527</Paragraphs>
  <Slides>37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Montserrat SemiBold</vt:lpstr>
      <vt:lpstr>Montserrat </vt:lpstr>
      <vt:lpstr>Arial</vt:lpstr>
      <vt:lpstr>Montserrat</vt:lpstr>
      <vt:lpstr>Montserrat ExtraBold</vt:lpstr>
      <vt:lpstr>Montserrat Medium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76</cp:revision>
  <dcterms:modified xsi:type="dcterms:W3CDTF">2026-10-27T20:37:08Z</dcterms:modified>
</cp:coreProperties>
</file>