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9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16" r:id="rId33"/>
    <p:sldId id="409" r:id="rId34"/>
    <p:sldId id="443" r:id="rId36"/>
    <p:sldId id="412" r:id="rId37"/>
    <p:sldId id="413" r:id="rId38"/>
  </p:sldIdLst>
  <p:sldSz cx="9144000" cy="5143500" type="screen16x9"/>
  <p:notesSz cx="6858000" cy="9144000"/>
  <p:embeddedFontLst>
    <p:embeddedFont>
      <p:font typeface="Montserrat" pitchFamily="2" charset="0"/>
      <p:regular r:id="rId40"/>
      <p:bold r:id="rId41"/>
    </p:embeddedFont>
    <p:embeddedFont>
      <p:font typeface="Montserrat ExtraBold" pitchFamily="2" charset="0"/>
      <p:bold r:id="rId42"/>
    </p:embeddedFont>
    <p:embeddedFont>
      <p:font typeface="Montserrat Medium" pitchFamily="2" charset="0"/>
      <p:regular r:id="rId43"/>
    </p:embeddedFont>
    <p:embeddedFont>
      <p:font typeface="Montserrat SemiBold" pitchFamily="2" charset="0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86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Longo prazo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Demografia, produtividade, investimento, indústria, formação e inovação</a:t>
            </a: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Balanço de riscos</a:t>
            </a:r>
            <a:r>
              <a:rPr sz="2000">
                <a:solidFill>
                  <a:srgbClr val="0240CA"/>
                </a:solidFill>
                <a:latin typeface="Montserrat"/>
              </a:rPr>
              <a:t> e 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  <p:sp>
        <p:nvSpPr>
          <p:cNvPr id="341" name="cab_pior"/>
          <p:cNvSpPr txBox="1"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1E29"/>
                </a:solidFill>
                <a:latin typeface="Montserrat"/>
              </a:rPr>
              <a:t>Para pior</a:t>
            </a:r>
          </a:p>
        </p:txBody>
      </p:sp>
      <p:sp>
        <p:nvSpPr>
          <p:cNvPr id="342" name="cab_tema"/>
          <p:cNvSpPr txBox="1"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Montserrat"/>
              </a:rPr>
              <a:t>Tema e indicador</a:t>
            </a:r>
          </a:p>
        </p:txBody>
      </p:sp>
      <p:sp>
        <p:nvSpPr>
          <p:cNvPr id="343" name="cab_melhor"/>
          <p:cNvSpPr txBox="1"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240CA"/>
                </a:solidFill>
                <a:latin typeface="Montserrat"/>
              </a:rPr>
              <a:t>Para melhor</a:t>
            </a:r>
          </a:p>
        </p:txBody>
      </p:sp>
      <p:sp>
        <p:nvSpPr>
          <p:cNvPr id="344" name="tema_1"/>
          <p:cNvSpPr/>
          <p:nvPr/>
        </p:nvSpPr>
        <p:spPr>
          <a:xfrm>
            <a:off x="3520440" y="16642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40CA"/>
                </a:solidFill>
                <a:latin typeface="Montserrat"/>
              </a:rPr>
              <a:t>Fiscal</a:t>
            </a:r>
          </a:p>
          <a:p>
            <a:pPr algn="ctr">
              <a:spcBef>
                <a:spcPts val="100"/>
              </a:spcBef>
            </a:pPr>
            <a:r>
              <a:rPr sz="800" b="0">
                <a:solidFill>
                  <a:srgbClr val="6B7280"/>
                </a:solidFill>
                <a:latin typeface="Montserrat"/>
              </a:rPr>
              <a:t>Resultado primário e dívida bruta</a:t>
            </a:r>
          </a:p>
        </p:txBody>
      </p:sp>
      <p:cxnSp>
        <p:nvCxnSpPr>
          <p:cNvPr id="345" name="Connector 344"/>
          <p:cNvCxnSpPr/>
          <p:nvPr/>
        </p:nvCxnSpPr>
        <p:spPr>
          <a:xfrm flipH="1">
            <a:off x="3172968" y="1901952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46" name="Connector 345"/>
          <p:cNvCxnSpPr/>
          <p:nvPr/>
        </p:nvCxnSpPr>
        <p:spPr>
          <a:xfrm>
            <a:off x="5696712" y="1901952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47" name="pior_1"/>
          <p:cNvSpPr txBox="1"/>
          <p:nvPr/>
        </p:nvSpPr>
        <p:spPr>
          <a:xfrm>
            <a:off x="411480" y="1664208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>
                <a:solidFill>
                  <a:srgbClr val="1E1E29"/>
                </a:solidFill>
                <a:latin typeface="Montserrat"/>
              </a:rPr>
              <a:t>Revisão da meta ou adiamento do ajuste elevam o prêmio de risco</a:t>
            </a:r>
          </a:p>
        </p:txBody>
      </p:sp>
      <p:sp>
        <p:nvSpPr>
          <p:cNvPr id="348" name="melhor_1"/>
          <p:cNvSpPr txBox="1"/>
          <p:nvPr/>
        </p:nvSpPr>
        <p:spPr>
          <a:xfrm>
            <a:off x="6080760" y="1664208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E1E29"/>
                </a:solidFill>
                <a:latin typeface="Montserrat"/>
              </a:rPr>
              <a:t>Ajuste crível nas despesas obrigatórias acelera a queda da Selic</a:t>
            </a:r>
          </a:p>
        </p:txBody>
      </p:sp>
      <p:sp>
        <p:nvSpPr>
          <p:cNvPr id="349" name="tema_2"/>
          <p:cNvSpPr/>
          <p:nvPr/>
        </p:nvSpPr>
        <p:spPr>
          <a:xfrm>
            <a:off x="3520440" y="224942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40CA"/>
                </a:solidFill>
                <a:latin typeface="Montserrat"/>
              </a:rPr>
              <a:t>Juros e inflação</a:t>
            </a:r>
          </a:p>
          <a:p>
            <a:pPr algn="ctr">
              <a:spcBef>
                <a:spcPts val="100"/>
              </a:spcBef>
            </a:pPr>
            <a:r>
              <a:rPr sz="800" b="0">
                <a:solidFill>
                  <a:srgbClr val="6B7280"/>
                </a:solidFill>
                <a:latin typeface="Montserrat"/>
              </a:rPr>
              <a:t>Focus e comunicação do Copom</a:t>
            </a:r>
          </a:p>
        </p:txBody>
      </p:sp>
      <p:cxnSp>
        <p:nvCxnSpPr>
          <p:cNvPr id="350" name="Connector 349"/>
          <p:cNvCxnSpPr/>
          <p:nvPr/>
        </p:nvCxnSpPr>
        <p:spPr>
          <a:xfrm flipH="1">
            <a:off x="3172968" y="2487168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1" name="Connector 350"/>
          <p:cNvCxnSpPr/>
          <p:nvPr/>
        </p:nvCxnSpPr>
        <p:spPr>
          <a:xfrm>
            <a:off x="5696712" y="2487168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2" name="pior_2"/>
          <p:cNvSpPr txBox="1"/>
          <p:nvPr/>
        </p:nvSpPr>
        <p:spPr>
          <a:xfrm>
            <a:off x="411480" y="2249424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>
                <a:solidFill>
                  <a:srgbClr val="1E1E29"/>
                </a:solidFill>
                <a:latin typeface="Montserrat"/>
              </a:rPr>
              <a:t>Novas altas do Fed e juro de 10 anos dos EUA em 5%</a:t>
            </a:r>
          </a:p>
        </p:txBody>
      </p:sp>
      <p:sp>
        <p:nvSpPr>
          <p:cNvPr id="353" name="melhor_2"/>
          <p:cNvSpPr txBox="1"/>
          <p:nvPr/>
        </p:nvSpPr>
        <p:spPr>
          <a:xfrm>
            <a:off x="6080760" y="2249424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E1E29"/>
                </a:solidFill>
                <a:latin typeface="Montserrat"/>
              </a:rPr>
              <a:t>Atividade mais fraca alivia os preços de serviços</a:t>
            </a:r>
          </a:p>
        </p:txBody>
      </p:sp>
      <p:sp>
        <p:nvSpPr>
          <p:cNvPr id="354" name="tema_3"/>
          <p:cNvSpPr/>
          <p:nvPr/>
        </p:nvSpPr>
        <p:spPr>
          <a:xfrm>
            <a:off x="3520440" y="283464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40CA"/>
                </a:solidFill>
                <a:latin typeface="Montserrat"/>
              </a:rPr>
              <a:t>Famílias e crédito</a:t>
            </a:r>
          </a:p>
          <a:p>
            <a:pPr algn="ctr">
              <a:spcBef>
                <a:spcPts val="100"/>
              </a:spcBef>
            </a:pPr>
            <a:r>
              <a:rPr sz="800" b="0">
                <a:solidFill>
                  <a:srgbClr val="6B7280"/>
                </a:solidFill>
                <a:latin typeface="Montserrat"/>
              </a:rPr>
              <a:t>Comprometimento de renda</a:t>
            </a:r>
          </a:p>
        </p:txBody>
      </p:sp>
      <p:cxnSp>
        <p:nvCxnSpPr>
          <p:cNvPr id="355" name="Connector 354"/>
          <p:cNvCxnSpPr/>
          <p:nvPr/>
        </p:nvCxnSpPr>
        <p:spPr>
          <a:xfrm flipH="1">
            <a:off x="3172968" y="3072384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6" name="Connector 355"/>
          <p:cNvCxnSpPr/>
          <p:nvPr/>
        </p:nvCxnSpPr>
        <p:spPr>
          <a:xfrm>
            <a:off x="5696712" y="3072384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7" name="pior_3"/>
          <p:cNvSpPr txBox="1"/>
          <p:nvPr/>
        </p:nvSpPr>
        <p:spPr>
          <a:xfrm>
            <a:off x="411480" y="283464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>
                <a:solidFill>
                  <a:srgbClr val="1E1E29"/>
                </a:solidFill>
                <a:latin typeface="Montserrat"/>
              </a:rPr>
              <a:t>Inadimplência recorde restringe a oferta de crédito</a:t>
            </a:r>
          </a:p>
        </p:txBody>
      </p:sp>
      <p:sp>
        <p:nvSpPr>
          <p:cNvPr id="358" name="melhor_3"/>
          <p:cNvSpPr txBox="1"/>
          <p:nvPr/>
        </p:nvSpPr>
        <p:spPr>
          <a:xfrm>
            <a:off x="6080760" y="283464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E1E29"/>
                </a:solidFill>
                <a:latin typeface="Montserrat"/>
              </a:rPr>
              <a:t>Renegociação de dívidas e fim das apostas liberam renda</a:t>
            </a:r>
          </a:p>
        </p:txBody>
      </p:sp>
      <p:sp>
        <p:nvSpPr>
          <p:cNvPr id="359" name="tema_4"/>
          <p:cNvSpPr/>
          <p:nvPr/>
        </p:nvSpPr>
        <p:spPr>
          <a:xfrm>
            <a:off x="3520440" y="3419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100"/>
              </a:spcBef>
            </a:pPr>
            <a:r>
              <a:rPr sz="800" b="0">
                <a:solidFill>
                  <a:srgbClr val="6B7280"/>
                </a:solidFill>
                <a:latin typeface="Montserrat"/>
              </a:rPr>
              <a:t>Brent e câmbio</a:t>
            </a:r>
          </a:p>
        </p:txBody>
      </p:sp>
      <p:cxnSp>
        <p:nvCxnSpPr>
          <p:cNvPr id="360" name="Connector 359"/>
          <p:cNvCxnSpPr/>
          <p:nvPr/>
        </p:nvCxnSpPr>
        <p:spPr>
          <a:xfrm flipH="1">
            <a:off x="3172968" y="3657600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1" name="Connector 360"/>
          <p:cNvCxnSpPr/>
          <p:nvPr/>
        </p:nvCxnSpPr>
        <p:spPr>
          <a:xfrm>
            <a:off x="5696712" y="3657600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2" name="pior_4"/>
          <p:cNvSpPr txBox="1"/>
          <p:nvPr/>
        </p:nvSpPr>
        <p:spPr>
          <a:xfrm>
            <a:off x="411480" y="3419856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>
                <a:solidFill>
                  <a:srgbClr val="1E1E29"/>
                </a:solidFill>
                <a:latin typeface="Montserrat"/>
              </a:rPr>
              <a:t>Petróleo, geopolítica e El Niño pressionam preços, fretes e safra</a:t>
            </a:r>
          </a:p>
        </p:txBody>
      </p:sp>
      <p:sp>
        <p:nvSpPr>
          <p:cNvPr id="363" name="melhor_4"/>
          <p:cNvSpPr txBox="1"/>
          <p:nvPr/>
        </p:nvSpPr>
        <p:spPr>
          <a:xfrm>
            <a:off x="6080760" y="3419856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E1E29"/>
                </a:solidFill>
                <a:latin typeface="Montserrat"/>
              </a:rPr>
              <a:t>Petróleo e agro sustentam câmbio e receitas</a:t>
            </a:r>
          </a:p>
        </p:txBody>
      </p:sp>
      <p:sp>
        <p:nvSpPr>
          <p:cNvPr id="364" name="tema_5"/>
          <p:cNvSpPr/>
          <p:nvPr/>
        </p:nvSpPr>
        <p:spPr>
          <a:xfrm>
            <a:off x="3520440" y="40050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240CA"/>
                </a:solidFill>
                <a:latin typeface="Montserrat"/>
              </a:rPr>
              <a:t>Investimento</a:t>
            </a:r>
          </a:p>
          <a:p>
            <a:pPr algn="ctr">
              <a:spcBef>
                <a:spcPts val="100"/>
              </a:spcBef>
            </a:pPr>
            <a:r>
              <a:rPr sz="800" b="0">
                <a:solidFill>
                  <a:srgbClr val="6B7280"/>
                </a:solidFill>
                <a:latin typeface="Montserrat"/>
              </a:rPr>
              <a:t>FBCF e produção industrial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3172968" y="4242816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6" name="Connector 365"/>
          <p:cNvCxnSpPr/>
          <p:nvPr/>
        </p:nvCxnSpPr>
        <p:spPr>
          <a:xfrm>
            <a:off x="5696712" y="4242816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7" name="pior_5"/>
          <p:cNvSpPr txBox="1"/>
          <p:nvPr/>
        </p:nvSpPr>
        <p:spPr>
          <a:xfrm>
            <a:off x="411480" y="4005072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>
                <a:solidFill>
                  <a:srgbClr val="1E1E29"/>
                </a:solidFill>
                <a:latin typeface="Montserrat"/>
              </a:rPr>
              <a:t>Crédito caro adia projetos e compra de bens de capital</a:t>
            </a:r>
          </a:p>
        </p:txBody>
      </p:sp>
      <p:sp>
        <p:nvSpPr>
          <p:cNvPr id="368" name="melhor_5"/>
          <p:cNvSpPr txBox="1"/>
          <p:nvPr/>
        </p:nvSpPr>
        <p:spPr>
          <a:xfrm>
            <a:off x="6080760" y="4005072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E1E29"/>
                </a:solidFill>
                <a:latin typeface="Montserrat"/>
              </a:rPr>
              <a:t>Juros menores destravam FBCF, construção e bens de capital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279400">
            <a:solidFill>
              <a:srgbClr val="B9BEC8"/>
            </a:solidFill>
          </a:ln>
        </p:spPr>
      </p:cxnSp>
      <p:cxnSp>
        <p:nvCxnSpPr>
          <p:cNvPr id="339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</p:cxnSp>
      <p:sp>
        <p:nvSpPr>
          <p:cNvPr id="340" name="mensagem_marco_1"/>
          <p:cNvSpPr/>
          <p:nvPr/>
        </p:nvSpPr>
        <p:spPr>
          <a:xfrm>
            <a:off x="106984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1" name="mensagem_1"/>
          <p:cNvSpPr txBox="1"/>
          <p:nvPr/>
        </p:nvSpPr>
        <p:spPr>
          <a:xfrm>
            <a:off x="274320" y="2651760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Crescimento menor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1E1E29"/>
                </a:solidFill>
                <a:latin typeface="Montserrat"/>
              </a:rPr>
              <a:t>PIB do Brasil entre 1,3% e 1,7% em 2027, com desemprego mínimo. SC segue acima da média nacional.</a:t>
            </a:r>
          </a:p>
        </p:txBody>
      </p:sp>
      <p:sp>
        <p:nvSpPr>
          <p:cNvPr id="342" name="mensagem_marco_2"/>
          <p:cNvSpPr/>
          <p:nvPr/>
        </p:nvSpPr>
        <p:spPr>
          <a:xfrm>
            <a:off x="323392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43" name="mensagem_2"/>
          <p:cNvSpPr txBox="1"/>
          <p:nvPr/>
        </p:nvSpPr>
        <p:spPr>
          <a:xfrm>
            <a:off x="2438399" y="2651760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Fiscal destrava juros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1E1E29"/>
                </a:solidFill>
                <a:latin typeface="Montserrat"/>
              </a:rPr>
              <a:t>Com inflação acima da meta e dívida em alta, o ajuste é necessário qualquer que seja o resultado eleitoral.</a:t>
            </a:r>
          </a:p>
        </p:txBody>
      </p:sp>
      <p:sp>
        <p:nvSpPr>
          <p:cNvPr id="344" name="mensagem_marco_3"/>
          <p:cNvSpPr/>
          <p:nvPr/>
        </p:nvSpPr>
        <p:spPr>
          <a:xfrm>
            <a:off x="539800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5" name="mensagem_3"/>
          <p:cNvSpPr txBox="1"/>
          <p:nvPr/>
        </p:nvSpPr>
        <p:spPr>
          <a:xfrm>
            <a:off x="4602479" y="2651760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Indústria em transição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1E1E29"/>
                </a:solidFill>
                <a:latin typeface="Montserrat"/>
              </a:rPr>
              <a:t>A retomada depende dos cortes de juros chegarem ao crédito. CBS e fim do IPI exigem preparo das empresas.</a:t>
            </a:r>
          </a:p>
        </p:txBody>
      </p:sp>
      <p:sp>
        <p:nvSpPr>
          <p:cNvPr id="346" name="mensagem_marco_4"/>
          <p:cNvSpPr/>
          <p:nvPr/>
        </p:nvSpPr>
        <p:spPr>
          <a:xfrm>
            <a:off x="756208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47" name="mensagem_4"/>
          <p:cNvSpPr txBox="1"/>
          <p:nvPr/>
        </p:nvSpPr>
        <p:spPr>
          <a:xfrm>
            <a:off x="6766559" y="2651760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Foco na produtividade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1E1E29"/>
                </a:solidFill>
                <a:latin typeface="Montserrat"/>
              </a:rPr>
              <a:t>Com o fim do bônus demográfico, só investimento, inovação e capital humano sustentam o crescimento.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4520</Words>
  <Application>Microsoft Office PowerPoint</Application>
  <PresentationFormat>Apresentação na tela (16:9)</PresentationFormat>
  <Paragraphs>527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Montserrat SemiBold</vt:lpstr>
      <vt:lpstr>Montserrat </vt:lpstr>
      <vt:lpstr>Arial</vt:lpstr>
      <vt:lpstr>Montserrat</vt:lpstr>
      <vt:lpstr>Montserrat ExtraBold</vt:lpstr>
      <vt:lpstr>Montserrat Medium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76</cp:revision>
  <dcterms:modified xsi:type="dcterms:W3CDTF">2026-10-27T20:37:08Z</dcterms:modified>
</cp:coreProperties>
</file>