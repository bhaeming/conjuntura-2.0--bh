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4"/>
  </p:notesMasterIdLst>
  <p:sldIdLst>
    <p:sldId id="375" r:id="rId2"/>
    <p:sldId id="376" r:id="rId3"/>
    <p:sldId id="408" r:id="rId4"/>
    <p:sldId id="414" r:id="rId5"/>
    <p:sldId id="415" r:id="rId6"/>
    <p:sldId id="416" r:id="rId7"/>
    <p:sldId id="417" r:id="rId8"/>
    <p:sldId id="409" r:id="rId9"/>
    <p:sldId id="418" r:id="rId10"/>
    <p:sldId id="419" r:id="rId11"/>
    <p:sldId id="420" r:id="rId12"/>
    <p:sldId id="421" r:id="rId13"/>
    <p:sldId id="422" r:id="rId14"/>
    <p:sldId id="423" r:id="rId15"/>
    <p:sldId id="410" r:id="rId16"/>
    <p:sldId id="424" r:id="rId17"/>
    <p:sldId id="425" r:id="rId18"/>
    <p:sldId id="426" r:id="rId19"/>
    <p:sldId id="427" r:id="rId20"/>
    <p:sldId id="428" r:id="rId21"/>
    <p:sldId id="411" r:id="rId22"/>
    <p:sldId id="429" r:id="rId23"/>
    <p:sldId id="430" r:id="rId24"/>
    <p:sldId id="412" r:id="rId25"/>
    <p:sldId id="431" r:id="rId26"/>
    <p:sldId id="432" r:id="rId27"/>
    <p:sldId id="433" r:id="rId28"/>
    <p:sldId id="413" r:id="rId29"/>
    <p:sldId id="434" r:id="rId30"/>
    <p:sldId id="435" r:id="rId31"/>
    <p:sldId id="406" r:id="rId32"/>
    <p:sldId id="407" r:id="rId33"/>
  </p:sldIdLst>
  <p:sldSz cx="9144000" cy="5143500" type="screen16x9"/>
  <p:notesSz cx="6858000" cy="9144000"/>
  <p:embeddedFontLst>
    <p:embeddedFont>
      <p:font typeface="Montserrat" pitchFamily="2" charset="0"/>
      <p:regular r:id="rId35"/>
      <p:bold r:id="rId36"/>
    </p:embeddedFont>
    <p:embeddedFont>
      <p:font typeface="Montserrat ExtraBold" pitchFamily="2" charset="0"/>
      <p:bold r:id="rId37"/>
    </p:embeddedFont>
    <p:embeddedFont>
      <p:font typeface="Montserrat Medium" pitchFamily="2" charset="0"/>
      <p:regular r:id="rId38"/>
    </p:embeddedFont>
    <p:embeddedFont>
      <p:font typeface="Montserrat SemiBold" pitchFamily="2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20" y="138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AE-4E21-9A3D-4AF5726211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AE-4E21-9A3D-4AF5726211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AE-4E21-9A3D-4AF572621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5C-4E88-A746-B0F66928E0F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5C-4E88-A746-B0F66928E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EA4-48BD-956A-5BA14D98E0B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A4-48BD-956A-5BA14D98E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F73-4779-A1C0-041AE2BB8AF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73-4779-A1C0-041AE2BB8A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F73-4779-A1C0-041AE2BB8AF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73-4779-A1C0-041AE2BB8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Projeção (Focus)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9" formatCode="0.0">
                  <c:v>1.8</c:v>
                </c:pt>
                <c:pt idx="10" formatCode="0.0">
                  <c:v>1.3145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7B-4323-844E-F1E8896873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2026*</c:v>
                </c:pt>
                <c:pt idx="10">
                  <c:v>2027*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1.3</c:v>
                </c:pt>
                <c:pt idx="1">
                  <c:v>1.8</c:v>
                </c:pt>
                <c:pt idx="2">
                  <c:v>1.2</c:v>
                </c:pt>
                <c:pt idx="3">
                  <c:v>-3.3</c:v>
                </c:pt>
                <c:pt idx="4">
                  <c:v>4.8</c:v>
                </c:pt>
                <c:pt idx="5">
                  <c:v>3</c:v>
                </c:pt>
                <c:pt idx="6">
                  <c:v>3.2</c:v>
                </c:pt>
                <c:pt idx="7">
                  <c:v>3.4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7B-4323-844E-F1E8896873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7F9BE6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PIB</c:v>
                </c:pt>
                <c:pt idx="1">
                  <c:v>Agropecuária</c:v>
                </c:pt>
                <c:pt idx="2">
                  <c:v>Indústria</c:v>
                </c:pt>
                <c:pt idx="3">
                  <c:v>Serviços</c:v>
                </c:pt>
                <c:pt idx="4">
                  <c:v>Consumo das famílias</c:v>
                </c:pt>
                <c:pt idx="5">
                  <c:v>Consumo do governo</c:v>
                </c:pt>
                <c:pt idx="6">
                  <c:v>FBCF</c:v>
                </c:pt>
                <c:pt idx="7">
                  <c:v>Exportação</c:v>
                </c:pt>
                <c:pt idx="8">
                  <c:v>Importação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1.8</c:v>
                </c:pt>
                <c:pt idx="1">
                  <c:v>2.5</c:v>
                </c:pt>
                <c:pt idx="2">
                  <c:v>1.44</c:v>
                </c:pt>
                <c:pt idx="3">
                  <c:v>1.7</c:v>
                </c:pt>
                <c:pt idx="4">
                  <c:v>1.3</c:v>
                </c:pt>
                <c:pt idx="5">
                  <c:v>2.2000000000000002</c:v>
                </c:pt>
                <c:pt idx="6">
                  <c:v>0.9</c:v>
                </c:pt>
                <c:pt idx="7">
                  <c:v>4.1950000000000003</c:v>
                </c:pt>
                <c:pt idx="8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E-44DC-AFF6-5AB2F2040B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PIB</c:v>
                </c:pt>
                <c:pt idx="1">
                  <c:v>Agropecuária</c:v>
                </c:pt>
                <c:pt idx="2">
                  <c:v>Indústria</c:v>
                </c:pt>
                <c:pt idx="3">
                  <c:v>Serviços</c:v>
                </c:pt>
                <c:pt idx="4">
                  <c:v>Consumo das famílias</c:v>
                </c:pt>
                <c:pt idx="5">
                  <c:v>Consumo do governo</c:v>
                </c:pt>
                <c:pt idx="6">
                  <c:v>FBCF</c:v>
                </c:pt>
                <c:pt idx="7">
                  <c:v>Exportação</c:v>
                </c:pt>
                <c:pt idx="8">
                  <c:v>Importação</c:v>
                </c:pt>
              </c:strCache>
            </c:strRef>
          </c:cat>
          <c:val>
            <c:numRef>
              <c:f>Sheet1!$C$2:$C$10</c:f>
              <c:numCache>
                <c:formatCode>0.0</c:formatCode>
                <c:ptCount val="9"/>
                <c:pt idx="0">
                  <c:v>1.3145</c:v>
                </c:pt>
                <c:pt idx="1">
                  <c:v>1</c:v>
                </c:pt>
                <c:pt idx="2">
                  <c:v>1</c:v>
                </c:pt>
                <c:pt idx="3">
                  <c:v>1.5</c:v>
                </c:pt>
                <c:pt idx="4">
                  <c:v>1.2</c:v>
                </c:pt>
                <c:pt idx="5">
                  <c:v>1.1400999999999999</c:v>
                </c:pt>
                <c:pt idx="6">
                  <c:v>1.0613999999999999</c:v>
                </c:pt>
                <c:pt idx="7">
                  <c:v>3</c:v>
                </c:pt>
                <c:pt idx="8">
                  <c:v>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E-44DC-AFF6-5AB2F2040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Extrativa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6C-4C63-A98F-1AC4CD0E2E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-2.6</c:v>
                </c:pt>
                <c:pt idx="1">
                  <c:v>-2.2999999999999998</c:v>
                </c:pt>
                <c:pt idx="2">
                  <c:v>-2.1</c:v>
                </c:pt>
                <c:pt idx="3">
                  <c:v>-1.9</c:v>
                </c:pt>
                <c:pt idx="4">
                  <c:v>-0.1</c:v>
                </c:pt>
                <c:pt idx="5">
                  <c:v>1.3</c:v>
                </c:pt>
                <c:pt idx="6">
                  <c:v>2.2999999999999998</c:v>
                </c:pt>
                <c:pt idx="7">
                  <c:v>3.3</c:v>
                </c:pt>
                <c:pt idx="8">
                  <c:v>4.7</c:v>
                </c:pt>
                <c:pt idx="9">
                  <c:v>3.8</c:v>
                </c:pt>
                <c:pt idx="10">
                  <c:v>5.4</c:v>
                </c:pt>
                <c:pt idx="11">
                  <c:v>7.3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7.3</c:v>
                </c:pt>
                <c:pt idx="16">
                  <c:v>6.3</c:v>
                </c:pt>
                <c:pt idx="17">
                  <c:v>5.4</c:v>
                </c:pt>
                <c:pt idx="18">
                  <c:v>4.7</c:v>
                </c:pt>
                <c:pt idx="19">
                  <c:v>4.9000000000000004</c:v>
                </c:pt>
                <c:pt idx="20">
                  <c:v>3.8</c:v>
                </c:pt>
                <c:pt idx="21">
                  <c:v>3.6</c:v>
                </c:pt>
                <c:pt idx="22">
                  <c:v>2.1</c:v>
                </c:pt>
                <c:pt idx="23">
                  <c:v>0</c:v>
                </c:pt>
                <c:pt idx="24">
                  <c:v>-1</c:v>
                </c:pt>
                <c:pt idx="25">
                  <c:v>-1.7</c:v>
                </c:pt>
                <c:pt idx="26">
                  <c:v>-1.3</c:v>
                </c:pt>
                <c:pt idx="27">
                  <c:v>-0.5</c:v>
                </c:pt>
                <c:pt idx="28">
                  <c:v>0.3</c:v>
                </c:pt>
                <c:pt idx="29">
                  <c:v>0.5</c:v>
                </c:pt>
                <c:pt idx="30">
                  <c:v>1.1000000000000001</c:v>
                </c:pt>
                <c:pt idx="31">
                  <c:v>1.1000000000000001</c:v>
                </c:pt>
                <c:pt idx="32">
                  <c:v>1.8</c:v>
                </c:pt>
                <c:pt idx="33">
                  <c:v>2.8</c:v>
                </c:pt>
                <c:pt idx="34">
                  <c:v>3.6</c:v>
                </c:pt>
                <c:pt idx="35">
                  <c:v>4.9000000000000004</c:v>
                </c:pt>
                <c:pt idx="36">
                  <c:v>6.3</c:v>
                </c:pt>
                <c:pt idx="37">
                  <c:v>7.3</c:v>
                </c:pt>
                <c:pt idx="38">
                  <c:v>7.2</c:v>
                </c:pt>
                <c:pt idx="39">
                  <c:v>7.3</c:v>
                </c:pt>
                <c:pt idx="40">
                  <c:v>6.8</c:v>
                </c:pt>
                <c:pt idx="41">
                  <c:v>6.9</c:v>
                </c:pt>
                <c:pt idx="42">
                  <c:v>6.5</c:v>
                </c:pt>
                <c:pt idx="43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6C-4C63-A98F-1AC4CD0E2E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46C-4C63-A98F-1AC4CD0E2E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6C-4C63-A98F-1AC4CD0E2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992-43D5-A3F5-ECE538E5BF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92-43D5-A3F5-ECE538E5BF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6339869281045753E-2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992-43D5-A3F5-ECE538E5BF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992-43D5-A3F5-ECE538E5BF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7D-4F14-ACA9-34C6337E46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7D-4F14-ACA9-34C6337E46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7D-4F14-ACA9-34C6337E464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97D-4F14-ACA9-34C6337E46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FB6-4BE0-8DCA-79FDC3CE39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B6-4BE0-8DCA-79FDC3CE39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FB6-4BE0-8DCA-79FDC3CE39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B6-4BE0-8DCA-79FDC3CE3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Teto da 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4.75</c:v>
                </c:pt>
                <c:pt idx="13">
                  <c:v>4.75</c:v>
                </c:pt>
                <c:pt idx="14">
                  <c:v>4.75</c:v>
                </c:pt>
                <c:pt idx="15">
                  <c:v>4.75</c:v>
                </c:pt>
                <c:pt idx="16">
                  <c:v>4.75</c:v>
                </c:pt>
                <c:pt idx="17">
                  <c:v>4.75</c:v>
                </c:pt>
                <c:pt idx="18">
                  <c:v>4.75</c:v>
                </c:pt>
                <c:pt idx="19">
                  <c:v>4.75</c:v>
                </c:pt>
                <c:pt idx="20">
                  <c:v>4.75</c:v>
                </c:pt>
                <c:pt idx="21">
                  <c:v>4.75</c:v>
                </c:pt>
                <c:pt idx="22">
                  <c:v>4.75</c:v>
                </c:pt>
                <c:pt idx="23">
                  <c:v>4.75</c:v>
                </c:pt>
                <c:pt idx="24">
                  <c:v>4.5</c:v>
                </c:pt>
                <c:pt idx="25">
                  <c:v>4.5</c:v>
                </c:pt>
                <c:pt idx="26">
                  <c:v>4.5</c:v>
                </c:pt>
                <c:pt idx="27">
                  <c:v>4.5</c:v>
                </c:pt>
                <c:pt idx="28">
                  <c:v>4.5</c:v>
                </c:pt>
                <c:pt idx="29">
                  <c:v>4.5</c:v>
                </c:pt>
                <c:pt idx="30">
                  <c:v>4.5</c:v>
                </c:pt>
                <c:pt idx="31">
                  <c:v>4.5</c:v>
                </c:pt>
                <c:pt idx="32">
                  <c:v>4.5</c:v>
                </c:pt>
                <c:pt idx="33">
                  <c:v>4.5</c:v>
                </c:pt>
                <c:pt idx="34">
                  <c:v>4.5</c:v>
                </c:pt>
                <c:pt idx="35">
                  <c:v>4.5</c:v>
                </c:pt>
                <c:pt idx="36">
                  <c:v>4.5</c:v>
                </c:pt>
                <c:pt idx="37">
                  <c:v>4.5</c:v>
                </c:pt>
                <c:pt idx="38">
                  <c:v>4.5</c:v>
                </c:pt>
                <c:pt idx="39">
                  <c:v>4.5</c:v>
                </c:pt>
                <c:pt idx="40">
                  <c:v>4.5</c:v>
                </c:pt>
                <c:pt idx="41">
                  <c:v>4.5</c:v>
                </c:pt>
                <c:pt idx="42">
                  <c:v>4.5</c:v>
                </c:pt>
                <c:pt idx="43">
                  <c:v>4.5</c:v>
                </c:pt>
                <c:pt idx="44">
                  <c:v>4.5</c:v>
                </c:pt>
                <c:pt idx="45">
                  <c:v>4.5</c:v>
                </c:pt>
                <c:pt idx="46">
                  <c:v>4.5</c:v>
                </c:pt>
                <c:pt idx="47">
                  <c:v>4.5</c:v>
                </c:pt>
                <c:pt idx="48">
                  <c:v>4.5</c:v>
                </c:pt>
                <c:pt idx="49">
                  <c:v>4.5</c:v>
                </c:pt>
                <c:pt idx="50">
                  <c:v>4.5</c:v>
                </c:pt>
                <c:pt idx="51">
                  <c:v>4.5</c:v>
                </c:pt>
                <c:pt idx="52">
                  <c:v>4.5</c:v>
                </c:pt>
                <c:pt idx="53">
                  <c:v>4.5</c:v>
                </c:pt>
                <c:pt idx="54">
                  <c:v>4.5</c:v>
                </c:pt>
                <c:pt idx="55">
                  <c:v>4.5</c:v>
                </c:pt>
                <c:pt idx="56">
                  <c:v>4.5</c:v>
                </c:pt>
                <c:pt idx="57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F8-4806-B842-3B91011374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F8-4806-B842-3B91011374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F8-4806-B842-3B91011374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F8-4806-B842-3B91011374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9F8-4806-B842-3B9101137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C-4729-8423-271C90A2F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5B-4F87-9A7C-572D645890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5B-4F87-9A7C-572D64589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5B-4F87-9A7C-572D645890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35B-4F87-9A7C-572D64589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E7-4F54-9111-6C20C1BC0A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E7-4F54-9111-6C20C1BC0A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E-4308-83D4-5F9D61719B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E-4308-83D4-5F9D61719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54A-420F-8086-8736BE6E70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54A-420F-8086-8736BE6E70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4A-420F-8086-8736BE6E70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54A-420F-8086-8736BE6E70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54A-420F-8086-8736BE6E70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54A-420F-8086-8736BE6E70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F9D-4E92-A767-DD78CE4E1E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9D-4E92-A767-DD78CE4E1E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F9D-4E92-A767-DD78CE4E1E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F9D-4E92-A767-DD78CE4E1E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F9D-4E92-A767-DD78CE4E1E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F9D-4E92-A767-DD78CE4E1E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F9D-4E92-A767-DD78CE4E1E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F9D-4E92-A767-DD78CE4E1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18.3</c:v>
                </c:pt>
                <c:pt idx="1">
                  <c:v>13.7</c:v>
                </c:pt>
                <c:pt idx="2">
                  <c:v>19.100000000000001</c:v>
                </c:pt>
                <c:pt idx="3">
                  <c:v>28.3</c:v>
                </c:pt>
                <c:pt idx="4">
                  <c:v>23.3</c:v>
                </c:pt>
                <c:pt idx="5">
                  <c:v>33.5</c:v>
                </c:pt>
                <c:pt idx="6">
                  <c:v>156.6</c:v>
                </c:pt>
                <c:pt idx="7">
                  <c:v>34.5</c:v>
                </c:pt>
                <c:pt idx="8">
                  <c:v>28.2</c:v>
                </c:pt>
                <c:pt idx="9">
                  <c:v>10.6</c:v>
                </c:pt>
                <c:pt idx="10">
                  <c:v>23.2</c:v>
                </c:pt>
                <c:pt idx="11">
                  <c:v>30.3</c:v>
                </c:pt>
                <c:pt idx="12">
                  <c:v>36</c:v>
                </c:pt>
                <c:pt idx="13">
                  <c:v>15.8</c:v>
                </c:pt>
                <c:pt idx="14">
                  <c:v>44.3</c:v>
                </c:pt>
                <c:pt idx="15">
                  <c:v>56.9</c:v>
                </c:pt>
                <c:pt idx="16">
                  <c:v>43.4</c:v>
                </c:pt>
                <c:pt idx="17">
                  <c:v>18.899999999999999</c:v>
                </c:pt>
                <c:pt idx="18">
                  <c:v>50.2</c:v>
                </c:pt>
                <c:pt idx="19">
                  <c:v>27.5</c:v>
                </c:pt>
                <c:pt idx="20">
                  <c:v>49.7</c:v>
                </c:pt>
                <c:pt idx="21">
                  <c:v>21.6</c:v>
                </c:pt>
                <c:pt idx="22">
                  <c:v>15.8</c:v>
                </c:pt>
                <c:pt idx="23">
                  <c:v>83.3</c:v>
                </c:pt>
                <c:pt idx="24">
                  <c:v>32.5</c:v>
                </c:pt>
                <c:pt idx="25">
                  <c:v>19.899999999999999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2.62</c:v>
                </c:pt>
                <c:pt idx="1">
                  <c:v>0.25</c:v>
                </c:pt>
                <c:pt idx="2">
                  <c:v>-1.01</c:v>
                </c:pt>
                <c:pt idx="3">
                  <c:v>-0.46</c:v>
                </c:pt>
                <c:pt idx="4">
                  <c:v>0.35</c:v>
                </c:pt>
                <c:pt idx="5">
                  <c:v>0.59</c:v>
                </c:pt>
                <c:pt idx="6">
                  <c:v>0.09</c:v>
                </c:pt>
                <c:pt idx="7">
                  <c:v>-1</c:v>
                </c:pt>
                <c:pt idx="8">
                  <c:v>-0.46</c:v>
                </c:pt>
                <c:pt idx="9">
                  <c:v>1.62</c:v>
                </c:pt>
                <c:pt idx="10">
                  <c:v>1.62</c:v>
                </c:pt>
                <c:pt idx="11">
                  <c:v>0.93</c:v>
                </c:pt>
                <c:pt idx="12">
                  <c:v>-0.37</c:v>
                </c:pt>
                <c:pt idx="13">
                  <c:v>-0.31</c:v>
                </c:pt>
                <c:pt idx="14">
                  <c:v>1.0900000000000001</c:v>
                </c:pt>
                <c:pt idx="15">
                  <c:v>-7.0000000000000007E-2</c:v>
                </c:pt>
                <c:pt idx="16">
                  <c:v>0.36</c:v>
                </c:pt>
                <c:pt idx="17">
                  <c:v>2.2200000000000002</c:v>
                </c:pt>
                <c:pt idx="18">
                  <c:v>0.36</c:v>
                </c:pt>
                <c:pt idx="19">
                  <c:v>0.83</c:v>
                </c:pt>
                <c:pt idx="20">
                  <c:v>0.03</c:v>
                </c:pt>
                <c:pt idx="21">
                  <c:v>0.44</c:v>
                </c:pt>
                <c:pt idx="22">
                  <c:v>0.63</c:v>
                </c:pt>
                <c:pt idx="23">
                  <c:v>-0.65</c:v>
                </c:pt>
                <c:pt idx="24">
                  <c:v>-0.39</c:v>
                </c:pt>
                <c:pt idx="25">
                  <c:v>1.33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5CF-4D11-9ABC-A6BACC609C27}"/>
            </c:ext>
          </c:extLst>
        </c:ser>
        <c:ser>
          <c:idx val="1"/>
          <c:order val="1"/>
          <c:tx>
            <c:strRef>
              <c:f>Sheet1!$B$29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5CF-4D11-9ABC-A6BACC609C2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Sheet1!$A$30:$A$30</c:f>
              <c:numCache>
                <c:formatCode>General</c:formatCode>
                <c:ptCount val="1"/>
                <c:pt idx="0">
                  <c:v>46.9</c:v>
                </c:pt>
              </c:numCache>
            </c:numRef>
          </c:xVal>
          <c:yVal>
            <c:numRef>
              <c:f>Sheet1!$B$30:$B$30</c:f>
              <c:numCache>
                <c:formatCode>General</c:formatCode>
                <c:ptCount val="1"/>
                <c:pt idx="0">
                  <c:v>-0.35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5CF-4D11-9ABC-A6BACC609C27}"/>
            </c:ext>
          </c:extLst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Sheet1!$A$33:$A$34</c:f>
              <c:numCache>
                <c:formatCode>General</c:formatCode>
                <c:ptCount val="2"/>
                <c:pt idx="0">
                  <c:v>0</c:v>
                </c:pt>
                <c:pt idx="1">
                  <c:v>160</c:v>
                </c:pt>
              </c:numCache>
            </c:numRef>
          </c:xVal>
          <c:yVal>
            <c:numRef>
              <c:f>Sheet1!$B$33:$B$34</c:f>
              <c:numCache>
                <c:formatCode>General</c:formatCode>
                <c:ptCount val="2"/>
                <c:pt idx="0">
                  <c:v>0.69762859720208437</c:v>
                </c:pt>
                <c:pt idx="1">
                  <c:v>-0.69436523351460577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5CF-4D11-9ABC-A6BACC609C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6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3"/>
          <c:min val="-1.5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 OCDE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469</c:v>
                </c:pt>
                <c:pt idx="1">
                  <c:v>466</c:v>
                </c:pt>
                <c:pt idx="2">
                  <c:v>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3-40C1-914A-2015C9F0F4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377</c:v>
                </c:pt>
                <c:pt idx="1">
                  <c:v>408</c:v>
                </c:pt>
                <c:pt idx="2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03-40C1-914A-2015C9F0F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335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2170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01 Cenário externo.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Crescimento mundial, petróleo, câmbio e comércio exterior de SC.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02 Atividade, indústria e emprego.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PIB, produção industrial, Santa Catarina e mercado de trabalho.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03 Inflação, juros e consumo.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Política monetária, crédito, endividamento e consumo das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88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04 Contas públicas.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Resultado primário de 2027 e trajetória da dívida.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05 Produtividade e educação.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O limite do crescimento de longo prazo.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dirty="0">
                <a:solidFill>
                  <a:srgbClr val="0240CA"/>
                </a:solidFill>
                <a:latin typeface="Montserrat SemiBold"/>
              </a:rPr>
              <a:t>06 Agenda 2027.</a:t>
            </a:r>
            <a:r>
              <a:rPr lang="pt-BR" dirty="0">
                <a:solidFill>
                  <a:srgbClr val="1E1E29"/>
                </a:solidFill>
                <a:latin typeface="Montserrat"/>
              </a:rPr>
              <a:t> O que acompanhar, balanço de riscos e mensagens finais.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335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Economia mundial desacelera em 2026, sem recessão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373765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Petróleo volta a superar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(FMI,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627686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53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Câmbio resiste ao choque externo,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Como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moeda de commodity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ganha com a alta do petróleo e amortece o repasse do choque externo.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782027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5063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SC amplia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(MDIC,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32145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08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PIB desacelera em 2026 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do Brasil (2017-2027*)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2,3% em 2025, o PIB perde ritmo.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1,8%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1,3% em 2027; o BCB projeta 1,8% e 1,4%, e o Ipea, 2,0% e 1,7%.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2º trimestre, o PIB cresceu 0,5% na margem, apoiado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agropecuária e extrativa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setores pouco sensíveis aos juros. A demanda interna ficou praticamente estável.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carregamento estatístico deixado para 2027 é de apenas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Mediana do Focus de 23/10/2026.</a:t>
            </a:r>
          </a:p>
        </p:txBody>
      </p:sp>
    </p:spTree>
    <p:extLst>
      <p:ext uri="{BB962C8B-B14F-4D97-AF65-F5344CB8AC3E}">
        <p14:creationId xmlns:p14="http://schemas.microsoft.com/office/powerpoint/2010/main" val="120117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Consumo e investimento perdem fôlego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por componente (2026-2027*)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2027, o mercado espera desaceleração disseminada: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 das famílias de 1,2%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investimento (FBCF) de 1,1% e consumo do governo de 1,1%.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 crescer 1,0%, após 1,4% em 2026. A agropecuária perde força após a safra recorde, com risco climático de um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El Niño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intenso.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exportações seguem como vetor (3,0%), apoiadas na produção de petróleo e gás.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Mediana do Focus de 23/10/2026.</a:t>
            </a:r>
          </a:p>
        </p:txBody>
      </p:sp>
    </p:spTree>
    <p:extLst>
      <p:ext uri="{BB962C8B-B14F-4D97-AF65-F5344CB8AC3E}">
        <p14:creationId xmlns:p14="http://schemas.microsoft.com/office/powerpoint/2010/main" val="261959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Extrativa cresce e transformação recua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industrial do Brasil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 extrativa cresceu 6,3%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a produção de petróleo e gás, enquanto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transformação variou -0,5%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é o segmento mais exposto ao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crédito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à moderação da demanda interna: bens de capital e semi e não duráveis recuam; veículos são a exceção.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É a economia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duas velocidades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: setores pouco cíclicos sustentam o PIB, e os mais sensíveis aos juros perdem ritmo.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59993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Indústria catarinense 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9724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Atividade em SC 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4083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Desemprego nas mínimas 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9765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9353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Inflação acima do teto 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2027; o BCB projeta 5,2% no fim do ano e 3,2% no 1º trimestre de 2028.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iniciou os cortes em março e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13,25%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11,75%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expectativas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desancoradas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os juros reais seguem elevados; o espaço para cortes depende da inflação e da credibilidade fiscal.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39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0947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Renda cresce,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Hipóteses: juros altos estimulam aplicações financeiras,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 gasto com apostas on-line (R$ 37 bilhões em 2025).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9676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Comprometimento de renda 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1550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Inadimplência das famílias 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Parte da alta é regulatória: a Resolução CMN 4.966 responde por cerca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40% do aumento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inadimplência da carteira total entre dez/24 e jun/26.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7481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Consumo em 2027: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Renda do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Desocupação baixa e rendimentos reais ainda em alta.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Incerteza doméstica, fiscal e geopolítica.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27346" y="4727448"/>
            <a:ext cx="308930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  <p:extLst>
      <p:ext uri="{BB962C8B-B14F-4D97-AF65-F5344CB8AC3E}">
        <p14:creationId xmlns:p14="http://schemas.microsoft.com/office/powerpoint/2010/main" val="826739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pt-BR" sz="21500" i="0" u="none" strike="noStrike" cap="none" dirty="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0712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Governo e mercado divergem 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2196037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Dívida pública segue 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(BCB, 2026), (STN, 2026), (IPEA,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911067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418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Produtividade do trabalho 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(BANCO MUNDIAL,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43161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Formação em TIC não basta para elevar a produtividade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em Computação e TIC e produtividade,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(IBGE, 2026), (INEP,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Entre 2012 e 2023, a produtividade do trabalho no Brasil ficou praticamente parada. As UFs que mais avançaram foram as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fronteira agrícola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correlação entre formação em TIC e ganho de produtividade é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negativa (-0,27)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SC forma 47 concluintes por 100 mil habitantes, mas sua produtividade variou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-0,35%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Capital humano é necessário, mas precisa vir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nas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por ocupado, % a.a. (2012-2023)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PIB real das Contas Regionais por pessoa ocupada (PNAD Contínua). Concluintes na área CINE Computação e TIC, presencial e EAD, pela UF do curso.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4448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Brasil reduz a distância para a OCDE no PISA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PISA 2025: pontuação média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(OCDE, 2026), (INEP, 2026) e (OBSERVATÓRIO FIESC, 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matemática, a distância para a OCDE caiu de 131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desde 2006. Como 20 pontos equivalem a cerca de um ano escolar, a defasagem ainda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4,6 anos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Só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28% dos alunos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atingem o nível básico em matemática, ante 65% na OCDE. No novo domínio digital, Brasil 406 x OCDE 500.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Educação básica de qualidade é pré-requisito para a produtividade de longo prazo.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pontos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49108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4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8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439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Educação básica, inovação e infraestrutura definem o crescimento potencial. Indicador: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2632206" y="4727448"/>
            <a:ext cx="387958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2026), (BRASIL, 2026) e (OBSERVATÓRIO FIESC, 2026)</a:t>
            </a:r>
          </a:p>
        </p:txBody>
      </p:sp>
    </p:spTree>
    <p:extLst>
      <p:ext uri="{BB962C8B-B14F-4D97-AF65-F5344CB8AC3E}">
        <p14:creationId xmlns:p14="http://schemas.microsoft.com/office/powerpoint/2010/main" val="2347474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27346" y="4727448"/>
            <a:ext cx="308930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(IPEA, 2026), (BCB, 2026) e (OBSERVATÓRIO FIESC, 2026)</a:t>
            </a:r>
          </a:p>
        </p:txBody>
      </p:sp>
    </p:spTree>
    <p:extLst>
      <p:ext uri="{BB962C8B-B14F-4D97-AF65-F5344CB8AC3E}">
        <p14:creationId xmlns:p14="http://schemas.microsoft.com/office/powerpoint/2010/main" val="436282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teto do crescimento é a produtividade: educação, inovação e investimento precisam chegar às empresas.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3436</Words>
  <Application>Microsoft Office PowerPoint</Application>
  <PresentationFormat>Apresentação na tela (16:9)</PresentationFormat>
  <Paragraphs>246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</vt:lpstr>
      <vt:lpstr>Montserrat ExtraBold</vt:lpstr>
      <vt:lpstr>Montserrat Medium</vt:lpstr>
      <vt:lpstr>Montserrat</vt:lpstr>
      <vt:lpstr>Montserrat SemiBold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54</cp:revision>
  <dcterms:modified xsi:type="dcterms:W3CDTF">2026-10-27T14:04:29Z</dcterms:modified>
</cp:coreProperties>
</file>